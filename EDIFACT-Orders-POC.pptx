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068398-899D-A99F-D4F1-3D5EE0DB9C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7854795-F0C7-0842-47CC-10820259C8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1761F3-ECAD-FE2F-1F43-C17709C0A8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317AF8-0AC5-4DAB-803D-4A0C4E3E6E10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128A0C-AE81-92CB-19D2-BA98273B5B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3BD04F-834E-F7C5-3E73-2CBAA012F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6A93B6-5A97-4D4C-82E0-3C56D8FAE5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43012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751F19-189B-BF76-387C-D47F551DE9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4162D2-8C1E-C6C4-7D41-81F54AA222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B196DD-C715-30E4-0DB5-526855CD5A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317AF8-0AC5-4DAB-803D-4A0C4E3E6E10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BF43FB-C285-D622-AAC2-730E91A30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2A2448-6380-5342-6905-4931094BEE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6A93B6-5A97-4D4C-82E0-3C56D8FAE5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90874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F7CACC-87D1-D0B0-F775-6410C1FAC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604544-E4CC-3322-01C0-52440478FE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73DB83-9943-B97B-4215-D6C2A31ADD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317AF8-0AC5-4DAB-803D-4A0C4E3E6E10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A2634A-D4CF-65D4-32F5-9A56B3E23C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542711-42CD-EC13-067D-7C2D5A91CF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6A93B6-5A97-4D4C-82E0-3C56D8FAE5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51681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46C9D0-66FA-C2C4-E6E0-2DF53582DB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80474B-D857-42AF-C55B-40303D46544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ED81BBC-0C4B-F8E8-D72B-582966366E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D0F2279-5C71-8C21-3D0A-58C88DB4D1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317AF8-0AC5-4DAB-803D-4A0C4E3E6E10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02AE902-2790-7A7E-BC09-38E01537EE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D6834DB-AA31-AD02-E590-F84F9158F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6A93B6-5A97-4D4C-82E0-3C56D8FAE5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96979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52A8B-338F-21A2-7DFE-CC7D64896F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940D70-82D7-36C5-A1F1-36523C7134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3D0562-58D0-4DB5-8928-1D43DD3EDDA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1C5B0C3-FAAF-56F9-D2ED-4C75491068B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2FA88FD-BC51-2DA1-6E05-B7A93D49CB8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A97BAA9-AC59-30E7-D807-9F1FA27F3C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317AF8-0AC5-4DAB-803D-4A0C4E3E6E10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0229053-483A-B1AB-077E-D44F9F56E2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828414F-AC6E-B4EB-1310-C0C4CB0BFB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6A93B6-5A97-4D4C-82E0-3C56D8FAE5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9066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B31C86-8EFA-F47F-D61D-0CF7D847D8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2E0E2D4-186A-EF37-8FD9-223586BDEF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317AF8-0AC5-4DAB-803D-4A0C4E3E6E10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63DCE21-1029-20F8-23B5-8C39EFB891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8215234-CD57-2A6E-CFA1-D21BD10920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6A93B6-5A97-4D4C-82E0-3C56D8FAE5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1480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4403B55-72EE-2216-37A3-CD9CD68385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317AF8-0AC5-4DAB-803D-4A0C4E3E6E10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F0D74C7-2887-C3CF-E264-BFB2CD53A1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4B55CD-D85D-36B9-C71E-95AD85CF7B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6A93B6-5A97-4D4C-82E0-3C56D8FAE5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2778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73AF12-E956-4879-ABCB-969AE2A87A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F44B8C-8F1F-961E-6E7F-96099ADD5E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405CD19-9E88-AE0E-6B1B-88A96F49AA7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9A7FE1B-7A11-E6D6-3972-C6B7906CCE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317AF8-0AC5-4DAB-803D-4A0C4E3E6E10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3BBAA68-9DA1-BF84-0016-C2F8D95DD7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A09551-0047-1006-3E55-8B8BF202F9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6A93B6-5A97-4D4C-82E0-3C56D8FAE5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43179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4E8D35-993C-B176-8A52-1C6629FDA6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9C69CD9-EE91-518D-F93D-EA94D355A935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2CB5692-4773-C167-6088-BB6E8333F6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C621462-A491-687A-C6CD-2034F8420B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317AF8-0AC5-4DAB-803D-4A0C4E3E6E10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A50927-D75C-B35F-AD33-AB53926171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EEDF5C-DDAD-16AB-B207-B8BC8880AC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6A93B6-5A97-4D4C-82E0-3C56D8FAE5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75001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7D0344-1B1A-968D-413F-F84C822E6E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A4B99CB-73DF-6518-9933-7882E03A526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354C47-AF92-C5ED-4555-D281A37C09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317AF8-0AC5-4DAB-803D-4A0C4E3E6E10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3C8475-1A91-9638-35A1-FED08824BA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8126C2-EC2F-B25D-161A-4C04352A8B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6A93B6-5A97-4D4C-82E0-3C56D8FAE5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80818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C7266E9-FEBD-4EF6-D9F8-E78F02F98EE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9A75A86-1716-CD9B-9FCE-5ABFD88E49A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792FAE-75DC-8DEB-355E-A975614C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317AF8-0AC5-4DAB-803D-4A0C4E3E6E10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B3F799-5200-9489-7A4D-5A85976AB6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104A94-0CBC-41CF-4B9A-E6ADE9F174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6A93B6-5A97-4D4C-82E0-3C56D8FAE5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45559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FABAA40-BA99-8A42-90D2-934444ACFE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E6D11F-CEC2-0089-AC3C-E57A6E0627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715033-82B0-E3D2-AA1F-56D17E9BA86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4317AF8-0AC5-4DAB-803D-4A0C4E3E6E10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423342-AC84-B8A1-8B4E-A352D29B4A5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C412DA-C13B-CAC1-173B-DE8C590931D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A6A93B6-5A97-4D4C-82E0-3C56D8FAE5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74732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F65D0E8-3076-1937-B58D-E5A06EE938E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F38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469AFC7-BFA2-51A7-05CA-FB4FEEB0B148}"/>
              </a:ext>
            </a:extLst>
          </p:cNvPr>
          <p:cNvSpPr/>
          <p:nvPr/>
        </p:nvSpPr>
        <p:spPr>
          <a:xfrm>
            <a:off x="889000" y="3810000"/>
            <a:ext cx="1524000" cy="63500"/>
          </a:xfrm>
          <a:prstGeom prst="rect">
            <a:avLst/>
          </a:prstGeom>
          <a:solidFill>
            <a:srgbClr val="2E75B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6D8044-FEE6-5BC1-CFBA-676CF27883A5}"/>
              </a:ext>
            </a:extLst>
          </p:cNvPr>
          <p:cNvSpPr txBox="1"/>
          <p:nvPr/>
        </p:nvSpPr>
        <p:spPr>
          <a:xfrm>
            <a:off x="812800" y="2159000"/>
            <a:ext cx="10541000" cy="76944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4400" b="1">
                <a:solidFill>
                  <a:srgbClr val="FFFFFF"/>
                </a:solidFill>
                <a:latin typeface="Calibri" panose="020F0502020204030204" pitchFamily="34" charset="0"/>
              </a:rPr>
              <a:t>EDIFACT Orders POC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2BEAC58-43C7-9984-2AD8-E9E5AD3B0743}"/>
              </a:ext>
            </a:extLst>
          </p:cNvPr>
          <p:cNvSpPr txBox="1"/>
          <p:nvPr/>
        </p:nvSpPr>
        <p:spPr>
          <a:xfrm>
            <a:off x="812800" y="3048000"/>
            <a:ext cx="10541000" cy="4001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2000">
                <a:solidFill>
                  <a:srgbClr val="DEEBF7"/>
                </a:solidFill>
                <a:latin typeface="Calibri" panose="020F0502020204030204" pitchFamily="34" charset="0"/>
              </a:rPr>
              <a:t>EDIFACT purchase orders to JSON and XML, and back, with MuleSoft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6A60B14-03D8-E666-767C-C89C0A6051BA}"/>
              </a:ext>
            </a:extLst>
          </p:cNvPr>
          <p:cNvSpPr txBox="1"/>
          <p:nvPr/>
        </p:nvSpPr>
        <p:spPr>
          <a:xfrm>
            <a:off x="812800" y="4064000"/>
            <a:ext cx="10541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400">
                <a:solidFill>
                  <a:srgbClr val="DEEBF7"/>
                </a:solidFill>
                <a:latin typeface="Calibri" panose="020F0502020204030204" pitchFamily="34" charset="0"/>
              </a:rPr>
              <a:t>Proof of concept overview  |  October 2026</a:t>
            </a:r>
          </a:p>
        </p:txBody>
      </p:sp>
    </p:spTree>
    <p:extLst>
      <p:ext uri="{BB962C8B-B14F-4D97-AF65-F5344CB8AC3E}">
        <p14:creationId xmlns:p14="http://schemas.microsoft.com/office/powerpoint/2010/main" val="20237274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4DF5CBE-A0AC-7131-DCA6-F1CC7E7E4831}"/>
              </a:ext>
            </a:extLst>
          </p:cNvPr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1F38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0" rtlCol="0" anchor="ctr"/>
          <a:lstStyle/>
          <a:p>
            <a:r>
              <a:rPr lang="en-US" sz="2600" b="1">
                <a:solidFill>
                  <a:srgbClr val="FFFFFF"/>
                </a:solidFill>
                <a:latin typeface="Calibri" panose="020F0502020204030204" pitchFamily="34" charset="0"/>
              </a:rPr>
              <a:t>Business requirement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93A9E04-BA57-220F-3839-8182B14B0226}"/>
              </a:ext>
            </a:extLst>
          </p:cNvPr>
          <p:cNvSpPr/>
          <p:nvPr/>
        </p:nvSpPr>
        <p:spPr>
          <a:xfrm>
            <a:off x="0" y="914400"/>
            <a:ext cx="12192000" cy="50800"/>
          </a:xfrm>
          <a:prstGeom prst="rect">
            <a:avLst/>
          </a:prstGeom>
          <a:solidFill>
            <a:srgbClr val="2E75B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24719D8-48B0-D087-6E24-7E74A7B6CC86}"/>
              </a:ext>
            </a:extLst>
          </p:cNvPr>
          <p:cNvSpPr txBox="1"/>
          <p:nvPr/>
        </p:nvSpPr>
        <p:spPr>
          <a:xfrm>
            <a:off x="508000" y="6413500"/>
            <a:ext cx="7620000" cy="24622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000">
                <a:solidFill>
                  <a:srgbClr val="767676"/>
                </a:solidFill>
                <a:latin typeface="Calibri" panose="020F0502020204030204" pitchFamily="34" charset="0"/>
              </a:rPr>
              <a:t>EDIFACT Orders POC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A6D3B91-BFE7-36F9-A7E9-631AE192E1D5}"/>
              </a:ext>
            </a:extLst>
          </p:cNvPr>
          <p:cNvSpPr txBox="1"/>
          <p:nvPr/>
        </p:nvSpPr>
        <p:spPr>
          <a:xfrm>
            <a:off x="10414000" y="6413500"/>
            <a:ext cx="1270000" cy="24622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r"/>
            <a:r>
              <a:rPr lang="en-US" sz="1000">
                <a:solidFill>
                  <a:srgbClr val="767676"/>
                </a:solidFill>
                <a:latin typeface="Calibri" panose="020F0502020204030204" pitchFamily="34" charset="0"/>
              </a:rPr>
              <a:t>2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BE30E5B-3F33-13A7-9A99-112738AB0E51}"/>
              </a:ext>
            </a:extLst>
          </p:cNvPr>
          <p:cNvSpPr txBox="1"/>
          <p:nvPr/>
        </p:nvSpPr>
        <p:spPr>
          <a:xfrm>
            <a:off x="508000" y="1206500"/>
            <a:ext cx="11176000" cy="61555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700">
                <a:solidFill>
                  <a:srgbClr val="404040"/>
                </a:solidFill>
                <a:latin typeface="Calibri" panose="020F0502020204030204" pitchFamily="34" charset="0"/>
              </a:rPr>
              <a:t>Harbor Retail (buyer) sends purchase orders to Northwind Telecom Supplies (supplier) as EDIFACT ORDERS messages, version D.96A. Northwind needs to: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4DCD1E-690A-F02B-52AD-05B49DE1E410}"/>
              </a:ext>
            </a:extLst>
          </p:cNvPr>
          <p:cNvSpPr txBox="1"/>
          <p:nvPr/>
        </p:nvSpPr>
        <p:spPr>
          <a:xfrm>
            <a:off x="635000" y="1905000"/>
            <a:ext cx="10922000" cy="181075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42900" indent="-342900">
              <a:spcAft>
                <a:spcPts val="800"/>
              </a:spcAft>
              <a:buFont typeface="+mj-lt"/>
              <a:buChar char="•"/>
            </a:pPr>
            <a:r>
              <a:rPr lang="en-US" sz="1700">
                <a:solidFill>
                  <a:srgbClr val="404040"/>
                </a:solidFill>
                <a:latin typeface="Calibri" panose="020F0502020204030204" pitchFamily="34" charset="0"/>
              </a:rPr>
              <a:t>Receive each purchase order and validate it against the EDIFACT standard.</a:t>
            </a:r>
          </a:p>
          <a:p>
            <a:pPr marL="342900" indent="-342900">
              <a:spcAft>
                <a:spcPts val="800"/>
              </a:spcAft>
              <a:buFont typeface="+mj-lt"/>
              <a:buChar char="•"/>
            </a:pPr>
            <a:r>
              <a:rPr lang="en-US" sz="1700">
                <a:solidFill>
                  <a:srgbClr val="404040"/>
                </a:solidFill>
                <a:latin typeface="Calibri" panose="020F0502020204030204" pitchFamily="34" charset="0"/>
              </a:rPr>
              <a:t>Translate the order into one clear purchase-order format for internal use.</a:t>
            </a:r>
          </a:p>
          <a:p>
            <a:pPr marL="342900" indent="-342900">
              <a:spcAft>
                <a:spcPts val="800"/>
              </a:spcAft>
              <a:buFont typeface="+mj-lt"/>
              <a:buChar char="•"/>
            </a:pPr>
            <a:r>
              <a:rPr lang="en-US" sz="1700">
                <a:solidFill>
                  <a:srgbClr val="404040"/>
                </a:solidFill>
                <a:latin typeface="Calibri" panose="020F0502020204030204" pitchFamily="34" charset="0"/>
              </a:rPr>
              <a:t>Accept or reject the order using business rules, with a reason for every rejection.</a:t>
            </a:r>
          </a:p>
          <a:p>
            <a:pPr marL="342900" indent="-342900">
              <a:spcAft>
                <a:spcPts val="800"/>
              </a:spcAft>
              <a:buFont typeface="+mj-lt"/>
              <a:buChar char="•"/>
            </a:pPr>
            <a:r>
              <a:rPr lang="en-US" sz="1700">
                <a:solidFill>
                  <a:srgbClr val="404040"/>
                </a:solidFill>
                <a:latin typeface="Calibri" panose="020F0502020204030204" pitchFamily="34" charset="0"/>
              </a:rPr>
              <a:t>Provide the order as JSON and XML.</a:t>
            </a:r>
          </a:p>
          <a:p>
            <a:pPr marL="342900" indent="-342900">
              <a:spcAft>
                <a:spcPts val="800"/>
              </a:spcAft>
              <a:buFont typeface="+mj-lt"/>
              <a:buChar char="•"/>
            </a:pPr>
            <a:r>
              <a:rPr lang="en-US" sz="1700">
                <a:solidFill>
                  <a:srgbClr val="404040"/>
                </a:solidFill>
                <a:latin typeface="Calibri" panose="020F0502020204030204" pitchFamily="34" charset="0"/>
              </a:rPr>
              <a:t>Send accepted orders back out as EDIFACT when required.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74579DB7-CC47-0E12-CAFA-7687F1ABCFAE}"/>
              </a:ext>
            </a:extLst>
          </p:cNvPr>
          <p:cNvSpPr/>
          <p:nvPr/>
        </p:nvSpPr>
        <p:spPr>
          <a:xfrm>
            <a:off x="1143000" y="4953000"/>
            <a:ext cx="2794000" cy="762000"/>
          </a:xfrm>
          <a:prstGeom prst="roundRect">
            <a:avLst/>
          </a:prstGeom>
          <a:solidFill>
            <a:srgbClr val="F2F2F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6200" rIns="76200" rtlCol="0" anchor="ctr"/>
          <a:lstStyle/>
          <a:p>
            <a:pPr algn="ctr"/>
            <a:r>
              <a:rPr lang="en-US" sz="1500" b="1">
                <a:solidFill>
                  <a:srgbClr val="404040"/>
                </a:solidFill>
                <a:latin typeface="Calibri" panose="020F0502020204030204" pitchFamily="34" charset="0"/>
              </a:rPr>
              <a:t>Harbor Retail (buyer)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CD0A59DF-1AA7-D809-0801-17640B8CB49C}"/>
              </a:ext>
            </a:extLst>
          </p:cNvPr>
          <p:cNvSpPr/>
          <p:nvPr/>
        </p:nvSpPr>
        <p:spPr>
          <a:xfrm>
            <a:off x="4699000" y="4953000"/>
            <a:ext cx="2794000" cy="762000"/>
          </a:xfrm>
          <a:prstGeom prst="roundRect">
            <a:avLst/>
          </a:prstGeom>
          <a:solidFill>
            <a:srgbClr val="DEEBF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6200" rIns="76200" rtlCol="0" anchor="ctr"/>
          <a:lstStyle/>
          <a:p>
            <a:pPr algn="ctr"/>
            <a:r>
              <a:rPr lang="en-US" sz="1500" b="1">
                <a:solidFill>
                  <a:srgbClr val="1F3864"/>
                </a:solidFill>
                <a:latin typeface="Calibri" panose="020F0502020204030204" pitchFamily="34" charset="0"/>
              </a:rPr>
              <a:t>EDIFACT ORDERS D.96A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7CD7FE9-3F49-FA85-726E-EB3DABE1A8EE}"/>
              </a:ext>
            </a:extLst>
          </p:cNvPr>
          <p:cNvSpPr/>
          <p:nvPr/>
        </p:nvSpPr>
        <p:spPr>
          <a:xfrm>
            <a:off x="8255000" y="4953000"/>
            <a:ext cx="2794000" cy="762000"/>
          </a:xfrm>
          <a:prstGeom prst="roundRect">
            <a:avLst/>
          </a:prstGeom>
          <a:solidFill>
            <a:srgbClr val="1F38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6200" rIns="76200" rtlCol="0" anchor="ctr"/>
          <a:lstStyle/>
          <a:p>
            <a:pPr algn="ctr"/>
            <a:r>
              <a:rPr lang="en-US" sz="1500" b="1">
                <a:solidFill>
                  <a:srgbClr val="FFFFFF"/>
                </a:solidFill>
                <a:latin typeface="Calibri" panose="020F0502020204030204" pitchFamily="34" charset="0"/>
              </a:rPr>
              <a:t>Northwind with MuleSoft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7C5EA13-D5E3-F4A8-38AB-BF22C259D124}"/>
              </a:ext>
            </a:extLst>
          </p:cNvPr>
          <p:cNvCxnSpPr/>
          <p:nvPr/>
        </p:nvCxnSpPr>
        <p:spPr>
          <a:xfrm>
            <a:off x="3937000" y="5334000"/>
            <a:ext cx="762000" cy="0"/>
          </a:xfrm>
          <a:prstGeom prst="line">
            <a:avLst/>
          </a:prstGeom>
          <a:ln w="22225">
            <a:solidFill>
              <a:srgbClr val="76767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86228F1-BDE1-CDD8-4B25-E6BABFD8E871}"/>
              </a:ext>
            </a:extLst>
          </p:cNvPr>
          <p:cNvCxnSpPr/>
          <p:nvPr/>
        </p:nvCxnSpPr>
        <p:spPr>
          <a:xfrm>
            <a:off x="7493000" y="5334000"/>
            <a:ext cx="762000" cy="0"/>
          </a:xfrm>
          <a:prstGeom prst="line">
            <a:avLst/>
          </a:prstGeom>
          <a:ln w="22225">
            <a:solidFill>
              <a:srgbClr val="76767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D7C5F3A7-79FF-6973-5FDC-DDC168649F20}"/>
              </a:ext>
            </a:extLst>
          </p:cNvPr>
          <p:cNvSpPr txBox="1"/>
          <p:nvPr/>
        </p:nvSpPr>
        <p:spPr>
          <a:xfrm>
            <a:off x="508000" y="5905500"/>
            <a:ext cx="11176000" cy="27699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en-US" sz="1200">
                <a:solidFill>
                  <a:srgbClr val="767676"/>
                </a:solidFill>
                <a:latin typeface="Calibri" panose="020F0502020204030204" pitchFamily="34" charset="0"/>
              </a:rPr>
              <a:t>The company names are illustrative. No ERP or partner system is connected in this POC.</a:t>
            </a:r>
          </a:p>
        </p:txBody>
      </p:sp>
    </p:spTree>
    <p:extLst>
      <p:ext uri="{BB962C8B-B14F-4D97-AF65-F5344CB8AC3E}">
        <p14:creationId xmlns:p14="http://schemas.microsoft.com/office/powerpoint/2010/main" val="33722047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CC3168B-F249-48C9-F11A-86A2CC4107AD}"/>
              </a:ext>
            </a:extLst>
          </p:cNvPr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1F38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0" rtlCol="0" anchor="ctr"/>
          <a:lstStyle/>
          <a:p>
            <a:r>
              <a:rPr lang="en-US" sz="2600" b="1">
                <a:solidFill>
                  <a:srgbClr val="FFFFFF"/>
                </a:solidFill>
                <a:latin typeface="Calibri" panose="020F0502020204030204" pitchFamily="34" charset="0"/>
              </a:rPr>
              <a:t>Goals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7651864-8AD0-912E-F80F-6A241D752CBE}"/>
              </a:ext>
            </a:extLst>
          </p:cNvPr>
          <p:cNvSpPr/>
          <p:nvPr/>
        </p:nvSpPr>
        <p:spPr>
          <a:xfrm>
            <a:off x="0" y="914400"/>
            <a:ext cx="12192000" cy="50800"/>
          </a:xfrm>
          <a:prstGeom prst="rect">
            <a:avLst/>
          </a:prstGeom>
          <a:solidFill>
            <a:srgbClr val="2E75B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EFF719B-4F43-C1DB-AC69-58105D7200BC}"/>
              </a:ext>
            </a:extLst>
          </p:cNvPr>
          <p:cNvSpPr txBox="1"/>
          <p:nvPr/>
        </p:nvSpPr>
        <p:spPr>
          <a:xfrm>
            <a:off x="508000" y="6413500"/>
            <a:ext cx="7620000" cy="24622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000">
                <a:solidFill>
                  <a:srgbClr val="767676"/>
                </a:solidFill>
                <a:latin typeface="Calibri" panose="020F0502020204030204" pitchFamily="34" charset="0"/>
              </a:rPr>
              <a:t>EDIFACT Orders POC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3C64A77-D52C-59FD-DA3E-8AE99148288F}"/>
              </a:ext>
            </a:extLst>
          </p:cNvPr>
          <p:cNvSpPr txBox="1"/>
          <p:nvPr/>
        </p:nvSpPr>
        <p:spPr>
          <a:xfrm>
            <a:off x="10414000" y="6413500"/>
            <a:ext cx="1270000" cy="24622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r"/>
            <a:r>
              <a:rPr lang="en-US" sz="1000">
                <a:solidFill>
                  <a:srgbClr val="767676"/>
                </a:solidFill>
                <a:latin typeface="Calibri" panose="020F0502020204030204" pitchFamily="34" charset="0"/>
              </a:rPr>
              <a:t>3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BFD4363-46B4-D952-E57D-77B3888623AF}"/>
              </a:ext>
            </a:extLst>
          </p:cNvPr>
          <p:cNvSpPr/>
          <p:nvPr/>
        </p:nvSpPr>
        <p:spPr>
          <a:xfrm>
            <a:off x="508000" y="1524000"/>
            <a:ext cx="558800" cy="558800"/>
          </a:xfrm>
          <a:prstGeom prst="ellipse">
            <a:avLst/>
          </a:prstGeom>
          <a:solidFill>
            <a:srgbClr val="1F38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6200" rIns="76200" rtlCol="0" anchor="ctr"/>
          <a:lstStyle/>
          <a:p>
            <a:pPr algn="ctr"/>
            <a:r>
              <a:rPr lang="en-US" b="1">
                <a:solidFill>
                  <a:srgbClr val="FFFFFF"/>
                </a:solidFill>
                <a:latin typeface="Calibri" panose="020F0502020204030204" pitchFamily="34" charset="0"/>
              </a:rPr>
              <a:t>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97515C7-4A95-4C47-9EDB-1023351378F9}"/>
              </a:ext>
            </a:extLst>
          </p:cNvPr>
          <p:cNvSpPr/>
          <p:nvPr/>
        </p:nvSpPr>
        <p:spPr>
          <a:xfrm>
            <a:off x="508000" y="2286000"/>
            <a:ext cx="2133600" cy="3175000"/>
          </a:xfrm>
          <a:prstGeom prst="rect">
            <a:avLst/>
          </a:prstGeom>
          <a:solidFill>
            <a:srgbClr val="F2F7FC"/>
          </a:solidFill>
          <a:ln>
            <a:solidFill>
              <a:srgbClr val="DEEBF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127000" rIns="152400" rtlCol="0" anchor="t"/>
          <a:lstStyle/>
          <a:p>
            <a:pPr>
              <a:spcAft>
                <a:spcPts val="600"/>
              </a:spcAft>
            </a:pPr>
            <a:r>
              <a:rPr lang="en-US" sz="1600" b="1">
                <a:solidFill>
                  <a:srgbClr val="1F3864"/>
                </a:solidFill>
                <a:latin typeface="Calibri" panose="020F0502020204030204" pitchFamily="34" charset="0"/>
              </a:rPr>
              <a:t>Parse and validate</a:t>
            </a:r>
          </a:p>
          <a:p>
            <a:r>
              <a:rPr lang="en-US" sz="1400">
                <a:solidFill>
                  <a:srgbClr val="404040"/>
                </a:solidFill>
                <a:latin typeface="Calibri" panose="020F0502020204030204" pitchFamily="34" charset="0"/>
              </a:rPr>
              <a:t>Read EDIFACT ORDERS D.96A with the MuleSoft EDIFACT EDI Connector.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A187762-1FD0-F159-E5C9-04A8D0738CA1}"/>
              </a:ext>
            </a:extLst>
          </p:cNvPr>
          <p:cNvSpPr/>
          <p:nvPr/>
        </p:nvSpPr>
        <p:spPr>
          <a:xfrm>
            <a:off x="508000" y="2286000"/>
            <a:ext cx="63500" cy="3175000"/>
          </a:xfrm>
          <a:prstGeom prst="rect">
            <a:avLst/>
          </a:prstGeom>
          <a:solidFill>
            <a:srgbClr val="2E75B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9E9F1985-C420-E9D6-F1D2-2C4A7D7D15B6}"/>
              </a:ext>
            </a:extLst>
          </p:cNvPr>
          <p:cNvSpPr/>
          <p:nvPr/>
        </p:nvSpPr>
        <p:spPr>
          <a:xfrm>
            <a:off x="2768600" y="1524000"/>
            <a:ext cx="558800" cy="558800"/>
          </a:xfrm>
          <a:prstGeom prst="ellipse">
            <a:avLst/>
          </a:prstGeom>
          <a:solidFill>
            <a:srgbClr val="1F38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6200" rIns="76200" rtlCol="0" anchor="ctr"/>
          <a:lstStyle/>
          <a:p>
            <a:pPr algn="ctr"/>
            <a:r>
              <a:rPr lang="en-US" b="1">
                <a:solidFill>
                  <a:srgbClr val="FFFFFF"/>
                </a:solidFill>
                <a:latin typeface="Calibri" panose="020F0502020204030204" pitchFamily="34" charset="0"/>
              </a:rPr>
              <a:t>2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ED06ABE-9C48-6B1A-93FD-3B1A861A4CFB}"/>
              </a:ext>
            </a:extLst>
          </p:cNvPr>
          <p:cNvSpPr/>
          <p:nvPr/>
        </p:nvSpPr>
        <p:spPr>
          <a:xfrm>
            <a:off x="2768600" y="2286000"/>
            <a:ext cx="2133600" cy="3175000"/>
          </a:xfrm>
          <a:prstGeom prst="rect">
            <a:avLst/>
          </a:prstGeom>
          <a:solidFill>
            <a:srgbClr val="F2F7FC"/>
          </a:solidFill>
          <a:ln>
            <a:solidFill>
              <a:srgbClr val="DEEBF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127000" rIns="152400" rtlCol="0" anchor="t"/>
          <a:lstStyle/>
          <a:p>
            <a:pPr>
              <a:spcAft>
                <a:spcPts val="600"/>
              </a:spcAft>
            </a:pPr>
            <a:r>
              <a:rPr lang="en-US" sz="1600" b="1">
                <a:solidFill>
                  <a:srgbClr val="1F3864"/>
                </a:solidFill>
                <a:latin typeface="Calibri" panose="020F0502020204030204" pitchFamily="34" charset="0"/>
              </a:rPr>
              <a:t>Map</a:t>
            </a:r>
          </a:p>
          <a:p>
            <a:r>
              <a:rPr lang="en-US" sz="1400">
                <a:solidFill>
                  <a:srgbClr val="404040"/>
                </a:solidFill>
                <a:latin typeface="Calibri" panose="020F0502020204030204" pitchFamily="34" charset="0"/>
              </a:rPr>
              <a:t>Convert EDIFACT segments into one canonical purchase order.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3777E42-1B14-7100-4E49-3838EB281A28}"/>
              </a:ext>
            </a:extLst>
          </p:cNvPr>
          <p:cNvSpPr/>
          <p:nvPr/>
        </p:nvSpPr>
        <p:spPr>
          <a:xfrm>
            <a:off x="2768600" y="2286000"/>
            <a:ext cx="63500" cy="3175000"/>
          </a:xfrm>
          <a:prstGeom prst="rect">
            <a:avLst/>
          </a:prstGeom>
          <a:solidFill>
            <a:srgbClr val="2E75B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DAE445C9-6EBE-B6DC-DE15-C045FE657F26}"/>
              </a:ext>
            </a:extLst>
          </p:cNvPr>
          <p:cNvSpPr/>
          <p:nvPr/>
        </p:nvSpPr>
        <p:spPr>
          <a:xfrm>
            <a:off x="5029200" y="1524000"/>
            <a:ext cx="558800" cy="558800"/>
          </a:xfrm>
          <a:prstGeom prst="ellipse">
            <a:avLst/>
          </a:prstGeom>
          <a:solidFill>
            <a:srgbClr val="1F38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6200" rIns="76200" rtlCol="0" anchor="ctr"/>
          <a:lstStyle/>
          <a:p>
            <a:pPr algn="ctr"/>
            <a:r>
              <a:rPr lang="en-US" b="1">
                <a:solidFill>
                  <a:srgbClr val="FFFFFF"/>
                </a:solidFill>
                <a:latin typeface="Calibri" panose="020F0502020204030204" pitchFamily="34" charset="0"/>
              </a:rPr>
              <a:t>3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5061D52-ECFC-F147-33F3-401AF3BFBE31}"/>
              </a:ext>
            </a:extLst>
          </p:cNvPr>
          <p:cNvSpPr/>
          <p:nvPr/>
        </p:nvSpPr>
        <p:spPr>
          <a:xfrm>
            <a:off x="5029200" y="2286000"/>
            <a:ext cx="2133600" cy="3175000"/>
          </a:xfrm>
          <a:prstGeom prst="rect">
            <a:avLst/>
          </a:prstGeom>
          <a:solidFill>
            <a:srgbClr val="F2F7FC"/>
          </a:solidFill>
          <a:ln>
            <a:solidFill>
              <a:srgbClr val="DEEBF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127000" rIns="152400" rtlCol="0" anchor="t"/>
          <a:lstStyle/>
          <a:p>
            <a:pPr>
              <a:spcAft>
                <a:spcPts val="600"/>
              </a:spcAft>
            </a:pPr>
            <a:r>
              <a:rPr lang="en-US" sz="1600" b="1">
                <a:solidFill>
                  <a:srgbClr val="1F3864"/>
                </a:solidFill>
                <a:latin typeface="Calibri" panose="020F0502020204030204" pitchFamily="34" charset="0"/>
              </a:rPr>
              <a:t>Apply rules</a:t>
            </a:r>
          </a:p>
          <a:p>
            <a:r>
              <a:rPr lang="en-US" sz="1400">
                <a:solidFill>
                  <a:srgbClr val="404040"/>
                </a:solidFill>
                <a:latin typeface="Calibri" panose="020F0502020204030204" pitchFamily="34" charset="0"/>
              </a:rPr>
              <a:t>Decide ACCEPTED or REJECTED, with reason codes.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E4C9E57-2068-0D71-BDB3-E9783FDF98FB}"/>
              </a:ext>
            </a:extLst>
          </p:cNvPr>
          <p:cNvSpPr/>
          <p:nvPr/>
        </p:nvSpPr>
        <p:spPr>
          <a:xfrm>
            <a:off x="5029200" y="2286000"/>
            <a:ext cx="63500" cy="3175000"/>
          </a:xfrm>
          <a:prstGeom prst="rect">
            <a:avLst/>
          </a:prstGeom>
          <a:solidFill>
            <a:srgbClr val="2E75B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EC7D6F19-F76A-3CFF-3A8B-6DD8E245F892}"/>
              </a:ext>
            </a:extLst>
          </p:cNvPr>
          <p:cNvSpPr/>
          <p:nvPr/>
        </p:nvSpPr>
        <p:spPr>
          <a:xfrm>
            <a:off x="7289800" y="1524000"/>
            <a:ext cx="558800" cy="558800"/>
          </a:xfrm>
          <a:prstGeom prst="ellipse">
            <a:avLst/>
          </a:prstGeom>
          <a:solidFill>
            <a:srgbClr val="1F38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6200" rIns="76200" rtlCol="0" anchor="ctr"/>
          <a:lstStyle/>
          <a:p>
            <a:pPr algn="ctr"/>
            <a:r>
              <a:rPr lang="en-US" b="1">
                <a:solidFill>
                  <a:srgbClr val="FFFFFF"/>
                </a:solidFill>
                <a:latin typeface="Calibri" panose="020F0502020204030204" pitchFamily="34" charset="0"/>
              </a:rPr>
              <a:t>4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9D5F891-7C6D-6FAB-3667-B89BD1C91B83}"/>
              </a:ext>
            </a:extLst>
          </p:cNvPr>
          <p:cNvSpPr/>
          <p:nvPr/>
        </p:nvSpPr>
        <p:spPr>
          <a:xfrm>
            <a:off x="7289800" y="2286000"/>
            <a:ext cx="2133600" cy="3175000"/>
          </a:xfrm>
          <a:prstGeom prst="rect">
            <a:avLst/>
          </a:prstGeom>
          <a:solidFill>
            <a:srgbClr val="F2F7FC"/>
          </a:solidFill>
          <a:ln>
            <a:solidFill>
              <a:srgbClr val="DEEBF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127000" rIns="152400" rtlCol="0" anchor="t"/>
          <a:lstStyle/>
          <a:p>
            <a:pPr>
              <a:spcAft>
                <a:spcPts val="600"/>
              </a:spcAft>
            </a:pPr>
            <a:r>
              <a:rPr lang="en-US" sz="1600" b="1">
                <a:solidFill>
                  <a:srgbClr val="1F3864"/>
                </a:solidFill>
                <a:latin typeface="Calibri" panose="020F0502020204030204" pitchFamily="34" charset="0"/>
              </a:rPr>
              <a:t>Convert</a:t>
            </a:r>
          </a:p>
          <a:p>
            <a:r>
              <a:rPr lang="en-US" sz="1400">
                <a:solidFill>
                  <a:srgbClr val="404040"/>
                </a:solidFill>
                <a:latin typeface="Calibri" panose="020F0502020204030204" pitchFamily="34" charset="0"/>
              </a:rPr>
              <a:t>Produce JSON and XML, and generate EDIFACT from JSON or XML.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60B832E-B106-6C2B-1BB5-514A86AABB94}"/>
              </a:ext>
            </a:extLst>
          </p:cNvPr>
          <p:cNvSpPr/>
          <p:nvPr/>
        </p:nvSpPr>
        <p:spPr>
          <a:xfrm>
            <a:off x="7289800" y="2286000"/>
            <a:ext cx="63500" cy="3175000"/>
          </a:xfrm>
          <a:prstGeom prst="rect">
            <a:avLst/>
          </a:prstGeom>
          <a:solidFill>
            <a:srgbClr val="2E75B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DE44F8C1-F342-7A58-473E-4FB393D71541}"/>
              </a:ext>
            </a:extLst>
          </p:cNvPr>
          <p:cNvSpPr/>
          <p:nvPr/>
        </p:nvSpPr>
        <p:spPr>
          <a:xfrm>
            <a:off x="9550400" y="1524000"/>
            <a:ext cx="558800" cy="558800"/>
          </a:xfrm>
          <a:prstGeom prst="ellipse">
            <a:avLst/>
          </a:prstGeom>
          <a:solidFill>
            <a:srgbClr val="1F38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6200" rIns="76200" rtlCol="0" anchor="ctr"/>
          <a:lstStyle/>
          <a:p>
            <a:pPr algn="ctr"/>
            <a:r>
              <a:rPr lang="en-US" b="1">
                <a:solidFill>
                  <a:srgbClr val="FFFFFF"/>
                </a:solidFill>
                <a:latin typeface="Calibri" panose="020F0502020204030204" pitchFamily="34" charset="0"/>
              </a:rPr>
              <a:t>5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67B88AA-E8C6-CC02-E488-7E9AAB7B3BFB}"/>
              </a:ext>
            </a:extLst>
          </p:cNvPr>
          <p:cNvSpPr/>
          <p:nvPr/>
        </p:nvSpPr>
        <p:spPr>
          <a:xfrm>
            <a:off x="9550400" y="2286000"/>
            <a:ext cx="2133600" cy="3175000"/>
          </a:xfrm>
          <a:prstGeom prst="rect">
            <a:avLst/>
          </a:prstGeom>
          <a:solidFill>
            <a:srgbClr val="F2F7FC"/>
          </a:solidFill>
          <a:ln>
            <a:solidFill>
              <a:srgbClr val="DEEBF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127000" rIns="152400" rtlCol="0" anchor="t"/>
          <a:lstStyle/>
          <a:p>
            <a:pPr>
              <a:spcAft>
                <a:spcPts val="600"/>
              </a:spcAft>
            </a:pPr>
            <a:r>
              <a:rPr lang="en-US" sz="1600" b="1">
                <a:solidFill>
                  <a:srgbClr val="1F3864"/>
                </a:solidFill>
                <a:latin typeface="Calibri" panose="020F0502020204030204" pitchFamily="34" charset="0"/>
              </a:rPr>
              <a:t>Self-contained</a:t>
            </a:r>
          </a:p>
          <a:p>
            <a:r>
              <a:rPr lang="en-US" sz="1400">
                <a:solidFill>
                  <a:srgbClr val="404040"/>
                </a:solidFill>
                <a:latin typeface="Calibri" panose="020F0502020204030204" pitchFamily="34" charset="0"/>
              </a:rPr>
              <a:t>Run anywhere, using sample files stored in the project.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EE3BD2A-55D7-13C1-8B6E-CE189D85DF07}"/>
              </a:ext>
            </a:extLst>
          </p:cNvPr>
          <p:cNvSpPr/>
          <p:nvPr/>
        </p:nvSpPr>
        <p:spPr>
          <a:xfrm>
            <a:off x="9550400" y="2286000"/>
            <a:ext cx="63500" cy="3175000"/>
          </a:xfrm>
          <a:prstGeom prst="rect">
            <a:avLst/>
          </a:prstGeom>
          <a:solidFill>
            <a:srgbClr val="2E75B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75223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FA64832-B542-4F84-9172-D24DF67C9A73}"/>
              </a:ext>
            </a:extLst>
          </p:cNvPr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1F38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0" rtlCol="0" anchor="ctr"/>
          <a:lstStyle/>
          <a:p>
            <a:r>
              <a:rPr lang="en-US" sz="2600" b="1">
                <a:solidFill>
                  <a:srgbClr val="FFFFFF"/>
                </a:solidFill>
                <a:latin typeface="Calibri" panose="020F0502020204030204" pitchFamily="34" charset="0"/>
              </a:rPr>
              <a:t>Architecture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64A453F-C1D6-4B8A-DD76-5E5F96F4D41C}"/>
              </a:ext>
            </a:extLst>
          </p:cNvPr>
          <p:cNvSpPr/>
          <p:nvPr/>
        </p:nvSpPr>
        <p:spPr>
          <a:xfrm>
            <a:off x="0" y="914400"/>
            <a:ext cx="12192000" cy="50800"/>
          </a:xfrm>
          <a:prstGeom prst="rect">
            <a:avLst/>
          </a:prstGeom>
          <a:solidFill>
            <a:srgbClr val="2E75B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165AA06-F9A2-A474-DE1F-EE3BEA4DCBFF}"/>
              </a:ext>
            </a:extLst>
          </p:cNvPr>
          <p:cNvSpPr txBox="1"/>
          <p:nvPr/>
        </p:nvSpPr>
        <p:spPr>
          <a:xfrm>
            <a:off x="508000" y="6413500"/>
            <a:ext cx="7620000" cy="24622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000">
                <a:solidFill>
                  <a:srgbClr val="767676"/>
                </a:solidFill>
                <a:latin typeface="Calibri" panose="020F0502020204030204" pitchFamily="34" charset="0"/>
              </a:rPr>
              <a:t>EDIFACT Orders POC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C6A7DFD-D965-6869-9EDA-AB816957E912}"/>
              </a:ext>
            </a:extLst>
          </p:cNvPr>
          <p:cNvSpPr txBox="1"/>
          <p:nvPr/>
        </p:nvSpPr>
        <p:spPr>
          <a:xfrm>
            <a:off x="10414000" y="6413500"/>
            <a:ext cx="1270000" cy="24622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r"/>
            <a:r>
              <a:rPr lang="en-US" sz="1000">
                <a:solidFill>
                  <a:srgbClr val="767676"/>
                </a:solidFill>
                <a:latin typeface="Calibri" panose="020F0502020204030204" pitchFamily="34" charset="0"/>
              </a:rPr>
              <a:t>4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D80381C-CD26-84A7-37D2-B2EE79084862}"/>
              </a:ext>
            </a:extLst>
          </p:cNvPr>
          <p:cNvSpPr/>
          <p:nvPr/>
        </p:nvSpPr>
        <p:spPr>
          <a:xfrm>
            <a:off x="2921000" y="1270000"/>
            <a:ext cx="6350000" cy="4191000"/>
          </a:xfrm>
          <a:prstGeom prst="roundRect">
            <a:avLst>
              <a:gd name="adj" fmla="val 5000"/>
            </a:avLst>
          </a:prstGeom>
          <a:solidFill>
            <a:srgbClr val="F2F7FC"/>
          </a:solidFill>
          <a:ln w="15875">
            <a:solidFill>
              <a:srgbClr val="2E75B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tIns="101600" rtlCol="0" anchor="t"/>
          <a:lstStyle/>
          <a:p>
            <a:pPr algn="ctr"/>
            <a:r>
              <a:rPr lang="en-US" sz="1300" b="1">
                <a:solidFill>
                  <a:srgbClr val="1F3864"/>
                </a:solidFill>
                <a:latin typeface="Calibri" panose="020F0502020204030204" pitchFamily="34" charset="0"/>
              </a:rPr>
              <a:t>Mule 4.12 application: edifact-orders-poc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A9D59071-B641-0344-F7A9-8ADFD755AFA5}"/>
              </a:ext>
            </a:extLst>
          </p:cNvPr>
          <p:cNvSpPr/>
          <p:nvPr/>
        </p:nvSpPr>
        <p:spPr>
          <a:xfrm>
            <a:off x="635000" y="1778000"/>
            <a:ext cx="1905000" cy="762000"/>
          </a:xfrm>
          <a:prstGeom prst="roundRect">
            <a:avLst/>
          </a:prstGeom>
          <a:solidFill>
            <a:srgbClr val="F2F2F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6200" rIns="76200" rtlCol="0" anchor="ctr"/>
          <a:lstStyle/>
          <a:p>
            <a:pPr algn="ctr"/>
            <a:r>
              <a:rPr lang="en-US" sz="1200">
                <a:solidFill>
                  <a:srgbClr val="404040"/>
                </a:solidFill>
                <a:latin typeface="Calibri" panose="020F0502020204030204" pitchFamily="34" charset="0"/>
              </a:rPr>
              <a:t>EDIFACT ORDERS file (D.96A)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750B3875-F255-6462-55C6-3DA18AE0DAC7}"/>
              </a:ext>
            </a:extLst>
          </p:cNvPr>
          <p:cNvSpPr/>
          <p:nvPr/>
        </p:nvSpPr>
        <p:spPr>
          <a:xfrm>
            <a:off x="635000" y="3429000"/>
            <a:ext cx="1905000" cy="762000"/>
          </a:xfrm>
          <a:prstGeom prst="roundRect">
            <a:avLst/>
          </a:prstGeom>
          <a:solidFill>
            <a:srgbClr val="F2F2F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6200" rIns="76200" rtlCol="0" anchor="ctr"/>
          <a:lstStyle/>
          <a:p>
            <a:pPr algn="ctr"/>
            <a:r>
              <a:rPr lang="en-US" sz="1200">
                <a:solidFill>
                  <a:srgbClr val="404040"/>
                </a:solidFill>
                <a:latin typeface="Calibri" panose="020F0502020204030204" pitchFamily="34" charset="0"/>
              </a:rPr>
              <a:t>JSON or XML purchase order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011917E4-198B-2234-A9BE-36F0FDFC5168}"/>
              </a:ext>
            </a:extLst>
          </p:cNvPr>
          <p:cNvSpPr/>
          <p:nvPr/>
        </p:nvSpPr>
        <p:spPr>
          <a:xfrm>
            <a:off x="3175000" y="1778000"/>
            <a:ext cx="1778000" cy="762000"/>
          </a:xfrm>
          <a:prstGeom prst="roundRect">
            <a:avLst/>
          </a:prstGeom>
          <a:solidFill>
            <a:srgbClr val="1F38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6200" rIns="76200" rtlCol="0" anchor="ctr"/>
          <a:lstStyle/>
          <a:p>
            <a:pPr algn="ctr"/>
            <a:r>
              <a:rPr lang="en-US" sz="1200" b="1">
                <a:solidFill>
                  <a:srgbClr val="FFFFFF"/>
                </a:solidFill>
                <a:latin typeface="Calibri" panose="020F0502020204030204" pitchFamily="34" charset="0"/>
              </a:rPr>
              <a:t>GET /orders/from-edifact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3D068992-DE23-2313-ED03-7D745EDF580B}"/>
              </a:ext>
            </a:extLst>
          </p:cNvPr>
          <p:cNvSpPr/>
          <p:nvPr/>
        </p:nvSpPr>
        <p:spPr>
          <a:xfrm>
            <a:off x="5207000" y="1778000"/>
            <a:ext cx="1778000" cy="762000"/>
          </a:xfrm>
          <a:prstGeom prst="roundRect">
            <a:avLst/>
          </a:prstGeom>
          <a:solidFill>
            <a:srgbClr val="DEEBF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6200" rIns="76200" rtlCol="0" anchor="ctr"/>
          <a:lstStyle/>
          <a:p>
            <a:pPr algn="ctr"/>
            <a:r>
              <a:rPr lang="en-US" sz="1200">
                <a:solidFill>
                  <a:srgbClr val="1F3864"/>
                </a:solidFill>
                <a:latin typeface="Calibri" panose="020F0502020204030204" pitchFamily="34" charset="0"/>
              </a:rPr>
              <a:t>EDIFACT read and validate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8B2FF38D-FE17-4DA7-6CB1-DF28DDDDA96D}"/>
              </a:ext>
            </a:extLst>
          </p:cNvPr>
          <p:cNvSpPr/>
          <p:nvPr/>
        </p:nvSpPr>
        <p:spPr>
          <a:xfrm>
            <a:off x="7239000" y="1778000"/>
            <a:ext cx="1778000" cy="762000"/>
          </a:xfrm>
          <a:prstGeom prst="roundRect">
            <a:avLst/>
          </a:prstGeom>
          <a:solidFill>
            <a:srgbClr val="DEEBF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6200" rIns="76200" rtlCol="0" anchor="ctr"/>
          <a:lstStyle/>
          <a:p>
            <a:pPr algn="ctr"/>
            <a:r>
              <a:rPr lang="en-US" sz="1200">
                <a:solidFill>
                  <a:srgbClr val="1F3864"/>
                </a:solidFill>
                <a:latin typeface="Calibri" panose="020F0502020204030204" pitchFamily="34" charset="0"/>
              </a:rPr>
              <a:t>Map and apply business rules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6CF16648-7670-D76B-F550-B9A346F6587F}"/>
              </a:ext>
            </a:extLst>
          </p:cNvPr>
          <p:cNvSpPr/>
          <p:nvPr/>
        </p:nvSpPr>
        <p:spPr>
          <a:xfrm>
            <a:off x="3175000" y="3429000"/>
            <a:ext cx="1778000" cy="762000"/>
          </a:xfrm>
          <a:prstGeom prst="roundRect">
            <a:avLst/>
          </a:prstGeom>
          <a:solidFill>
            <a:srgbClr val="1F38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6200" rIns="76200" rtlCol="0" anchor="ctr"/>
          <a:lstStyle/>
          <a:p>
            <a:pPr algn="ctr"/>
            <a:r>
              <a:rPr lang="en-US" sz="1200" b="1">
                <a:solidFill>
                  <a:srgbClr val="FFFFFF"/>
                </a:solidFill>
                <a:latin typeface="Calibri" panose="020F0502020204030204" pitchFamily="34" charset="0"/>
              </a:rPr>
              <a:t>GET /orders/to-edifact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000DDD8A-C871-A490-BCED-D40F1B30016B}"/>
              </a:ext>
            </a:extLst>
          </p:cNvPr>
          <p:cNvSpPr/>
          <p:nvPr/>
        </p:nvSpPr>
        <p:spPr>
          <a:xfrm>
            <a:off x="5207000" y="3429000"/>
            <a:ext cx="1778000" cy="762000"/>
          </a:xfrm>
          <a:prstGeom prst="roundRect">
            <a:avLst/>
          </a:prstGeom>
          <a:solidFill>
            <a:srgbClr val="DEEBF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6200" rIns="76200" rtlCol="0" anchor="ctr"/>
          <a:lstStyle/>
          <a:p>
            <a:pPr algn="ctr"/>
            <a:r>
              <a:rPr lang="en-US" sz="1200">
                <a:solidFill>
                  <a:srgbClr val="1F3864"/>
                </a:solidFill>
                <a:latin typeface="Calibri" panose="020F0502020204030204" pitchFamily="34" charset="0"/>
              </a:rPr>
              <a:t>Load order and check status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E40F5A1-D9B4-3049-367E-8F8129F7B6A6}"/>
              </a:ext>
            </a:extLst>
          </p:cNvPr>
          <p:cNvSpPr/>
          <p:nvPr/>
        </p:nvSpPr>
        <p:spPr>
          <a:xfrm>
            <a:off x="7239000" y="3429000"/>
            <a:ext cx="1778000" cy="762000"/>
          </a:xfrm>
          <a:prstGeom prst="roundRect">
            <a:avLst/>
          </a:prstGeom>
          <a:solidFill>
            <a:srgbClr val="DEEBF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6200" rIns="76200" rtlCol="0" anchor="ctr"/>
          <a:lstStyle/>
          <a:p>
            <a:pPr algn="ctr"/>
            <a:r>
              <a:rPr lang="en-US" sz="1200">
                <a:solidFill>
                  <a:srgbClr val="1F3864"/>
                </a:solidFill>
                <a:latin typeface="Calibri" panose="020F0502020204030204" pitchFamily="34" charset="0"/>
              </a:rPr>
              <a:t>EDIFACT write (accepted only)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C72216F-DF85-6653-2FF6-48A2717F8C54}"/>
              </a:ext>
            </a:extLst>
          </p:cNvPr>
          <p:cNvSpPr/>
          <p:nvPr/>
        </p:nvSpPr>
        <p:spPr>
          <a:xfrm>
            <a:off x="3175000" y="4597400"/>
            <a:ext cx="5842000" cy="635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6200" rIns="76200" rtlCol="0" anchor="ctr"/>
          <a:lstStyle/>
          <a:p>
            <a:pPr algn="ctr"/>
            <a:r>
              <a:rPr lang="en-US" sz="1100">
                <a:solidFill>
                  <a:srgbClr val="404040"/>
                </a:solidFill>
                <a:latin typeface="Calibri" panose="020F0502020204030204" pitchFamily="34" charset="0"/>
              </a:rPr>
              <a:t>Shared: EDIFACT configuration (ORDERS D.96A)  |  Canonical purchase order  |  DataWeave modules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E1497437-D07D-BAC8-7942-6A1E876926D0}"/>
              </a:ext>
            </a:extLst>
          </p:cNvPr>
          <p:cNvSpPr/>
          <p:nvPr/>
        </p:nvSpPr>
        <p:spPr>
          <a:xfrm>
            <a:off x="9652000" y="1778000"/>
            <a:ext cx="1905000" cy="762000"/>
          </a:xfrm>
          <a:prstGeom prst="roundRect">
            <a:avLst/>
          </a:prstGeom>
          <a:solidFill>
            <a:srgbClr val="F2F2F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6200" rIns="76200" rtlCol="0" anchor="ctr"/>
          <a:lstStyle/>
          <a:p>
            <a:pPr algn="ctr"/>
            <a:r>
              <a:rPr lang="en-US" sz="1200">
                <a:solidFill>
                  <a:srgbClr val="404040"/>
                </a:solidFill>
                <a:latin typeface="Calibri" panose="020F0502020204030204" pitchFamily="34" charset="0"/>
              </a:rPr>
              <a:t>JSON response, JSON and XML files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0E0AC06C-7AFE-4135-F23A-39C223EC95C3}"/>
              </a:ext>
            </a:extLst>
          </p:cNvPr>
          <p:cNvSpPr/>
          <p:nvPr/>
        </p:nvSpPr>
        <p:spPr>
          <a:xfrm>
            <a:off x="9652000" y="3429000"/>
            <a:ext cx="1905000" cy="762000"/>
          </a:xfrm>
          <a:prstGeom prst="roundRect">
            <a:avLst/>
          </a:prstGeom>
          <a:solidFill>
            <a:srgbClr val="F2F2F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6200" rIns="76200" rtlCol="0" anchor="ctr"/>
          <a:lstStyle/>
          <a:p>
            <a:pPr algn="ctr"/>
            <a:r>
              <a:rPr lang="en-US" sz="1200">
                <a:solidFill>
                  <a:srgbClr val="404040"/>
                </a:solidFill>
                <a:latin typeface="Calibri" panose="020F0502020204030204" pitchFamily="34" charset="0"/>
              </a:rPr>
              <a:t>EDIFACT file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B2428897-1B54-8CDC-64D7-F6EEF2C8EE7B}"/>
              </a:ext>
            </a:extLst>
          </p:cNvPr>
          <p:cNvCxnSpPr/>
          <p:nvPr/>
        </p:nvCxnSpPr>
        <p:spPr>
          <a:xfrm>
            <a:off x="2540000" y="2159000"/>
            <a:ext cx="635000" cy="0"/>
          </a:xfrm>
          <a:prstGeom prst="line">
            <a:avLst/>
          </a:prstGeom>
          <a:ln w="22225">
            <a:solidFill>
              <a:srgbClr val="76767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8E70FE2-D4C8-1B95-5684-1B187644FB4A}"/>
              </a:ext>
            </a:extLst>
          </p:cNvPr>
          <p:cNvCxnSpPr/>
          <p:nvPr/>
        </p:nvCxnSpPr>
        <p:spPr>
          <a:xfrm>
            <a:off x="4953000" y="2159000"/>
            <a:ext cx="254000" cy="0"/>
          </a:xfrm>
          <a:prstGeom prst="line">
            <a:avLst/>
          </a:prstGeom>
          <a:ln w="22225">
            <a:solidFill>
              <a:srgbClr val="76767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66534E13-CDC8-2679-1EBB-53123F945FE2}"/>
              </a:ext>
            </a:extLst>
          </p:cNvPr>
          <p:cNvCxnSpPr/>
          <p:nvPr/>
        </p:nvCxnSpPr>
        <p:spPr>
          <a:xfrm>
            <a:off x="6985000" y="2159000"/>
            <a:ext cx="254000" cy="0"/>
          </a:xfrm>
          <a:prstGeom prst="line">
            <a:avLst/>
          </a:prstGeom>
          <a:ln w="22225">
            <a:solidFill>
              <a:srgbClr val="76767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B89A6F7-1E9F-CE38-1100-EBBCF9FD1236}"/>
              </a:ext>
            </a:extLst>
          </p:cNvPr>
          <p:cNvCxnSpPr/>
          <p:nvPr/>
        </p:nvCxnSpPr>
        <p:spPr>
          <a:xfrm>
            <a:off x="9017000" y="2159000"/>
            <a:ext cx="635000" cy="0"/>
          </a:xfrm>
          <a:prstGeom prst="line">
            <a:avLst/>
          </a:prstGeom>
          <a:ln w="22225">
            <a:solidFill>
              <a:srgbClr val="76767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2C6D3393-5408-FEE5-FD8B-3F3FF2D2A713}"/>
              </a:ext>
            </a:extLst>
          </p:cNvPr>
          <p:cNvCxnSpPr/>
          <p:nvPr/>
        </p:nvCxnSpPr>
        <p:spPr>
          <a:xfrm>
            <a:off x="2540000" y="3810000"/>
            <a:ext cx="635000" cy="0"/>
          </a:xfrm>
          <a:prstGeom prst="line">
            <a:avLst/>
          </a:prstGeom>
          <a:ln w="22225">
            <a:solidFill>
              <a:srgbClr val="76767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F6B5F16F-C172-6F4A-4475-CA2AC2C992C4}"/>
              </a:ext>
            </a:extLst>
          </p:cNvPr>
          <p:cNvCxnSpPr/>
          <p:nvPr/>
        </p:nvCxnSpPr>
        <p:spPr>
          <a:xfrm>
            <a:off x="4953000" y="3810000"/>
            <a:ext cx="254000" cy="0"/>
          </a:xfrm>
          <a:prstGeom prst="line">
            <a:avLst/>
          </a:prstGeom>
          <a:ln w="22225">
            <a:solidFill>
              <a:srgbClr val="76767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AFF55F77-039C-96CC-6D5D-9C076B4C18AE}"/>
              </a:ext>
            </a:extLst>
          </p:cNvPr>
          <p:cNvCxnSpPr/>
          <p:nvPr/>
        </p:nvCxnSpPr>
        <p:spPr>
          <a:xfrm>
            <a:off x="6985000" y="3810000"/>
            <a:ext cx="254000" cy="0"/>
          </a:xfrm>
          <a:prstGeom prst="line">
            <a:avLst/>
          </a:prstGeom>
          <a:ln w="22225">
            <a:solidFill>
              <a:srgbClr val="76767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B2975804-87E7-AB9D-BB3A-3424567CA6C5}"/>
              </a:ext>
            </a:extLst>
          </p:cNvPr>
          <p:cNvCxnSpPr/>
          <p:nvPr/>
        </p:nvCxnSpPr>
        <p:spPr>
          <a:xfrm>
            <a:off x="9017000" y="3810000"/>
            <a:ext cx="635000" cy="0"/>
          </a:xfrm>
          <a:prstGeom prst="line">
            <a:avLst/>
          </a:prstGeom>
          <a:ln w="22225">
            <a:solidFill>
              <a:srgbClr val="76767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6A759F74-B422-7047-8D29-2E8660433CD9}"/>
              </a:ext>
            </a:extLst>
          </p:cNvPr>
          <p:cNvSpPr txBox="1"/>
          <p:nvPr/>
        </p:nvSpPr>
        <p:spPr>
          <a:xfrm>
            <a:off x="508000" y="5715000"/>
            <a:ext cx="11176000" cy="292388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en-US" sz="1300">
                <a:solidFill>
                  <a:srgbClr val="767676"/>
                </a:solidFill>
                <a:latin typeface="Calibri" panose="020F0502020204030204" pitchFamily="34" charset="0"/>
              </a:rPr>
              <a:t>Two independent HTTP flows in one Mule application, sharing one EDIFACT configuration, one canonical order, and reusable DataWeave modules.</a:t>
            </a:r>
          </a:p>
        </p:txBody>
      </p:sp>
    </p:spTree>
    <p:extLst>
      <p:ext uri="{BB962C8B-B14F-4D97-AF65-F5344CB8AC3E}">
        <p14:creationId xmlns:p14="http://schemas.microsoft.com/office/powerpoint/2010/main" val="35369135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BA44454-2366-E3E0-47C9-3AC7A0802F7B}"/>
              </a:ext>
            </a:extLst>
          </p:cNvPr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1F38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0" rtlCol="0" anchor="ctr"/>
          <a:lstStyle/>
          <a:p>
            <a:r>
              <a:rPr lang="en-US" sz="2600" b="1">
                <a:solidFill>
                  <a:srgbClr val="FFFFFF"/>
                </a:solidFill>
                <a:latin typeface="Calibri" panose="020F0502020204030204" pitchFamily="34" charset="0"/>
              </a:rPr>
              <a:t>Business rules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2C87D87-117B-4E80-FA14-D66D64D43852}"/>
              </a:ext>
            </a:extLst>
          </p:cNvPr>
          <p:cNvSpPr/>
          <p:nvPr/>
        </p:nvSpPr>
        <p:spPr>
          <a:xfrm>
            <a:off x="0" y="914400"/>
            <a:ext cx="12192000" cy="50800"/>
          </a:xfrm>
          <a:prstGeom prst="rect">
            <a:avLst/>
          </a:prstGeom>
          <a:solidFill>
            <a:srgbClr val="2E75B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5A66485-D935-FDB2-5CA3-89367D92CC07}"/>
              </a:ext>
            </a:extLst>
          </p:cNvPr>
          <p:cNvSpPr txBox="1"/>
          <p:nvPr/>
        </p:nvSpPr>
        <p:spPr>
          <a:xfrm>
            <a:off x="508000" y="6413500"/>
            <a:ext cx="7620000" cy="24622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000">
                <a:solidFill>
                  <a:srgbClr val="767676"/>
                </a:solidFill>
                <a:latin typeface="Calibri" panose="020F0502020204030204" pitchFamily="34" charset="0"/>
              </a:rPr>
              <a:t>EDIFACT Orders POC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684C534-4671-FC1F-F34A-2B209AFB3377}"/>
              </a:ext>
            </a:extLst>
          </p:cNvPr>
          <p:cNvSpPr txBox="1"/>
          <p:nvPr/>
        </p:nvSpPr>
        <p:spPr>
          <a:xfrm>
            <a:off x="10414000" y="6413500"/>
            <a:ext cx="1270000" cy="24622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r"/>
            <a:r>
              <a:rPr lang="en-US" sz="1000">
                <a:solidFill>
                  <a:srgbClr val="767676"/>
                </a:solidFill>
                <a:latin typeface="Calibri" panose="020F0502020204030204" pitchFamily="34" charset="0"/>
              </a:rPr>
              <a:t>5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854FDF5-B153-D051-514C-FF128F5BFEA9}"/>
              </a:ext>
            </a:extLst>
          </p:cNvPr>
          <p:cNvSpPr txBox="1"/>
          <p:nvPr/>
        </p:nvSpPr>
        <p:spPr>
          <a:xfrm>
            <a:off x="508000" y="1168400"/>
            <a:ext cx="111760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>
                <a:solidFill>
                  <a:srgbClr val="404040"/>
                </a:solidFill>
                <a:latin typeface="Calibri" panose="020F0502020204030204" pitchFamily="34" charset="0"/>
              </a:rPr>
              <a:t>An order is ACCEPTED only when every rule passes. Otherwise it is REJECTED and each failed rule is listed.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650D5D4-23E2-F539-0474-DB03161781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5251464"/>
              </p:ext>
            </p:extLst>
          </p:nvPr>
        </p:nvGraphicFramePr>
        <p:xfrm>
          <a:off x="508000" y="1778000"/>
          <a:ext cx="11176000" cy="304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91000">
                  <a:extLst>
                    <a:ext uri="{9D8B030D-6E8A-4147-A177-3AD203B41FA5}">
                      <a16:colId xmlns:a16="http://schemas.microsoft.com/office/drawing/2014/main" val="734817537"/>
                    </a:ext>
                  </a:extLst>
                </a:gridCol>
                <a:gridCol w="3810000">
                  <a:extLst>
                    <a:ext uri="{9D8B030D-6E8A-4147-A177-3AD203B41FA5}">
                      <a16:colId xmlns:a16="http://schemas.microsoft.com/office/drawing/2014/main" val="2000251194"/>
                    </a:ext>
                  </a:extLst>
                </a:gridCol>
                <a:gridCol w="3175000">
                  <a:extLst>
                    <a:ext uri="{9D8B030D-6E8A-4147-A177-3AD203B41FA5}">
                      <a16:colId xmlns:a16="http://schemas.microsoft.com/office/drawing/2014/main" val="399679538"/>
                    </a:ext>
                  </a:extLst>
                </a:gridCol>
              </a:tblGrid>
              <a:tr h="508000">
                <a:tc>
                  <a:txBody>
                    <a:bodyPr/>
                    <a:lstStyle/>
                    <a:p>
                      <a:r>
                        <a:rPr lang="en-US" sz="14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Rule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EDIFACT source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Reason code if failed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1122549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r>
                        <a:rPr lang="en-US" sz="1400" b="0">
                          <a:solidFill>
                            <a:srgbClr val="404040"/>
                          </a:solidFill>
                          <a:latin typeface="Calibri" panose="020F0502020204030204" pitchFamily="34" charset="0"/>
                        </a:rPr>
                        <a:t>Currency is PHP</a:t>
                      </a:r>
                    </a:p>
                  </a:txBody>
                  <a:tcPr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>
                          <a:solidFill>
                            <a:srgbClr val="404040"/>
                          </a:solidFill>
                          <a:latin typeface="Calibri" panose="020F0502020204030204" pitchFamily="34" charset="0"/>
                        </a:rPr>
                        <a:t>CUX, currency (qualifier 2)</a:t>
                      </a:r>
                    </a:p>
                  </a:txBody>
                  <a:tcPr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>
                          <a:solidFill>
                            <a:srgbClr val="404040"/>
                          </a:solidFill>
                          <a:latin typeface="Calibri" panose="020F0502020204030204" pitchFamily="34" charset="0"/>
                        </a:rPr>
                        <a:t>UNSUPPORTED_CURRENCY</a:t>
                      </a:r>
                    </a:p>
                  </a:txBody>
                  <a:tcPr>
                    <a:solidFill>
                      <a:srgbClr val="F2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02255525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r>
                        <a:rPr lang="en-US" sz="1400" b="0">
                          <a:solidFill>
                            <a:srgbClr val="404040"/>
                          </a:solidFill>
                          <a:latin typeface="Calibri" panose="020F0502020204030204" pitchFamily="34" charset="0"/>
                        </a:rPr>
                        <a:t>Every quantity is greater than 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>
                          <a:solidFill>
                            <a:srgbClr val="404040"/>
                          </a:solidFill>
                          <a:latin typeface="Calibri" panose="020F0502020204030204" pitchFamily="34" charset="0"/>
                        </a:rPr>
                        <a:t>QTY, ordered quantity (qualifier 21)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>
                          <a:solidFill>
                            <a:srgbClr val="404040"/>
                          </a:solidFill>
                          <a:latin typeface="Calibri" panose="020F0502020204030204" pitchFamily="34" charset="0"/>
                        </a:rPr>
                        <a:t>INVALID_QUANTITY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6251780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r>
                        <a:rPr lang="en-US" sz="1400" b="0">
                          <a:solidFill>
                            <a:srgbClr val="404040"/>
                          </a:solidFill>
                          <a:latin typeface="Calibri" panose="020F0502020204030204" pitchFamily="34" charset="0"/>
                        </a:rPr>
                        <a:t>Every unit price is greater than 0</a:t>
                      </a:r>
                    </a:p>
                  </a:txBody>
                  <a:tcPr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400" b="0">
                          <a:solidFill>
                            <a:srgbClr val="404040"/>
                          </a:solidFill>
                          <a:latin typeface="Calibri" panose="020F0502020204030204" pitchFamily="34" charset="0"/>
                        </a:rPr>
                        <a:t>PRI, net price (qualifier AAA)</a:t>
                      </a:r>
                      <a:endParaRPr lang="en-US" sz="1400" b="0">
                        <a:solidFill>
                          <a:srgbClr val="404040"/>
                        </a:solidFill>
                        <a:latin typeface="Calibri" panose="020F0502020204030204" pitchFamily="34" charset="0"/>
                      </a:endParaRPr>
                    </a:p>
                  </a:txBody>
                  <a:tcPr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>
                          <a:solidFill>
                            <a:srgbClr val="404040"/>
                          </a:solidFill>
                          <a:latin typeface="Calibri" panose="020F0502020204030204" pitchFamily="34" charset="0"/>
                        </a:rPr>
                        <a:t>INVALID_PRICE</a:t>
                      </a:r>
                    </a:p>
                  </a:txBody>
                  <a:tcPr>
                    <a:solidFill>
                      <a:srgbClr val="F2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7607050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r>
                        <a:rPr lang="en-US" sz="1400" b="0">
                          <a:solidFill>
                            <a:srgbClr val="404040"/>
                          </a:solidFill>
                          <a:latin typeface="Calibri" panose="020F0502020204030204" pitchFamily="34" charset="0"/>
                        </a:rPr>
                        <a:t>Delivery date is on or after the order date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>
                          <a:solidFill>
                            <a:srgbClr val="404040"/>
                          </a:solidFill>
                          <a:latin typeface="Calibri" panose="020F0502020204030204" pitchFamily="34" charset="0"/>
                        </a:rPr>
                        <a:t>DTM (qualifiers 2 and 137)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>
                          <a:solidFill>
                            <a:srgbClr val="404040"/>
                          </a:solidFill>
                          <a:latin typeface="Calibri" panose="020F0502020204030204" pitchFamily="34" charset="0"/>
                        </a:rPr>
                        <a:t>DELIVERY_BEFORE_ORDER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976899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r>
                        <a:rPr lang="en-US" sz="1400" b="0">
                          <a:solidFill>
                            <a:srgbClr val="404040"/>
                          </a:solidFill>
                          <a:latin typeface="Calibri" panose="020F0502020204030204" pitchFamily="34" charset="0"/>
                        </a:rPr>
                        <a:t>Order total is at most 100,000 PHP</a:t>
                      </a:r>
                    </a:p>
                  </a:txBody>
                  <a:tcPr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>
                          <a:solidFill>
                            <a:srgbClr val="404040"/>
                          </a:solidFill>
                          <a:latin typeface="Calibri" panose="020F0502020204030204" pitchFamily="34" charset="0"/>
                        </a:rPr>
                        <a:t>Calculated from all lines</a:t>
                      </a:r>
                    </a:p>
                  </a:txBody>
                  <a:tcPr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>
                          <a:solidFill>
                            <a:srgbClr val="404040"/>
                          </a:solidFill>
                          <a:latin typeface="Calibri" panose="020F0502020204030204" pitchFamily="34" charset="0"/>
                        </a:rPr>
                        <a:t>CREDIT_LIMIT_EXCEEDED</a:t>
                      </a:r>
                    </a:p>
                  </a:txBody>
                  <a:tcPr>
                    <a:solidFill>
                      <a:srgbClr val="F2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9542117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EED7EC6E-60EF-D85F-E4BE-3971CA5493A0}"/>
              </a:ext>
            </a:extLst>
          </p:cNvPr>
          <p:cNvSpPr txBox="1"/>
          <p:nvPr/>
        </p:nvSpPr>
        <p:spPr>
          <a:xfrm>
            <a:off x="508000" y="5588000"/>
            <a:ext cx="11176000" cy="292388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300">
                <a:solidFill>
                  <a:srgbClr val="767676"/>
                </a:solidFill>
                <a:latin typeface="Calibri" panose="020F0502020204030204" pitchFamily="34" charset="0"/>
              </a:rPr>
              <a:t>Line amount is calculated by MuleSoft as quantity multiplied by unit price. It is not taken from the incoming file. Currency and credit limit are configuration values.</a:t>
            </a:r>
          </a:p>
        </p:txBody>
      </p:sp>
    </p:spTree>
    <p:extLst>
      <p:ext uri="{BB962C8B-B14F-4D97-AF65-F5344CB8AC3E}">
        <p14:creationId xmlns:p14="http://schemas.microsoft.com/office/powerpoint/2010/main" val="30041854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5B0AE15-C2B6-B249-7FD8-6BB2AD16E2C8}"/>
              </a:ext>
            </a:extLst>
          </p:cNvPr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1F38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0" rtlCol="0" anchor="ctr"/>
          <a:lstStyle/>
          <a:p>
            <a:r>
              <a:rPr lang="en-US" sz="2600" b="1">
                <a:solidFill>
                  <a:srgbClr val="FFFFFF"/>
                </a:solidFill>
                <a:latin typeface="Calibri" panose="020F0502020204030204" pitchFamily="34" charset="0"/>
              </a:rPr>
              <a:t>Demo walkthrough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2DA8DE7-7E59-7969-9E14-5582F5B1ABD4}"/>
              </a:ext>
            </a:extLst>
          </p:cNvPr>
          <p:cNvSpPr/>
          <p:nvPr/>
        </p:nvSpPr>
        <p:spPr>
          <a:xfrm>
            <a:off x="0" y="914400"/>
            <a:ext cx="12192000" cy="50800"/>
          </a:xfrm>
          <a:prstGeom prst="rect">
            <a:avLst/>
          </a:prstGeom>
          <a:solidFill>
            <a:srgbClr val="2E75B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B24953-928D-AEB3-268B-552D2CE90499}"/>
              </a:ext>
            </a:extLst>
          </p:cNvPr>
          <p:cNvSpPr txBox="1"/>
          <p:nvPr/>
        </p:nvSpPr>
        <p:spPr>
          <a:xfrm>
            <a:off x="508000" y="6413500"/>
            <a:ext cx="7620000" cy="24622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000">
                <a:solidFill>
                  <a:srgbClr val="767676"/>
                </a:solidFill>
                <a:latin typeface="Calibri" panose="020F0502020204030204" pitchFamily="34" charset="0"/>
              </a:rPr>
              <a:t>EDIFACT Orders POC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18642B1-8E7B-1F41-6336-F472D1FD4CF6}"/>
              </a:ext>
            </a:extLst>
          </p:cNvPr>
          <p:cNvSpPr txBox="1"/>
          <p:nvPr/>
        </p:nvSpPr>
        <p:spPr>
          <a:xfrm>
            <a:off x="10414000" y="6413500"/>
            <a:ext cx="1270000" cy="24622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r"/>
            <a:r>
              <a:rPr lang="en-US" sz="1000">
                <a:solidFill>
                  <a:srgbClr val="767676"/>
                </a:solidFill>
                <a:latin typeface="Calibri" panose="020F0502020204030204" pitchFamily="34" charset="0"/>
              </a:rPr>
              <a:t>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177EE3F-B602-52BC-B6F4-F08E44B839AC}"/>
              </a:ext>
            </a:extLst>
          </p:cNvPr>
          <p:cNvSpPr txBox="1"/>
          <p:nvPr/>
        </p:nvSpPr>
        <p:spPr>
          <a:xfrm>
            <a:off x="508000" y="1168400"/>
            <a:ext cx="111760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>
                <a:solidFill>
                  <a:srgbClr val="404040"/>
                </a:solidFill>
                <a:latin typeface="Calibri" panose="020F0502020204030204" pitchFamily="34" charset="0"/>
              </a:rPr>
              <a:t>The demo runs locally on port 8081 with four calls.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CF174FDB-0BB5-7448-AA6B-0243EB25545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16995165"/>
              </p:ext>
            </p:extLst>
          </p:nvPr>
        </p:nvGraphicFramePr>
        <p:xfrm>
          <a:off x="508000" y="1714500"/>
          <a:ext cx="11176000" cy="25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26000">
                  <a:extLst>
                    <a:ext uri="{9D8B030D-6E8A-4147-A177-3AD203B41FA5}">
                      <a16:colId xmlns:a16="http://schemas.microsoft.com/office/drawing/2014/main" val="3008619606"/>
                    </a:ext>
                  </a:extLst>
                </a:gridCol>
                <a:gridCol w="2413000">
                  <a:extLst>
                    <a:ext uri="{9D8B030D-6E8A-4147-A177-3AD203B41FA5}">
                      <a16:colId xmlns:a16="http://schemas.microsoft.com/office/drawing/2014/main" val="1947917530"/>
                    </a:ext>
                  </a:extLst>
                </a:gridCol>
                <a:gridCol w="3937000">
                  <a:extLst>
                    <a:ext uri="{9D8B030D-6E8A-4147-A177-3AD203B41FA5}">
                      <a16:colId xmlns:a16="http://schemas.microsoft.com/office/drawing/2014/main" val="654844376"/>
                    </a:ext>
                  </a:extLst>
                </a:gridCol>
              </a:tblGrid>
              <a:tr h="508000"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Call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Input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Expected result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9947808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404040"/>
                          </a:solidFill>
                          <a:latin typeface="Calibri" panose="020F0502020204030204" pitchFamily="34" charset="0"/>
                        </a:rPr>
                        <a:t>GET /orders/from-edifact?file=orders-accepted.edi</a:t>
                      </a:r>
                    </a:p>
                  </a:txBody>
                  <a:tcPr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404040"/>
                          </a:solidFill>
                          <a:latin typeface="Calibri" panose="020F0502020204030204" pitchFamily="34" charset="0"/>
                        </a:rPr>
                        <a:t>EDIFACT order PO-1001</a:t>
                      </a:r>
                    </a:p>
                  </a:txBody>
                  <a:tcPr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404040"/>
                          </a:solidFill>
                          <a:latin typeface="Calibri" panose="020F0502020204030204" pitchFamily="34" charset="0"/>
                        </a:rPr>
                        <a:t>ACCEPTED, total 25,000 PHP. JSON and XML written to the outbox.</a:t>
                      </a:r>
                    </a:p>
                  </a:txBody>
                  <a:tcPr>
                    <a:solidFill>
                      <a:srgbClr val="F2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5971917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404040"/>
                          </a:solidFill>
                          <a:latin typeface="Calibri" panose="020F0502020204030204" pitchFamily="34" charset="0"/>
                        </a:rPr>
                        <a:t>GET /orders/from-edifact?file=orders-rejected.edi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404040"/>
                          </a:solidFill>
                          <a:latin typeface="Calibri" panose="020F0502020204030204" pitchFamily="34" charset="0"/>
                        </a:rPr>
                        <a:t>EDIFACT order PO-1002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404040"/>
                          </a:solidFill>
                          <a:latin typeface="Calibri" panose="020F0502020204030204" pitchFamily="34" charset="0"/>
                        </a:rPr>
                        <a:t>REJECTED with INVALID_QUANTITY and CREDIT_LIMIT_EXCEEDED.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00437055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404040"/>
                          </a:solidFill>
                          <a:latin typeface="Calibri" panose="020F0502020204030204" pitchFamily="34" charset="0"/>
                        </a:rPr>
                        <a:t>GET /orders/to-edifact?file=orders-accepted.json (or .xml)</a:t>
                      </a:r>
                    </a:p>
                  </a:txBody>
                  <a:tcPr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404040"/>
                          </a:solidFill>
                          <a:latin typeface="Calibri" panose="020F0502020204030204" pitchFamily="34" charset="0"/>
                        </a:rPr>
                        <a:t>Canonical order PO-1001</a:t>
                      </a:r>
                    </a:p>
                  </a:txBody>
                  <a:tcPr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404040"/>
                          </a:solidFill>
                          <a:latin typeface="Calibri" panose="020F0502020204030204" pitchFamily="34" charset="0"/>
                        </a:rPr>
                        <a:t>EDIFACT file written. Round-trip check matches.</a:t>
                      </a:r>
                    </a:p>
                  </a:txBody>
                  <a:tcPr>
                    <a:solidFill>
                      <a:srgbClr val="F2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7931090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404040"/>
                          </a:solidFill>
                          <a:latin typeface="Calibri" panose="020F0502020204030204" pitchFamily="34" charset="0"/>
                        </a:rPr>
                        <a:t>GET /orders/to-edifact?file=orders-rejected.json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404040"/>
                          </a:solidFill>
                          <a:latin typeface="Calibri" panose="020F0502020204030204" pitchFamily="34" charset="0"/>
                        </a:rPr>
                        <a:t>Canonical order PO-1002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404040"/>
                          </a:solidFill>
                          <a:latin typeface="Calibri" panose="020F0502020204030204" pitchFamily="34" charset="0"/>
                        </a:rPr>
                        <a:t>Not converted. Reason codes returned.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046713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460532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B6AF569-FEA3-A2FF-0391-F39DBD07DB9A}"/>
              </a:ext>
            </a:extLst>
          </p:cNvPr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1F38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0" rtlCol="0" anchor="ctr"/>
          <a:lstStyle/>
          <a:p>
            <a:r>
              <a:rPr lang="en-US" sz="2600" b="1">
                <a:solidFill>
                  <a:srgbClr val="FFFFFF"/>
                </a:solidFill>
                <a:latin typeface="Calibri" panose="020F0502020204030204" pitchFamily="34" charset="0"/>
              </a:rPr>
              <a:t>Technology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70C1EFB-082D-8BA6-95DE-39348317F18C}"/>
              </a:ext>
            </a:extLst>
          </p:cNvPr>
          <p:cNvSpPr/>
          <p:nvPr/>
        </p:nvSpPr>
        <p:spPr>
          <a:xfrm>
            <a:off x="0" y="914400"/>
            <a:ext cx="12192000" cy="50800"/>
          </a:xfrm>
          <a:prstGeom prst="rect">
            <a:avLst/>
          </a:prstGeom>
          <a:solidFill>
            <a:srgbClr val="2E75B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40057E0-D90A-DBE5-A36A-89E20A6B87FA}"/>
              </a:ext>
            </a:extLst>
          </p:cNvPr>
          <p:cNvSpPr txBox="1"/>
          <p:nvPr/>
        </p:nvSpPr>
        <p:spPr>
          <a:xfrm>
            <a:off x="508000" y="6413500"/>
            <a:ext cx="7620000" cy="24622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000">
                <a:solidFill>
                  <a:srgbClr val="767676"/>
                </a:solidFill>
                <a:latin typeface="Calibri" panose="020F0502020204030204" pitchFamily="34" charset="0"/>
              </a:rPr>
              <a:t>EDIFACT Orders POC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F98037D-148E-CD04-CD8F-262E845A2734}"/>
              </a:ext>
            </a:extLst>
          </p:cNvPr>
          <p:cNvSpPr txBox="1"/>
          <p:nvPr/>
        </p:nvSpPr>
        <p:spPr>
          <a:xfrm>
            <a:off x="10414000" y="6413500"/>
            <a:ext cx="1270000" cy="24622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r"/>
            <a:r>
              <a:rPr lang="en-US" sz="1000">
                <a:solidFill>
                  <a:srgbClr val="767676"/>
                </a:solidFill>
                <a:latin typeface="Calibri" panose="020F0502020204030204" pitchFamily="34" charset="0"/>
              </a:rPr>
              <a:t>7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99E3055-800E-0F9C-E243-D5819FA93A31}"/>
              </a:ext>
            </a:extLst>
          </p:cNvPr>
          <p:cNvSpPr/>
          <p:nvPr/>
        </p:nvSpPr>
        <p:spPr>
          <a:xfrm>
            <a:off x="508000" y="1333500"/>
            <a:ext cx="3632200" cy="2159000"/>
          </a:xfrm>
          <a:prstGeom prst="rect">
            <a:avLst/>
          </a:prstGeom>
          <a:solidFill>
            <a:srgbClr val="F2F7FC"/>
          </a:solidFill>
          <a:ln>
            <a:solidFill>
              <a:srgbClr val="DEEBF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127000" rIns="152400" rtlCol="0" anchor="t"/>
          <a:lstStyle/>
          <a:p>
            <a:pPr>
              <a:spcAft>
                <a:spcPts val="600"/>
              </a:spcAft>
            </a:pPr>
            <a:r>
              <a:rPr lang="en-US" sz="1700" b="1">
                <a:solidFill>
                  <a:srgbClr val="1F3864"/>
                </a:solidFill>
                <a:latin typeface="Calibri" panose="020F0502020204030204" pitchFamily="34" charset="0"/>
              </a:rPr>
              <a:t>Mule runtime 4.12.5</a:t>
            </a:r>
          </a:p>
          <a:p>
            <a:r>
              <a:rPr lang="en-US" sz="1400">
                <a:solidFill>
                  <a:srgbClr val="404040"/>
                </a:solidFill>
                <a:latin typeface="Calibri" panose="020F0502020204030204" pitchFamily="34" charset="0"/>
              </a:rPr>
              <a:t>Integration runtime, on Java 17.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2F41B4F-130E-7BF3-AAFE-BE57B8DF3592}"/>
              </a:ext>
            </a:extLst>
          </p:cNvPr>
          <p:cNvSpPr/>
          <p:nvPr/>
        </p:nvSpPr>
        <p:spPr>
          <a:xfrm>
            <a:off x="508000" y="1333500"/>
            <a:ext cx="63500" cy="2159000"/>
          </a:xfrm>
          <a:prstGeom prst="rect">
            <a:avLst/>
          </a:prstGeom>
          <a:solidFill>
            <a:srgbClr val="2E75B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42A47AE-3382-90B5-131E-D103C067E1C2}"/>
              </a:ext>
            </a:extLst>
          </p:cNvPr>
          <p:cNvSpPr/>
          <p:nvPr/>
        </p:nvSpPr>
        <p:spPr>
          <a:xfrm>
            <a:off x="4279900" y="1333500"/>
            <a:ext cx="3632200" cy="2159000"/>
          </a:xfrm>
          <a:prstGeom prst="rect">
            <a:avLst/>
          </a:prstGeom>
          <a:solidFill>
            <a:srgbClr val="F2F7FC"/>
          </a:solidFill>
          <a:ln>
            <a:solidFill>
              <a:srgbClr val="DEEBF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127000" rIns="152400" rtlCol="0" anchor="t"/>
          <a:lstStyle/>
          <a:p>
            <a:pPr>
              <a:spcAft>
                <a:spcPts val="600"/>
              </a:spcAft>
            </a:pPr>
            <a:r>
              <a:rPr lang="en-US" sz="1700" b="1">
                <a:solidFill>
                  <a:srgbClr val="1F3864"/>
                </a:solidFill>
                <a:latin typeface="Calibri" panose="020F0502020204030204" pitchFamily="34" charset="0"/>
              </a:rPr>
              <a:t>EDIFACT EDI Connector 3.0.0</a:t>
            </a:r>
          </a:p>
          <a:p>
            <a:r>
              <a:rPr lang="en-US" sz="1400">
                <a:solidFill>
                  <a:srgbClr val="404040"/>
                </a:solidFill>
                <a:latin typeface="Calibri" panose="020F0502020204030204" pitchFamily="34" charset="0"/>
              </a:rPr>
              <a:t>Parsing, validation, and EDIFACT generation for ORDERS D.96A.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BBF8F69-53AC-E0B5-DE77-BB3322658CBC}"/>
              </a:ext>
            </a:extLst>
          </p:cNvPr>
          <p:cNvSpPr/>
          <p:nvPr/>
        </p:nvSpPr>
        <p:spPr>
          <a:xfrm>
            <a:off x="4279900" y="1333500"/>
            <a:ext cx="63500" cy="2159000"/>
          </a:xfrm>
          <a:prstGeom prst="rect">
            <a:avLst/>
          </a:prstGeom>
          <a:solidFill>
            <a:srgbClr val="2E75B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48A0061-99F9-0072-80FE-94209611EEE2}"/>
              </a:ext>
            </a:extLst>
          </p:cNvPr>
          <p:cNvSpPr/>
          <p:nvPr/>
        </p:nvSpPr>
        <p:spPr>
          <a:xfrm>
            <a:off x="8051800" y="1333500"/>
            <a:ext cx="3632200" cy="2159000"/>
          </a:xfrm>
          <a:prstGeom prst="rect">
            <a:avLst/>
          </a:prstGeom>
          <a:solidFill>
            <a:srgbClr val="F2F7FC"/>
          </a:solidFill>
          <a:ln>
            <a:solidFill>
              <a:srgbClr val="DEEBF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127000" rIns="152400" rtlCol="0" anchor="t"/>
          <a:lstStyle/>
          <a:p>
            <a:pPr>
              <a:spcAft>
                <a:spcPts val="600"/>
              </a:spcAft>
            </a:pPr>
            <a:r>
              <a:rPr lang="en-US" sz="1700" b="1">
                <a:solidFill>
                  <a:srgbClr val="1F3864"/>
                </a:solidFill>
                <a:latin typeface="Calibri" panose="020F0502020204030204" pitchFamily="34" charset="0"/>
              </a:rPr>
              <a:t>DataWeave 2</a:t>
            </a:r>
          </a:p>
          <a:p>
            <a:r>
              <a:rPr lang="en-US" sz="1400">
                <a:solidFill>
                  <a:srgbClr val="404040"/>
                </a:solidFill>
                <a:latin typeface="Calibri" panose="020F0502020204030204" pitchFamily="34" charset="0"/>
              </a:rPr>
              <a:t>Field mapping, business rules, and JSON and XML output.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1B8FDE1-C58E-C821-6484-1A5EFC1CCA47}"/>
              </a:ext>
            </a:extLst>
          </p:cNvPr>
          <p:cNvSpPr/>
          <p:nvPr/>
        </p:nvSpPr>
        <p:spPr>
          <a:xfrm>
            <a:off x="8051800" y="1333500"/>
            <a:ext cx="63500" cy="2159000"/>
          </a:xfrm>
          <a:prstGeom prst="rect">
            <a:avLst/>
          </a:prstGeom>
          <a:solidFill>
            <a:srgbClr val="2E75B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75618C6-E0DB-7D07-122B-22DDFB871573}"/>
              </a:ext>
            </a:extLst>
          </p:cNvPr>
          <p:cNvSpPr/>
          <p:nvPr/>
        </p:nvSpPr>
        <p:spPr>
          <a:xfrm>
            <a:off x="508000" y="3746500"/>
            <a:ext cx="3632200" cy="2159000"/>
          </a:xfrm>
          <a:prstGeom prst="rect">
            <a:avLst/>
          </a:prstGeom>
          <a:solidFill>
            <a:srgbClr val="F2F7FC"/>
          </a:solidFill>
          <a:ln>
            <a:solidFill>
              <a:srgbClr val="DEEBF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127000" rIns="152400" rtlCol="0" anchor="t"/>
          <a:lstStyle/>
          <a:p>
            <a:pPr>
              <a:spcAft>
                <a:spcPts val="600"/>
              </a:spcAft>
            </a:pPr>
            <a:r>
              <a:rPr lang="en-US" sz="1700" b="1">
                <a:solidFill>
                  <a:srgbClr val="1F3864"/>
                </a:solidFill>
                <a:latin typeface="Calibri" panose="020F0502020204030204" pitchFamily="34" charset="0"/>
              </a:rPr>
              <a:t>HTTP 1.12.1 and File 1.5.7 connectors</a:t>
            </a:r>
          </a:p>
          <a:p>
            <a:r>
              <a:rPr lang="en-US" sz="1400">
                <a:solidFill>
                  <a:srgbClr val="404040"/>
                </a:solidFill>
                <a:latin typeface="Calibri" panose="020F0502020204030204" pitchFamily="34" charset="0"/>
              </a:rPr>
              <a:t>Demo endpoints and output files.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0F919F1-0C2C-3448-AE73-F333D75E5848}"/>
              </a:ext>
            </a:extLst>
          </p:cNvPr>
          <p:cNvSpPr/>
          <p:nvPr/>
        </p:nvSpPr>
        <p:spPr>
          <a:xfrm>
            <a:off x="508000" y="3746500"/>
            <a:ext cx="63500" cy="2159000"/>
          </a:xfrm>
          <a:prstGeom prst="rect">
            <a:avLst/>
          </a:prstGeom>
          <a:solidFill>
            <a:srgbClr val="2E75B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ACB1434-E3EC-7001-66F5-387C8F203E04}"/>
              </a:ext>
            </a:extLst>
          </p:cNvPr>
          <p:cNvSpPr/>
          <p:nvPr/>
        </p:nvSpPr>
        <p:spPr>
          <a:xfrm>
            <a:off x="4279900" y="3746500"/>
            <a:ext cx="3632200" cy="2159000"/>
          </a:xfrm>
          <a:prstGeom prst="rect">
            <a:avLst/>
          </a:prstGeom>
          <a:solidFill>
            <a:srgbClr val="F2F7FC"/>
          </a:solidFill>
          <a:ln>
            <a:solidFill>
              <a:srgbClr val="DEEBF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127000" rIns="152400" rtlCol="0" anchor="t"/>
          <a:lstStyle/>
          <a:p>
            <a:pPr>
              <a:spcAft>
                <a:spcPts val="600"/>
              </a:spcAft>
            </a:pPr>
            <a:r>
              <a:rPr lang="en-US" sz="1700" b="1">
                <a:solidFill>
                  <a:srgbClr val="1F3864"/>
                </a:solidFill>
                <a:latin typeface="Calibri" panose="020F0502020204030204" pitchFamily="34" charset="0"/>
              </a:rPr>
              <a:t>Anypoint Code Builder or Studio</a:t>
            </a:r>
          </a:p>
          <a:p>
            <a:r>
              <a:rPr lang="en-US" sz="1400">
                <a:solidFill>
                  <a:srgbClr val="404040"/>
                </a:solidFill>
                <a:latin typeface="Calibri" panose="020F0502020204030204" pitchFamily="34" charset="0"/>
              </a:rPr>
              <a:t>Build and run the application.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A682186-7C04-5489-6E3C-1C51E0AB080A}"/>
              </a:ext>
            </a:extLst>
          </p:cNvPr>
          <p:cNvSpPr/>
          <p:nvPr/>
        </p:nvSpPr>
        <p:spPr>
          <a:xfrm>
            <a:off x="4279900" y="3746500"/>
            <a:ext cx="63500" cy="2159000"/>
          </a:xfrm>
          <a:prstGeom prst="rect">
            <a:avLst/>
          </a:prstGeom>
          <a:solidFill>
            <a:srgbClr val="2E75B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4389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60CD3C3-BAD9-4E1E-C06E-E82844C787A8}"/>
              </a:ext>
            </a:extLst>
          </p:cNvPr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1F38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0" rtlCol="0" anchor="ctr"/>
          <a:lstStyle/>
          <a:p>
            <a:r>
              <a:rPr lang="en-US" sz="2600" b="1">
                <a:solidFill>
                  <a:srgbClr val="FFFFFF"/>
                </a:solidFill>
                <a:latin typeface="Calibri" panose="020F0502020204030204" pitchFamily="34" charset="0"/>
              </a:rPr>
              <a:t>Key factors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8CC8DEC-00AC-342B-3CBA-4C19F1A49660}"/>
              </a:ext>
            </a:extLst>
          </p:cNvPr>
          <p:cNvSpPr/>
          <p:nvPr/>
        </p:nvSpPr>
        <p:spPr>
          <a:xfrm>
            <a:off x="0" y="914400"/>
            <a:ext cx="12192000" cy="50800"/>
          </a:xfrm>
          <a:prstGeom prst="rect">
            <a:avLst/>
          </a:prstGeom>
          <a:solidFill>
            <a:srgbClr val="2E75B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13F331E-4832-5165-B291-A05999194F36}"/>
              </a:ext>
            </a:extLst>
          </p:cNvPr>
          <p:cNvSpPr txBox="1"/>
          <p:nvPr/>
        </p:nvSpPr>
        <p:spPr>
          <a:xfrm>
            <a:off x="508000" y="6413500"/>
            <a:ext cx="7620000" cy="24622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000">
                <a:solidFill>
                  <a:srgbClr val="767676"/>
                </a:solidFill>
                <a:latin typeface="Calibri" panose="020F0502020204030204" pitchFamily="34" charset="0"/>
              </a:rPr>
              <a:t>EDIFACT Orders POC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72AB07F-5E2B-3053-09D9-8158BB58A2B9}"/>
              </a:ext>
            </a:extLst>
          </p:cNvPr>
          <p:cNvSpPr txBox="1"/>
          <p:nvPr/>
        </p:nvSpPr>
        <p:spPr>
          <a:xfrm>
            <a:off x="10414000" y="6413500"/>
            <a:ext cx="1270000" cy="24622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r"/>
            <a:r>
              <a:rPr lang="en-US" sz="1000">
                <a:solidFill>
                  <a:srgbClr val="767676"/>
                </a:solidFill>
                <a:latin typeface="Calibri" panose="020F0502020204030204" pitchFamily="34" charset="0"/>
              </a:rPr>
              <a:t>8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08334BC-2451-D158-EF26-EDBBC959ABA0}"/>
              </a:ext>
            </a:extLst>
          </p:cNvPr>
          <p:cNvSpPr/>
          <p:nvPr/>
        </p:nvSpPr>
        <p:spPr>
          <a:xfrm>
            <a:off x="508000" y="1270000"/>
            <a:ext cx="3632200" cy="2349500"/>
          </a:xfrm>
          <a:prstGeom prst="rect">
            <a:avLst/>
          </a:prstGeom>
          <a:solidFill>
            <a:srgbClr val="F2F7FC"/>
          </a:solidFill>
          <a:ln>
            <a:solidFill>
              <a:srgbClr val="DEEBF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127000" rIns="152400" rtlCol="0" anchor="t"/>
          <a:lstStyle/>
          <a:p>
            <a:pPr>
              <a:spcAft>
                <a:spcPts val="600"/>
              </a:spcAft>
            </a:pPr>
            <a:r>
              <a:rPr lang="en-US" sz="1600" b="1">
                <a:solidFill>
                  <a:srgbClr val="1F3864"/>
                </a:solidFill>
                <a:latin typeface="Calibri" panose="020F0502020204030204" pitchFamily="34" charset="0"/>
              </a:rPr>
              <a:t>Scope and assumptions</a:t>
            </a:r>
          </a:p>
          <a:p>
            <a:r>
              <a:rPr lang="en-US" sz="1300">
                <a:solidFill>
                  <a:srgbClr val="404040"/>
                </a:solidFill>
                <a:latin typeface="Calibri" panose="020F0502020204030204" pitchFamily="34" charset="0"/>
              </a:rPr>
              <a:t>One message type (ORDERS D.96A), sample files stored in the project, and no partner or ERP connection.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38AEE7A-C800-370B-138D-325EC132C2D7}"/>
              </a:ext>
            </a:extLst>
          </p:cNvPr>
          <p:cNvSpPr/>
          <p:nvPr/>
        </p:nvSpPr>
        <p:spPr>
          <a:xfrm>
            <a:off x="508000" y="1270000"/>
            <a:ext cx="63500" cy="2349500"/>
          </a:xfrm>
          <a:prstGeom prst="rect">
            <a:avLst/>
          </a:prstGeom>
          <a:solidFill>
            <a:srgbClr val="2E75B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DC1BC3A-24E4-027D-C3D8-0A3161415C74}"/>
              </a:ext>
            </a:extLst>
          </p:cNvPr>
          <p:cNvSpPr/>
          <p:nvPr/>
        </p:nvSpPr>
        <p:spPr>
          <a:xfrm>
            <a:off x="4279900" y="1270000"/>
            <a:ext cx="3632200" cy="2349500"/>
          </a:xfrm>
          <a:prstGeom prst="rect">
            <a:avLst/>
          </a:prstGeom>
          <a:solidFill>
            <a:srgbClr val="F2F7FC"/>
          </a:solidFill>
          <a:ln>
            <a:solidFill>
              <a:srgbClr val="DEEBF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127000" rIns="152400" rtlCol="0" anchor="t"/>
          <a:lstStyle/>
          <a:p>
            <a:pPr>
              <a:spcAft>
                <a:spcPts val="600"/>
              </a:spcAft>
            </a:pPr>
            <a:r>
              <a:rPr lang="en-US" sz="1600" b="1">
                <a:solidFill>
                  <a:srgbClr val="1F3864"/>
                </a:solidFill>
                <a:latin typeface="Calibri" panose="020F0502020204030204" pitchFamily="34" charset="0"/>
              </a:rPr>
              <a:t>Reusability</a:t>
            </a:r>
          </a:p>
          <a:p>
            <a:r>
              <a:rPr lang="en-US" sz="1300">
                <a:solidFill>
                  <a:srgbClr val="404040"/>
                </a:solidFill>
                <a:latin typeface="Calibri" panose="020F0502020204030204" pitchFamily="34" charset="0"/>
              </a:rPr>
              <a:t>Mapping and rules live in separate DataWeave modules. A new message type adds a schema and a module, not a new application.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7F3D4A7-C7FA-F710-1335-D81B3E452417}"/>
              </a:ext>
            </a:extLst>
          </p:cNvPr>
          <p:cNvSpPr/>
          <p:nvPr/>
        </p:nvSpPr>
        <p:spPr>
          <a:xfrm>
            <a:off x="4279900" y="1270000"/>
            <a:ext cx="63500" cy="2349500"/>
          </a:xfrm>
          <a:prstGeom prst="rect">
            <a:avLst/>
          </a:prstGeom>
          <a:solidFill>
            <a:srgbClr val="2E75B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50D8012-48E5-188C-D8D3-1A283DE61448}"/>
              </a:ext>
            </a:extLst>
          </p:cNvPr>
          <p:cNvSpPr/>
          <p:nvPr/>
        </p:nvSpPr>
        <p:spPr>
          <a:xfrm>
            <a:off x="8051800" y="1270000"/>
            <a:ext cx="3632200" cy="2349500"/>
          </a:xfrm>
          <a:prstGeom prst="rect">
            <a:avLst/>
          </a:prstGeom>
          <a:solidFill>
            <a:srgbClr val="F2F7FC"/>
          </a:solidFill>
          <a:ln>
            <a:solidFill>
              <a:srgbClr val="DEEBF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127000" rIns="152400" rtlCol="0" anchor="t"/>
          <a:lstStyle/>
          <a:p>
            <a:pPr>
              <a:spcAft>
                <a:spcPts val="600"/>
              </a:spcAft>
            </a:pPr>
            <a:r>
              <a:rPr lang="en-US" sz="1600" b="1">
                <a:solidFill>
                  <a:srgbClr val="1F3864"/>
                </a:solidFill>
                <a:latin typeface="Calibri" panose="020F0502020204030204" pitchFamily="34" charset="0"/>
              </a:rPr>
              <a:t>Data quality and validation</a:t>
            </a:r>
          </a:p>
          <a:p>
            <a:r>
              <a:rPr lang="en-US" sz="1300">
                <a:solidFill>
                  <a:srgbClr val="404040"/>
                </a:solidFill>
                <a:latin typeface="Calibri" panose="020F0502020204030204" pitchFamily="34" charset="0"/>
              </a:rPr>
              <a:t>The connector validates EDIFACT syntax and structure. DataWeave applies business rules and returns clear reason codes.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454FCBE-DD05-50C8-FEE1-3DF22323397D}"/>
              </a:ext>
            </a:extLst>
          </p:cNvPr>
          <p:cNvSpPr/>
          <p:nvPr/>
        </p:nvSpPr>
        <p:spPr>
          <a:xfrm>
            <a:off x="8051800" y="1270000"/>
            <a:ext cx="63500" cy="2349500"/>
          </a:xfrm>
          <a:prstGeom prst="rect">
            <a:avLst/>
          </a:prstGeom>
          <a:solidFill>
            <a:srgbClr val="2E75B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6473E6F-284A-FC4E-9852-5BB622F7D23F}"/>
              </a:ext>
            </a:extLst>
          </p:cNvPr>
          <p:cNvSpPr/>
          <p:nvPr/>
        </p:nvSpPr>
        <p:spPr>
          <a:xfrm>
            <a:off x="508000" y="3810000"/>
            <a:ext cx="3632200" cy="2349500"/>
          </a:xfrm>
          <a:prstGeom prst="rect">
            <a:avLst/>
          </a:prstGeom>
          <a:solidFill>
            <a:srgbClr val="F2F7FC"/>
          </a:solidFill>
          <a:ln>
            <a:solidFill>
              <a:srgbClr val="DEEBF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127000" rIns="152400" rtlCol="0" anchor="t"/>
          <a:lstStyle/>
          <a:p>
            <a:pPr>
              <a:spcAft>
                <a:spcPts val="600"/>
              </a:spcAft>
            </a:pPr>
            <a:r>
              <a:rPr lang="en-US" sz="1600" b="1">
                <a:solidFill>
                  <a:srgbClr val="1F3864"/>
                </a:solidFill>
                <a:latin typeface="Calibri" panose="020F0502020204030204" pitchFamily="34" charset="0"/>
              </a:rPr>
              <a:t>Security</a:t>
            </a:r>
          </a:p>
          <a:p>
            <a:r>
              <a:rPr lang="en-US" sz="1300">
                <a:solidFill>
                  <a:srgbClr val="404040"/>
                </a:solidFill>
                <a:latin typeface="Calibri" panose="020F0502020204030204" pitchFamily="34" charset="0"/>
              </a:rPr>
              <a:t>In production, partner files travel over SFTP or AS2 with encryption and signing. Credentials are kept in secure properties.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B97199A-CCC6-92E4-FEF8-0CE19B9EFDBD}"/>
              </a:ext>
            </a:extLst>
          </p:cNvPr>
          <p:cNvSpPr/>
          <p:nvPr/>
        </p:nvSpPr>
        <p:spPr>
          <a:xfrm>
            <a:off x="508000" y="3810000"/>
            <a:ext cx="63500" cy="2349500"/>
          </a:xfrm>
          <a:prstGeom prst="rect">
            <a:avLst/>
          </a:prstGeom>
          <a:solidFill>
            <a:srgbClr val="2E75B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3533C4E-A868-0AD2-7994-504A3A4BFB2E}"/>
              </a:ext>
            </a:extLst>
          </p:cNvPr>
          <p:cNvSpPr/>
          <p:nvPr/>
        </p:nvSpPr>
        <p:spPr>
          <a:xfrm>
            <a:off x="4279900" y="3810000"/>
            <a:ext cx="3632200" cy="2349500"/>
          </a:xfrm>
          <a:prstGeom prst="rect">
            <a:avLst/>
          </a:prstGeom>
          <a:solidFill>
            <a:srgbClr val="F2F7FC"/>
          </a:solidFill>
          <a:ln>
            <a:solidFill>
              <a:srgbClr val="DEEBF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127000" rIns="152400" rtlCol="0" anchor="t"/>
          <a:lstStyle/>
          <a:p>
            <a:pPr>
              <a:spcAft>
                <a:spcPts val="600"/>
              </a:spcAft>
            </a:pPr>
            <a:r>
              <a:rPr lang="en-US" sz="1600" b="1">
                <a:solidFill>
                  <a:srgbClr val="1F3864"/>
                </a:solidFill>
                <a:latin typeface="Calibri" panose="020F0502020204030204" pitchFamily="34" charset="0"/>
              </a:rPr>
              <a:t>Error handling and traceability</a:t>
            </a:r>
          </a:p>
          <a:p>
            <a:r>
              <a:rPr lang="en-US" sz="1300">
                <a:solidFill>
                  <a:srgbClr val="404040"/>
                </a:solidFill>
                <a:latin typeface="Calibri" panose="020F0502020204030204" pitchFamily="34" charset="0"/>
              </a:rPr>
              <a:t>Parse errors and rejections are reported, never silently dropped. Every request is traceable by correlation ID in the logs.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5AC3118-F549-A528-F7DA-1993167F2A5E}"/>
              </a:ext>
            </a:extLst>
          </p:cNvPr>
          <p:cNvSpPr/>
          <p:nvPr/>
        </p:nvSpPr>
        <p:spPr>
          <a:xfrm>
            <a:off x="4279900" y="3810000"/>
            <a:ext cx="63500" cy="2349500"/>
          </a:xfrm>
          <a:prstGeom prst="rect">
            <a:avLst/>
          </a:prstGeom>
          <a:solidFill>
            <a:srgbClr val="2E75B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205232B-FC91-F928-33F4-77B662DF187E}"/>
              </a:ext>
            </a:extLst>
          </p:cNvPr>
          <p:cNvSpPr/>
          <p:nvPr/>
        </p:nvSpPr>
        <p:spPr>
          <a:xfrm>
            <a:off x="8051800" y="3810000"/>
            <a:ext cx="3632200" cy="2349500"/>
          </a:xfrm>
          <a:prstGeom prst="rect">
            <a:avLst/>
          </a:prstGeom>
          <a:solidFill>
            <a:srgbClr val="F2F7FC"/>
          </a:solidFill>
          <a:ln>
            <a:solidFill>
              <a:srgbClr val="DEEBF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127000" rIns="152400" rtlCol="0" anchor="t"/>
          <a:lstStyle/>
          <a:p>
            <a:pPr>
              <a:spcAft>
                <a:spcPts val="600"/>
              </a:spcAft>
            </a:pPr>
            <a:r>
              <a:rPr lang="en-US" sz="1600" b="1">
                <a:solidFill>
                  <a:srgbClr val="1F3864"/>
                </a:solidFill>
                <a:latin typeface="Calibri" panose="020F0502020204030204" pitchFamily="34" charset="0"/>
              </a:rPr>
              <a:t>Licensing</a:t>
            </a:r>
          </a:p>
          <a:p>
            <a:r>
              <a:rPr lang="en-US" sz="1300">
                <a:solidFill>
                  <a:srgbClr val="404040"/>
                </a:solidFill>
                <a:latin typeface="Calibri" panose="020F0502020204030204" pitchFamily="34" charset="0"/>
              </a:rPr>
              <a:t>The EDIFACT EDI Connector is a premium connector and requires the matching Anypoint B2B entitlement.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24D3CD7-58A4-16F5-1EED-FC4F6087455E}"/>
              </a:ext>
            </a:extLst>
          </p:cNvPr>
          <p:cNvSpPr/>
          <p:nvPr/>
        </p:nvSpPr>
        <p:spPr>
          <a:xfrm>
            <a:off x="8051800" y="3810000"/>
            <a:ext cx="63500" cy="2349500"/>
          </a:xfrm>
          <a:prstGeom prst="rect">
            <a:avLst/>
          </a:prstGeom>
          <a:solidFill>
            <a:srgbClr val="2E75B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10170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BB22775-28A8-40B2-0A9C-D8DB097236F5}"/>
              </a:ext>
            </a:extLst>
          </p:cNvPr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1F38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0" rtlCol="0" anchor="ctr"/>
          <a:lstStyle/>
          <a:p>
            <a:r>
              <a:rPr lang="en-US" sz="2600" b="1">
                <a:solidFill>
                  <a:srgbClr val="FFFFFF"/>
                </a:solidFill>
                <a:latin typeface="Calibri" panose="020F0502020204030204" pitchFamily="34" charset="0"/>
              </a:rPr>
              <a:t>Path to production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9E982C5-0A62-26D6-6DBE-B069E401798E}"/>
              </a:ext>
            </a:extLst>
          </p:cNvPr>
          <p:cNvSpPr/>
          <p:nvPr/>
        </p:nvSpPr>
        <p:spPr>
          <a:xfrm>
            <a:off x="0" y="914400"/>
            <a:ext cx="12192000" cy="50800"/>
          </a:xfrm>
          <a:prstGeom prst="rect">
            <a:avLst/>
          </a:prstGeom>
          <a:solidFill>
            <a:srgbClr val="2E75B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07D2F85-C93B-3150-7615-240B3447DBE5}"/>
              </a:ext>
            </a:extLst>
          </p:cNvPr>
          <p:cNvSpPr txBox="1"/>
          <p:nvPr/>
        </p:nvSpPr>
        <p:spPr>
          <a:xfrm>
            <a:off x="508000" y="6413500"/>
            <a:ext cx="7620000" cy="24622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000">
                <a:solidFill>
                  <a:srgbClr val="767676"/>
                </a:solidFill>
                <a:latin typeface="Calibri" panose="020F0502020204030204" pitchFamily="34" charset="0"/>
              </a:rPr>
              <a:t>EDIFACT Orders POC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0A505F-61C6-AEB9-5418-0DBAC52B9771}"/>
              </a:ext>
            </a:extLst>
          </p:cNvPr>
          <p:cNvSpPr txBox="1"/>
          <p:nvPr/>
        </p:nvSpPr>
        <p:spPr>
          <a:xfrm>
            <a:off x="10414000" y="6413500"/>
            <a:ext cx="1270000" cy="24622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r"/>
            <a:r>
              <a:rPr lang="en-US" sz="1000">
                <a:solidFill>
                  <a:srgbClr val="767676"/>
                </a:solidFill>
                <a:latin typeface="Calibri" panose="020F0502020204030204" pitchFamily="34" charset="0"/>
              </a:rPr>
              <a:t>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6821B26-3ED6-7417-0CF2-BF0F25847E80}"/>
              </a:ext>
            </a:extLst>
          </p:cNvPr>
          <p:cNvSpPr txBox="1"/>
          <p:nvPr/>
        </p:nvSpPr>
        <p:spPr>
          <a:xfrm>
            <a:off x="508000" y="1143000"/>
            <a:ext cx="11176000" cy="553998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500">
                <a:solidFill>
                  <a:srgbClr val="404040"/>
                </a:solidFill>
                <a:latin typeface="Calibri" panose="020F0502020204030204" pitchFamily="34" charset="0"/>
              </a:rPr>
              <a:t>The POC already contains the parts that carry into production: connector configuration, canonical model, mapping, and rules. Production adds partner connectivity, acknowledgments, and operations, delivered in three phases.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3C5D6A3-CB13-1000-23D7-528419ABFFA3}"/>
              </a:ext>
            </a:extLst>
          </p:cNvPr>
          <p:cNvSpPr/>
          <p:nvPr/>
        </p:nvSpPr>
        <p:spPr>
          <a:xfrm>
            <a:off x="508000" y="2095500"/>
            <a:ext cx="3632200" cy="3810000"/>
          </a:xfrm>
          <a:prstGeom prst="rect">
            <a:avLst/>
          </a:prstGeom>
          <a:solidFill>
            <a:srgbClr val="F2F7FC"/>
          </a:solidFill>
          <a:ln>
            <a:solidFill>
              <a:srgbClr val="DEEBF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127000" rIns="152400" rtlCol="0" anchor="t"/>
          <a:lstStyle/>
          <a:p>
            <a:pPr>
              <a:spcAft>
                <a:spcPts val="600"/>
              </a:spcAft>
            </a:pPr>
            <a:r>
              <a:rPr lang="en-US" sz="1700" b="1">
                <a:solidFill>
                  <a:srgbClr val="1F3864"/>
                </a:solidFill>
                <a:latin typeface="Calibri" panose="020F0502020204030204" pitchFamily="34" charset="0"/>
              </a:rPr>
              <a:t>Phase 1: Onboard the first partner</a:t>
            </a:r>
          </a:p>
          <a:p>
            <a:r>
              <a:rPr lang="en-US" sz="1400">
                <a:solidFill>
                  <a:srgbClr val="404040"/>
                </a:solidFill>
                <a:latin typeface="Calibri" panose="020F0502020204030204" pitchFamily="34" charset="0"/>
              </a:rPr>
              <a:t>- Partner connectivity over SFTP or AS2</a:t>
            </a:r>
          </a:p>
          <a:p>
            <a:r>
              <a:rPr lang="en-US" sz="1400">
                <a:solidFill>
                  <a:srgbClr val="404040"/>
                </a:solidFill>
                <a:latin typeface="Calibri" panose="020F0502020204030204" pitchFamily="34" charset="0"/>
              </a:rPr>
              <a:t>- CONTRL functional acknowledgments</a:t>
            </a:r>
          </a:p>
          <a:p>
            <a:r>
              <a:rPr lang="en-US" sz="1400">
                <a:solidFill>
                  <a:srgbClr val="404040"/>
                </a:solidFill>
                <a:latin typeface="Calibri" panose="020F0502020204030204" pitchFamily="34" charset="0"/>
              </a:rPr>
              <a:t>- Partner-specific schema overlay</a:t>
            </a:r>
          </a:p>
          <a:p>
            <a:r>
              <a:rPr lang="en-US" sz="1400">
                <a:solidFill>
                  <a:srgbClr val="404040"/>
                </a:solidFill>
                <a:latin typeface="Calibri" panose="020F0502020204030204" pitchFamily="34" charset="0"/>
              </a:rPr>
              <a:t>- Delivery to the ERP through a system API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8B3FFBD-2E56-DCBC-E64C-DF6FEE08AA37}"/>
              </a:ext>
            </a:extLst>
          </p:cNvPr>
          <p:cNvSpPr/>
          <p:nvPr/>
        </p:nvSpPr>
        <p:spPr>
          <a:xfrm>
            <a:off x="508000" y="2095500"/>
            <a:ext cx="63500" cy="3810000"/>
          </a:xfrm>
          <a:prstGeom prst="rect">
            <a:avLst/>
          </a:prstGeom>
          <a:solidFill>
            <a:srgbClr val="2E75B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D2A780D-73F9-58E4-43EE-D62265D75B48}"/>
              </a:ext>
            </a:extLst>
          </p:cNvPr>
          <p:cNvCxnSpPr/>
          <p:nvPr/>
        </p:nvCxnSpPr>
        <p:spPr>
          <a:xfrm>
            <a:off x="4140200" y="4000500"/>
            <a:ext cx="139700" cy="0"/>
          </a:xfrm>
          <a:prstGeom prst="line">
            <a:avLst/>
          </a:prstGeom>
          <a:ln w="22225">
            <a:solidFill>
              <a:srgbClr val="76767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0C41113E-DFF3-39CF-C731-35965987AC6C}"/>
              </a:ext>
            </a:extLst>
          </p:cNvPr>
          <p:cNvSpPr/>
          <p:nvPr/>
        </p:nvSpPr>
        <p:spPr>
          <a:xfrm>
            <a:off x="4279900" y="2095500"/>
            <a:ext cx="3632200" cy="3810000"/>
          </a:xfrm>
          <a:prstGeom prst="rect">
            <a:avLst/>
          </a:prstGeom>
          <a:solidFill>
            <a:srgbClr val="F2F7FC"/>
          </a:solidFill>
          <a:ln>
            <a:solidFill>
              <a:srgbClr val="DEEBF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127000" rIns="152400" rtlCol="0" anchor="t"/>
          <a:lstStyle/>
          <a:p>
            <a:pPr>
              <a:spcAft>
                <a:spcPts val="600"/>
              </a:spcAft>
            </a:pPr>
            <a:r>
              <a:rPr lang="en-US" sz="1700" b="1">
                <a:solidFill>
                  <a:srgbClr val="1F3864"/>
                </a:solidFill>
                <a:latin typeface="Calibri" panose="020F0502020204030204" pitchFamily="34" charset="0"/>
              </a:rPr>
              <a:t>Phase 2: Extend message types</a:t>
            </a:r>
          </a:p>
          <a:p>
            <a:r>
              <a:rPr lang="en-US" sz="1400">
                <a:solidFill>
                  <a:srgbClr val="404040"/>
                </a:solidFill>
                <a:latin typeface="Calibri" panose="020F0502020204030204" pitchFamily="34" charset="0"/>
              </a:rPr>
              <a:t>- INVOIC (invoice) and DESADV (despatch advice)</a:t>
            </a:r>
          </a:p>
          <a:p>
            <a:r>
              <a:rPr lang="en-US" sz="1400">
                <a:solidFill>
                  <a:srgbClr val="404040"/>
                </a:solidFill>
                <a:latin typeface="Calibri" panose="020F0502020204030204" pitchFamily="34" charset="0"/>
              </a:rPr>
              <a:t>- Reuse of the canonical model and rules</a:t>
            </a:r>
          </a:p>
          <a:p>
            <a:r>
              <a:rPr lang="en-US" sz="1400">
                <a:solidFill>
                  <a:srgbClr val="404040"/>
                </a:solidFill>
                <a:latin typeface="Calibri" panose="020F0502020204030204" pitchFamily="34" charset="0"/>
              </a:rPr>
              <a:t>- MUnit test coverage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C7AA0E3-B791-3FB9-10B1-DA7AC6425826}"/>
              </a:ext>
            </a:extLst>
          </p:cNvPr>
          <p:cNvSpPr/>
          <p:nvPr/>
        </p:nvSpPr>
        <p:spPr>
          <a:xfrm>
            <a:off x="4279900" y="2095500"/>
            <a:ext cx="63500" cy="3810000"/>
          </a:xfrm>
          <a:prstGeom prst="rect">
            <a:avLst/>
          </a:prstGeom>
          <a:solidFill>
            <a:srgbClr val="2E75B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39AAB5E-82B3-3B29-8B5E-397D8170CE78}"/>
              </a:ext>
            </a:extLst>
          </p:cNvPr>
          <p:cNvCxnSpPr/>
          <p:nvPr/>
        </p:nvCxnSpPr>
        <p:spPr>
          <a:xfrm>
            <a:off x="7912100" y="4000500"/>
            <a:ext cx="139700" cy="0"/>
          </a:xfrm>
          <a:prstGeom prst="line">
            <a:avLst/>
          </a:prstGeom>
          <a:ln w="22225">
            <a:solidFill>
              <a:srgbClr val="76767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BE405DDF-1E28-AAC8-DCB5-C9A44E3AFFA0}"/>
              </a:ext>
            </a:extLst>
          </p:cNvPr>
          <p:cNvSpPr/>
          <p:nvPr/>
        </p:nvSpPr>
        <p:spPr>
          <a:xfrm>
            <a:off x="8051800" y="2095500"/>
            <a:ext cx="3632200" cy="3810000"/>
          </a:xfrm>
          <a:prstGeom prst="rect">
            <a:avLst/>
          </a:prstGeom>
          <a:solidFill>
            <a:srgbClr val="F2F7FC"/>
          </a:solidFill>
          <a:ln>
            <a:solidFill>
              <a:srgbClr val="DEEBF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127000" rIns="152400" rtlCol="0" anchor="t"/>
          <a:lstStyle/>
          <a:p>
            <a:pPr>
              <a:spcAft>
                <a:spcPts val="600"/>
              </a:spcAft>
            </a:pPr>
            <a:r>
              <a:rPr lang="en-US" sz="1700" b="1">
                <a:solidFill>
                  <a:srgbClr val="1F3864"/>
                </a:solidFill>
                <a:latin typeface="Calibri" panose="020F0502020204030204" pitchFamily="34" charset="0"/>
              </a:rPr>
              <a:t>Phase 3: Scale to more partners</a:t>
            </a:r>
          </a:p>
          <a:p>
            <a:r>
              <a:rPr lang="en-US" sz="1400">
                <a:solidFill>
                  <a:srgbClr val="404040"/>
                </a:solidFill>
                <a:latin typeface="Calibri" panose="020F0502020204030204" pitchFamily="34" charset="0"/>
              </a:rPr>
              <a:t>- New partners added by configuration</a:t>
            </a:r>
          </a:p>
          <a:p>
            <a:r>
              <a:rPr lang="en-US" sz="1400">
                <a:solidFill>
                  <a:srgbClr val="404040"/>
                </a:solidFill>
                <a:latin typeface="Calibri" panose="020F0502020204030204" pitchFamily="34" charset="0"/>
              </a:rPr>
              <a:t>- Anypoint Monitoring dashboards and alerts</a:t>
            </a:r>
          </a:p>
          <a:p>
            <a:r>
              <a:rPr lang="en-US" sz="1400">
                <a:solidFill>
                  <a:srgbClr val="404040"/>
                </a:solidFill>
                <a:latin typeface="Calibri" panose="020F0502020204030204" pitchFamily="34" charset="0"/>
              </a:rPr>
              <a:t>- CI/CD pipeline for build and deployment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2D09AEB-FD17-706B-50B3-B1219B3CE863}"/>
              </a:ext>
            </a:extLst>
          </p:cNvPr>
          <p:cNvSpPr/>
          <p:nvPr/>
        </p:nvSpPr>
        <p:spPr>
          <a:xfrm>
            <a:off x="8051800" y="2095500"/>
            <a:ext cx="63500" cy="3810000"/>
          </a:xfrm>
          <a:prstGeom prst="rect">
            <a:avLst/>
          </a:prstGeom>
          <a:solidFill>
            <a:srgbClr val="2E75B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92630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CAEABB8-10E3-DD39-7639-F153A24F5523}"/>
              </a:ext>
            </a:extLst>
          </p:cNvPr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1F38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0" rtlCol="0" anchor="ctr"/>
          <a:lstStyle/>
          <a:p>
            <a:r>
              <a:rPr lang="en-US" sz="2600" b="1">
                <a:solidFill>
                  <a:srgbClr val="FFFFFF"/>
                </a:solidFill>
                <a:latin typeface="Calibri" panose="020F0502020204030204" pitchFamily="34" charset="0"/>
              </a:rPr>
              <a:t>Summary and next steps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4949501-73AB-2746-8BA0-C09F37E3DED4}"/>
              </a:ext>
            </a:extLst>
          </p:cNvPr>
          <p:cNvSpPr/>
          <p:nvPr/>
        </p:nvSpPr>
        <p:spPr>
          <a:xfrm>
            <a:off x="0" y="914400"/>
            <a:ext cx="12192000" cy="50800"/>
          </a:xfrm>
          <a:prstGeom prst="rect">
            <a:avLst/>
          </a:prstGeom>
          <a:solidFill>
            <a:srgbClr val="2E75B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952D4BC-5C5F-E59E-A5F1-470440AA8AD5}"/>
              </a:ext>
            </a:extLst>
          </p:cNvPr>
          <p:cNvSpPr txBox="1"/>
          <p:nvPr/>
        </p:nvSpPr>
        <p:spPr>
          <a:xfrm>
            <a:off x="508000" y="6413500"/>
            <a:ext cx="7620000" cy="24622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000">
                <a:solidFill>
                  <a:srgbClr val="767676"/>
                </a:solidFill>
                <a:latin typeface="Calibri" panose="020F0502020204030204" pitchFamily="34" charset="0"/>
              </a:rPr>
              <a:t>EDIFACT Orders POC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8EB36E-81F9-DF42-2B34-643DD0612DE7}"/>
              </a:ext>
            </a:extLst>
          </p:cNvPr>
          <p:cNvSpPr txBox="1"/>
          <p:nvPr/>
        </p:nvSpPr>
        <p:spPr>
          <a:xfrm>
            <a:off x="10414000" y="6413500"/>
            <a:ext cx="1270000" cy="24622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r"/>
            <a:r>
              <a:rPr lang="en-US" sz="1000">
                <a:solidFill>
                  <a:srgbClr val="767676"/>
                </a:solidFill>
                <a:latin typeface="Calibri" panose="020F0502020204030204" pitchFamily="34" charset="0"/>
              </a:rPr>
              <a:t>10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316ED74-D392-1D31-A7F5-9C77AA7D41F1}"/>
              </a:ext>
            </a:extLst>
          </p:cNvPr>
          <p:cNvSpPr txBox="1"/>
          <p:nvPr/>
        </p:nvSpPr>
        <p:spPr>
          <a:xfrm>
            <a:off x="508000" y="1270000"/>
            <a:ext cx="5334000" cy="4001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2000" b="1">
                <a:solidFill>
                  <a:srgbClr val="1F3864"/>
                </a:solidFill>
                <a:latin typeface="Calibri" panose="020F0502020204030204" pitchFamily="34" charset="0"/>
              </a:rPr>
              <a:t>What the POC shows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BD212B5-282D-4424-DB57-F84671A021DF}"/>
              </a:ext>
            </a:extLst>
          </p:cNvPr>
          <p:cNvSpPr txBox="1"/>
          <p:nvPr/>
        </p:nvSpPr>
        <p:spPr>
          <a:xfrm>
            <a:off x="635000" y="1778000"/>
            <a:ext cx="5207000" cy="144655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42900" indent="-342900">
              <a:spcAft>
                <a:spcPts val="800"/>
              </a:spcAft>
              <a:buFont typeface="+mj-lt"/>
              <a:buChar char="•"/>
            </a:pPr>
            <a:r>
              <a:rPr lang="en-US" sz="1700">
                <a:solidFill>
                  <a:srgbClr val="404040"/>
                </a:solidFill>
                <a:latin typeface="Calibri" panose="020F0502020204030204" pitchFamily="34" charset="0"/>
              </a:rPr>
              <a:t>EDIFACT parsing and validation</a:t>
            </a:r>
          </a:p>
          <a:p>
            <a:pPr marL="342900" indent="-342900">
              <a:spcAft>
                <a:spcPts val="800"/>
              </a:spcAft>
              <a:buFont typeface="+mj-lt"/>
              <a:buChar char="•"/>
            </a:pPr>
            <a:r>
              <a:rPr lang="en-US" sz="1700">
                <a:solidFill>
                  <a:srgbClr val="404040"/>
                </a:solidFill>
                <a:latin typeface="Calibri" panose="020F0502020204030204" pitchFamily="34" charset="0"/>
              </a:rPr>
              <a:t>Field mapping to one canonical order</a:t>
            </a:r>
          </a:p>
          <a:p>
            <a:pPr marL="342900" indent="-342900">
              <a:spcAft>
                <a:spcPts val="800"/>
              </a:spcAft>
              <a:buFont typeface="+mj-lt"/>
              <a:buChar char="•"/>
            </a:pPr>
            <a:r>
              <a:rPr lang="en-US" sz="1700">
                <a:solidFill>
                  <a:srgbClr val="404040"/>
                </a:solidFill>
                <a:latin typeface="Calibri" panose="020F0502020204030204" pitchFamily="34" charset="0"/>
              </a:rPr>
              <a:t>Business rules with reason codes</a:t>
            </a:r>
          </a:p>
          <a:p>
            <a:pPr marL="342900" indent="-342900">
              <a:spcAft>
                <a:spcPts val="800"/>
              </a:spcAft>
              <a:buFont typeface="+mj-lt"/>
              <a:buChar char="•"/>
            </a:pPr>
            <a:r>
              <a:rPr lang="en-US" sz="1700">
                <a:solidFill>
                  <a:srgbClr val="404040"/>
                </a:solidFill>
                <a:latin typeface="Calibri" panose="020F0502020204030204" pitchFamily="34" charset="0"/>
              </a:rPr>
              <a:t>Conversion to and from JSON and XML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B8F0323-F186-6586-0F33-A4E6E606852F}"/>
              </a:ext>
            </a:extLst>
          </p:cNvPr>
          <p:cNvSpPr txBox="1"/>
          <p:nvPr/>
        </p:nvSpPr>
        <p:spPr>
          <a:xfrm>
            <a:off x="6350000" y="1270000"/>
            <a:ext cx="5334000" cy="4001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2000" b="1">
                <a:solidFill>
                  <a:srgbClr val="1F3864"/>
                </a:solidFill>
                <a:latin typeface="Calibri" panose="020F0502020204030204" pitchFamily="34" charset="0"/>
              </a:rPr>
              <a:t>Recommended next steps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AF84443-46CF-BCEF-58D1-3836884F0F58}"/>
              </a:ext>
            </a:extLst>
          </p:cNvPr>
          <p:cNvSpPr txBox="1"/>
          <p:nvPr/>
        </p:nvSpPr>
        <p:spPr>
          <a:xfrm>
            <a:off x="6477000" y="1778000"/>
            <a:ext cx="5207000" cy="170816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42900" indent="-342900">
              <a:spcAft>
                <a:spcPts val="800"/>
              </a:spcAft>
              <a:buFont typeface="+mj-lt"/>
              <a:buChar char="•"/>
            </a:pPr>
            <a:r>
              <a:rPr lang="en-US" sz="1700">
                <a:solidFill>
                  <a:srgbClr val="404040"/>
                </a:solidFill>
                <a:latin typeface="Calibri" panose="020F0502020204030204" pitchFamily="34" charset="0"/>
              </a:rPr>
              <a:t>Confirm the first trading partner and message types</a:t>
            </a:r>
          </a:p>
          <a:p>
            <a:pPr marL="342900" indent="-342900">
              <a:spcAft>
                <a:spcPts val="800"/>
              </a:spcAft>
              <a:buFont typeface="+mj-lt"/>
              <a:buChar char="•"/>
            </a:pPr>
            <a:r>
              <a:rPr lang="en-US" sz="1700">
                <a:solidFill>
                  <a:srgbClr val="404040"/>
                </a:solidFill>
                <a:latin typeface="Calibri" panose="020F0502020204030204" pitchFamily="34" charset="0"/>
              </a:rPr>
              <a:t>Agree on transport: SFTP or AS2</a:t>
            </a:r>
          </a:p>
          <a:p>
            <a:pPr marL="342900" indent="-342900">
              <a:spcAft>
                <a:spcPts val="800"/>
              </a:spcAft>
              <a:buFont typeface="+mj-lt"/>
              <a:buChar char="•"/>
            </a:pPr>
            <a:r>
              <a:rPr lang="en-US" sz="1700">
                <a:solidFill>
                  <a:srgbClr val="404040"/>
                </a:solidFill>
                <a:latin typeface="Calibri" panose="020F0502020204030204" pitchFamily="34" charset="0"/>
              </a:rPr>
              <a:t>Share sample partner files and the implementation guide</a:t>
            </a:r>
          </a:p>
          <a:p>
            <a:pPr marL="342900" indent="-342900">
              <a:spcAft>
                <a:spcPts val="800"/>
              </a:spcAft>
              <a:buFont typeface="+mj-lt"/>
              <a:buChar char="•"/>
            </a:pPr>
            <a:r>
              <a:rPr lang="en-US" sz="1700">
                <a:solidFill>
                  <a:srgbClr val="404040"/>
                </a:solidFill>
                <a:latin typeface="Calibri" panose="020F0502020204030204" pitchFamily="34" charset="0"/>
              </a:rPr>
              <a:t>Plan Phase 1 scope and timeline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FB87373-9120-34BF-DA90-9846AF02EA5E}"/>
              </a:ext>
            </a:extLst>
          </p:cNvPr>
          <p:cNvSpPr txBox="1"/>
          <p:nvPr/>
        </p:nvSpPr>
        <p:spPr>
          <a:xfrm>
            <a:off x="508000" y="5334000"/>
            <a:ext cx="11176000" cy="32316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en-US" sz="1500">
                <a:solidFill>
                  <a:srgbClr val="767676"/>
                </a:solidFill>
                <a:latin typeface="Calibri" panose="020F0502020204030204" pitchFamily="34" charset="0"/>
              </a:rPr>
              <a:t>The same application can grow into a production B2B integration, because mapping and rules are already reusable.</a:t>
            </a:r>
          </a:p>
        </p:txBody>
      </p:sp>
    </p:spTree>
    <p:extLst>
      <p:ext uri="{BB962C8B-B14F-4D97-AF65-F5344CB8AC3E}">
        <p14:creationId xmlns:p14="http://schemas.microsoft.com/office/powerpoint/2010/main" val="15500815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1025</Words>
  <Application>Microsoft Office PowerPoint</Application>
  <PresentationFormat>Custom</PresentationFormat>
  <Paragraphs>151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Aptos</vt:lpstr>
      <vt:lpstr>Aptos Display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AMDOCS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Subhash Nagula</dc:creator>
  <cp:lastModifiedBy>Subhash Nagula</cp:lastModifiedBy>
  <cp:revision>1</cp:revision>
  <dcterms:created xsi:type="dcterms:W3CDTF">2026-10-21T10:01:17Z</dcterms:created>
  <dcterms:modified xsi:type="dcterms:W3CDTF">2026-10-21T10:01:17Z</dcterms:modified>
</cp:coreProperties>
</file>