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B4469-7518-C731-9BC3-7901ED5EEDD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D10773B-26E5-916C-5E6D-50BC6D8375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199CC7F-9790-3D6D-7083-A977EEE53C9C}"/>
              </a:ext>
            </a:extLst>
          </p:cNvPr>
          <p:cNvSpPr>
            <a:spLocks noGrp="1"/>
          </p:cNvSpPr>
          <p:nvPr>
            <p:ph type="dt" sz="half" idx="10"/>
          </p:nvPr>
        </p:nvSpPr>
        <p:spPr/>
        <p:txBody>
          <a:bodyPr/>
          <a:lstStyle/>
          <a:p>
            <a:fld id="{05370C1C-FED6-47AC-B551-0F781BC50403}" type="datetimeFigureOut">
              <a:rPr lang="en-US" smtClean="0"/>
              <a:t>10/22/2026</a:t>
            </a:fld>
            <a:endParaRPr lang="en-US"/>
          </a:p>
        </p:txBody>
      </p:sp>
      <p:sp>
        <p:nvSpPr>
          <p:cNvPr id="5" name="Footer Placeholder 4">
            <a:extLst>
              <a:ext uri="{FF2B5EF4-FFF2-40B4-BE49-F238E27FC236}">
                <a16:creationId xmlns:a16="http://schemas.microsoft.com/office/drawing/2014/main" id="{C2AF035A-6AC8-E2A8-18AD-5EB37D6555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B55DDB-925D-87BB-F1FE-97459118E1E8}"/>
              </a:ext>
            </a:extLst>
          </p:cNvPr>
          <p:cNvSpPr>
            <a:spLocks noGrp="1"/>
          </p:cNvSpPr>
          <p:nvPr>
            <p:ph type="sldNum" sz="quarter" idx="12"/>
          </p:nvPr>
        </p:nvSpPr>
        <p:spPr/>
        <p:txBody>
          <a:bodyPr/>
          <a:lstStyle/>
          <a:p>
            <a:fld id="{39980B17-6112-4913-98A3-F2E9B2E28D71}" type="slidenum">
              <a:rPr lang="en-US" smtClean="0"/>
              <a:t>‹#›</a:t>
            </a:fld>
            <a:endParaRPr lang="en-US"/>
          </a:p>
        </p:txBody>
      </p:sp>
    </p:spTree>
    <p:extLst>
      <p:ext uri="{BB962C8B-B14F-4D97-AF65-F5344CB8AC3E}">
        <p14:creationId xmlns:p14="http://schemas.microsoft.com/office/powerpoint/2010/main" val="17937744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3BD4D-9AB7-2270-8BE4-3BC9AE1C047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E9D506C-3FD5-69D4-789E-ADC9699B19E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D72F91-284C-0762-792E-B384A9844E95}"/>
              </a:ext>
            </a:extLst>
          </p:cNvPr>
          <p:cNvSpPr>
            <a:spLocks noGrp="1"/>
          </p:cNvSpPr>
          <p:nvPr>
            <p:ph type="dt" sz="half" idx="10"/>
          </p:nvPr>
        </p:nvSpPr>
        <p:spPr/>
        <p:txBody>
          <a:bodyPr/>
          <a:lstStyle/>
          <a:p>
            <a:fld id="{05370C1C-FED6-47AC-B551-0F781BC50403}" type="datetimeFigureOut">
              <a:rPr lang="en-US" smtClean="0"/>
              <a:t>10/22/2026</a:t>
            </a:fld>
            <a:endParaRPr lang="en-US"/>
          </a:p>
        </p:txBody>
      </p:sp>
      <p:sp>
        <p:nvSpPr>
          <p:cNvPr id="5" name="Footer Placeholder 4">
            <a:extLst>
              <a:ext uri="{FF2B5EF4-FFF2-40B4-BE49-F238E27FC236}">
                <a16:creationId xmlns:a16="http://schemas.microsoft.com/office/drawing/2014/main" id="{A1F5CC73-D1C9-FF82-7F8A-AF18C1D27A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F15DC7-273B-13A1-7143-B25CEE42562C}"/>
              </a:ext>
            </a:extLst>
          </p:cNvPr>
          <p:cNvSpPr>
            <a:spLocks noGrp="1"/>
          </p:cNvSpPr>
          <p:nvPr>
            <p:ph type="sldNum" sz="quarter" idx="12"/>
          </p:nvPr>
        </p:nvSpPr>
        <p:spPr/>
        <p:txBody>
          <a:bodyPr/>
          <a:lstStyle/>
          <a:p>
            <a:fld id="{39980B17-6112-4913-98A3-F2E9B2E28D71}" type="slidenum">
              <a:rPr lang="en-US" smtClean="0"/>
              <a:t>‹#›</a:t>
            </a:fld>
            <a:endParaRPr lang="en-US"/>
          </a:p>
        </p:txBody>
      </p:sp>
    </p:spTree>
    <p:extLst>
      <p:ext uri="{BB962C8B-B14F-4D97-AF65-F5344CB8AC3E}">
        <p14:creationId xmlns:p14="http://schemas.microsoft.com/office/powerpoint/2010/main" val="3454607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17658-AD15-DA84-14A0-190E8E1126B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C9B9F02-1AA9-2BEF-C7A2-B5C63A7994D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582D573-2590-5188-62E7-76AE12D24A24}"/>
              </a:ext>
            </a:extLst>
          </p:cNvPr>
          <p:cNvSpPr>
            <a:spLocks noGrp="1"/>
          </p:cNvSpPr>
          <p:nvPr>
            <p:ph type="dt" sz="half" idx="10"/>
          </p:nvPr>
        </p:nvSpPr>
        <p:spPr/>
        <p:txBody>
          <a:bodyPr/>
          <a:lstStyle/>
          <a:p>
            <a:fld id="{05370C1C-FED6-47AC-B551-0F781BC50403}" type="datetimeFigureOut">
              <a:rPr lang="en-US" smtClean="0"/>
              <a:t>10/22/2026</a:t>
            </a:fld>
            <a:endParaRPr lang="en-US"/>
          </a:p>
        </p:txBody>
      </p:sp>
      <p:sp>
        <p:nvSpPr>
          <p:cNvPr id="5" name="Footer Placeholder 4">
            <a:extLst>
              <a:ext uri="{FF2B5EF4-FFF2-40B4-BE49-F238E27FC236}">
                <a16:creationId xmlns:a16="http://schemas.microsoft.com/office/drawing/2014/main" id="{E16A2347-1D73-C3F4-A0C1-B7BA784DAA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8887FB-AF9D-A360-7BB4-96AEC1A5DB4A}"/>
              </a:ext>
            </a:extLst>
          </p:cNvPr>
          <p:cNvSpPr>
            <a:spLocks noGrp="1"/>
          </p:cNvSpPr>
          <p:nvPr>
            <p:ph type="sldNum" sz="quarter" idx="12"/>
          </p:nvPr>
        </p:nvSpPr>
        <p:spPr/>
        <p:txBody>
          <a:bodyPr/>
          <a:lstStyle/>
          <a:p>
            <a:fld id="{39980B17-6112-4913-98A3-F2E9B2E28D71}" type="slidenum">
              <a:rPr lang="en-US" smtClean="0"/>
              <a:t>‹#›</a:t>
            </a:fld>
            <a:endParaRPr lang="en-US"/>
          </a:p>
        </p:txBody>
      </p:sp>
    </p:spTree>
    <p:extLst>
      <p:ext uri="{BB962C8B-B14F-4D97-AF65-F5344CB8AC3E}">
        <p14:creationId xmlns:p14="http://schemas.microsoft.com/office/powerpoint/2010/main" val="13708961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F6D16-2D18-9D24-A89D-1F6F10F0D5C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E33E9D-7015-C674-E6BF-596AC1CD6EB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15E42A0-4881-A8F2-CD56-866F23DED7A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D98FC3B-D9C4-CFF0-5E2A-E64822043D9C}"/>
              </a:ext>
            </a:extLst>
          </p:cNvPr>
          <p:cNvSpPr>
            <a:spLocks noGrp="1"/>
          </p:cNvSpPr>
          <p:nvPr>
            <p:ph type="dt" sz="half" idx="10"/>
          </p:nvPr>
        </p:nvSpPr>
        <p:spPr/>
        <p:txBody>
          <a:bodyPr/>
          <a:lstStyle/>
          <a:p>
            <a:fld id="{05370C1C-FED6-47AC-B551-0F781BC50403}" type="datetimeFigureOut">
              <a:rPr lang="en-US" smtClean="0"/>
              <a:t>10/22/2026</a:t>
            </a:fld>
            <a:endParaRPr lang="en-US"/>
          </a:p>
        </p:txBody>
      </p:sp>
      <p:sp>
        <p:nvSpPr>
          <p:cNvPr id="6" name="Footer Placeholder 5">
            <a:extLst>
              <a:ext uri="{FF2B5EF4-FFF2-40B4-BE49-F238E27FC236}">
                <a16:creationId xmlns:a16="http://schemas.microsoft.com/office/drawing/2014/main" id="{246FC42D-1A6F-A658-E7E5-60CE86ACE7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FB1ADE-9B9C-F379-8D2D-3987859EF7C0}"/>
              </a:ext>
            </a:extLst>
          </p:cNvPr>
          <p:cNvSpPr>
            <a:spLocks noGrp="1"/>
          </p:cNvSpPr>
          <p:nvPr>
            <p:ph type="sldNum" sz="quarter" idx="12"/>
          </p:nvPr>
        </p:nvSpPr>
        <p:spPr/>
        <p:txBody>
          <a:bodyPr/>
          <a:lstStyle/>
          <a:p>
            <a:fld id="{39980B17-6112-4913-98A3-F2E9B2E28D71}" type="slidenum">
              <a:rPr lang="en-US" smtClean="0"/>
              <a:t>‹#›</a:t>
            </a:fld>
            <a:endParaRPr lang="en-US"/>
          </a:p>
        </p:txBody>
      </p:sp>
    </p:spTree>
    <p:extLst>
      <p:ext uri="{BB962C8B-B14F-4D97-AF65-F5344CB8AC3E}">
        <p14:creationId xmlns:p14="http://schemas.microsoft.com/office/powerpoint/2010/main" val="2350525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2B64F-66D0-0966-C191-106EED2E1F8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0764FCE-C292-C6FC-3A86-D667E78DB4F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34DE03-826E-4035-7589-0F395B3C9A4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A48EA48-B1AC-6E4D-0B61-1A9734706F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DEA5C7-62C7-ED54-3FE4-C803F89D5AE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1A8CD6F-2887-3DBA-BD24-DE50BC55EF5B}"/>
              </a:ext>
            </a:extLst>
          </p:cNvPr>
          <p:cNvSpPr>
            <a:spLocks noGrp="1"/>
          </p:cNvSpPr>
          <p:nvPr>
            <p:ph type="dt" sz="half" idx="10"/>
          </p:nvPr>
        </p:nvSpPr>
        <p:spPr/>
        <p:txBody>
          <a:bodyPr/>
          <a:lstStyle/>
          <a:p>
            <a:fld id="{05370C1C-FED6-47AC-B551-0F781BC50403}" type="datetimeFigureOut">
              <a:rPr lang="en-US" smtClean="0"/>
              <a:t>10/22/2026</a:t>
            </a:fld>
            <a:endParaRPr lang="en-US"/>
          </a:p>
        </p:txBody>
      </p:sp>
      <p:sp>
        <p:nvSpPr>
          <p:cNvPr id="8" name="Footer Placeholder 7">
            <a:extLst>
              <a:ext uri="{FF2B5EF4-FFF2-40B4-BE49-F238E27FC236}">
                <a16:creationId xmlns:a16="http://schemas.microsoft.com/office/drawing/2014/main" id="{76BD1754-3FA4-0079-DB38-4823ECFFC69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05B1D62-D3FC-83A0-32F7-DB47C4CA238C}"/>
              </a:ext>
            </a:extLst>
          </p:cNvPr>
          <p:cNvSpPr>
            <a:spLocks noGrp="1"/>
          </p:cNvSpPr>
          <p:nvPr>
            <p:ph type="sldNum" sz="quarter" idx="12"/>
          </p:nvPr>
        </p:nvSpPr>
        <p:spPr/>
        <p:txBody>
          <a:bodyPr/>
          <a:lstStyle/>
          <a:p>
            <a:fld id="{39980B17-6112-4913-98A3-F2E9B2E28D71}" type="slidenum">
              <a:rPr lang="en-US" smtClean="0"/>
              <a:t>‹#›</a:t>
            </a:fld>
            <a:endParaRPr lang="en-US"/>
          </a:p>
        </p:txBody>
      </p:sp>
    </p:spTree>
    <p:extLst>
      <p:ext uri="{BB962C8B-B14F-4D97-AF65-F5344CB8AC3E}">
        <p14:creationId xmlns:p14="http://schemas.microsoft.com/office/powerpoint/2010/main" val="35750005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E4828-6742-9AAA-7D91-7C5A2238726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01D966E-BAEE-A0BA-5381-80270C0CBB23}"/>
              </a:ext>
            </a:extLst>
          </p:cNvPr>
          <p:cNvSpPr>
            <a:spLocks noGrp="1"/>
          </p:cNvSpPr>
          <p:nvPr>
            <p:ph type="dt" sz="half" idx="10"/>
          </p:nvPr>
        </p:nvSpPr>
        <p:spPr/>
        <p:txBody>
          <a:bodyPr/>
          <a:lstStyle/>
          <a:p>
            <a:fld id="{05370C1C-FED6-47AC-B551-0F781BC50403}" type="datetimeFigureOut">
              <a:rPr lang="en-US" smtClean="0"/>
              <a:t>10/22/2026</a:t>
            </a:fld>
            <a:endParaRPr lang="en-US"/>
          </a:p>
        </p:txBody>
      </p:sp>
      <p:sp>
        <p:nvSpPr>
          <p:cNvPr id="4" name="Footer Placeholder 3">
            <a:extLst>
              <a:ext uri="{FF2B5EF4-FFF2-40B4-BE49-F238E27FC236}">
                <a16:creationId xmlns:a16="http://schemas.microsoft.com/office/drawing/2014/main" id="{5562E9EF-A766-B4A0-9A68-1AF55E2A10A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273A308-F2B6-E5B8-6E35-DFBC86607A3B}"/>
              </a:ext>
            </a:extLst>
          </p:cNvPr>
          <p:cNvSpPr>
            <a:spLocks noGrp="1"/>
          </p:cNvSpPr>
          <p:nvPr>
            <p:ph type="sldNum" sz="quarter" idx="12"/>
          </p:nvPr>
        </p:nvSpPr>
        <p:spPr/>
        <p:txBody>
          <a:bodyPr/>
          <a:lstStyle/>
          <a:p>
            <a:fld id="{39980B17-6112-4913-98A3-F2E9B2E28D71}" type="slidenum">
              <a:rPr lang="en-US" smtClean="0"/>
              <a:t>‹#›</a:t>
            </a:fld>
            <a:endParaRPr lang="en-US"/>
          </a:p>
        </p:txBody>
      </p:sp>
    </p:spTree>
    <p:extLst>
      <p:ext uri="{BB962C8B-B14F-4D97-AF65-F5344CB8AC3E}">
        <p14:creationId xmlns:p14="http://schemas.microsoft.com/office/powerpoint/2010/main" val="31748527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99D0D79-33C9-D8F5-F472-F0E57A07388D}"/>
              </a:ext>
            </a:extLst>
          </p:cNvPr>
          <p:cNvSpPr>
            <a:spLocks noGrp="1"/>
          </p:cNvSpPr>
          <p:nvPr>
            <p:ph type="dt" sz="half" idx="10"/>
          </p:nvPr>
        </p:nvSpPr>
        <p:spPr/>
        <p:txBody>
          <a:bodyPr/>
          <a:lstStyle/>
          <a:p>
            <a:fld id="{05370C1C-FED6-47AC-B551-0F781BC50403}" type="datetimeFigureOut">
              <a:rPr lang="en-US" smtClean="0"/>
              <a:t>10/22/2026</a:t>
            </a:fld>
            <a:endParaRPr lang="en-US"/>
          </a:p>
        </p:txBody>
      </p:sp>
      <p:sp>
        <p:nvSpPr>
          <p:cNvPr id="3" name="Footer Placeholder 2">
            <a:extLst>
              <a:ext uri="{FF2B5EF4-FFF2-40B4-BE49-F238E27FC236}">
                <a16:creationId xmlns:a16="http://schemas.microsoft.com/office/drawing/2014/main" id="{EAC49751-F963-FBD1-33DC-33D1285296F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C6C7F41-3D9C-AFBB-D4C9-5A87CA06D634}"/>
              </a:ext>
            </a:extLst>
          </p:cNvPr>
          <p:cNvSpPr>
            <a:spLocks noGrp="1"/>
          </p:cNvSpPr>
          <p:nvPr>
            <p:ph type="sldNum" sz="quarter" idx="12"/>
          </p:nvPr>
        </p:nvSpPr>
        <p:spPr/>
        <p:txBody>
          <a:bodyPr/>
          <a:lstStyle/>
          <a:p>
            <a:fld id="{39980B17-6112-4913-98A3-F2E9B2E28D71}" type="slidenum">
              <a:rPr lang="en-US" smtClean="0"/>
              <a:t>‹#›</a:t>
            </a:fld>
            <a:endParaRPr lang="en-US"/>
          </a:p>
        </p:txBody>
      </p:sp>
    </p:spTree>
    <p:extLst>
      <p:ext uri="{BB962C8B-B14F-4D97-AF65-F5344CB8AC3E}">
        <p14:creationId xmlns:p14="http://schemas.microsoft.com/office/powerpoint/2010/main" val="344687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F9396-02AB-1D23-3E58-E0B6E79C01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DB37EBD-F959-FB71-0719-101189D0B63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E6EF087-AD1F-E85B-27EF-614CC86652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0F4AF9-9A01-EED3-28A2-36578E1A068C}"/>
              </a:ext>
            </a:extLst>
          </p:cNvPr>
          <p:cNvSpPr>
            <a:spLocks noGrp="1"/>
          </p:cNvSpPr>
          <p:nvPr>
            <p:ph type="dt" sz="half" idx="10"/>
          </p:nvPr>
        </p:nvSpPr>
        <p:spPr/>
        <p:txBody>
          <a:bodyPr/>
          <a:lstStyle/>
          <a:p>
            <a:fld id="{05370C1C-FED6-47AC-B551-0F781BC50403}" type="datetimeFigureOut">
              <a:rPr lang="en-US" smtClean="0"/>
              <a:t>10/22/2026</a:t>
            </a:fld>
            <a:endParaRPr lang="en-US"/>
          </a:p>
        </p:txBody>
      </p:sp>
      <p:sp>
        <p:nvSpPr>
          <p:cNvPr id="6" name="Footer Placeholder 5">
            <a:extLst>
              <a:ext uri="{FF2B5EF4-FFF2-40B4-BE49-F238E27FC236}">
                <a16:creationId xmlns:a16="http://schemas.microsoft.com/office/drawing/2014/main" id="{603DA7FE-6911-46A0-37D2-79C1DBB82E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5E3335D-B58D-BA62-7F3C-575B97ED4A50}"/>
              </a:ext>
            </a:extLst>
          </p:cNvPr>
          <p:cNvSpPr>
            <a:spLocks noGrp="1"/>
          </p:cNvSpPr>
          <p:nvPr>
            <p:ph type="sldNum" sz="quarter" idx="12"/>
          </p:nvPr>
        </p:nvSpPr>
        <p:spPr/>
        <p:txBody>
          <a:bodyPr/>
          <a:lstStyle/>
          <a:p>
            <a:fld id="{39980B17-6112-4913-98A3-F2E9B2E28D71}" type="slidenum">
              <a:rPr lang="en-US" smtClean="0"/>
              <a:t>‹#›</a:t>
            </a:fld>
            <a:endParaRPr lang="en-US"/>
          </a:p>
        </p:txBody>
      </p:sp>
    </p:spTree>
    <p:extLst>
      <p:ext uri="{BB962C8B-B14F-4D97-AF65-F5344CB8AC3E}">
        <p14:creationId xmlns:p14="http://schemas.microsoft.com/office/powerpoint/2010/main" val="14213314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49F74-2A42-2DE3-263A-0AE050651C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6BA4773-1043-C96D-0326-4065460EF872}"/>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3FD9819-32EC-A8FD-6BD2-6F9FEA0F94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1A347C-4DE5-8849-2240-E131D19E2422}"/>
              </a:ext>
            </a:extLst>
          </p:cNvPr>
          <p:cNvSpPr>
            <a:spLocks noGrp="1"/>
          </p:cNvSpPr>
          <p:nvPr>
            <p:ph type="dt" sz="half" idx="10"/>
          </p:nvPr>
        </p:nvSpPr>
        <p:spPr/>
        <p:txBody>
          <a:bodyPr/>
          <a:lstStyle/>
          <a:p>
            <a:fld id="{05370C1C-FED6-47AC-B551-0F781BC50403}" type="datetimeFigureOut">
              <a:rPr lang="en-US" smtClean="0"/>
              <a:t>10/22/2026</a:t>
            </a:fld>
            <a:endParaRPr lang="en-US"/>
          </a:p>
        </p:txBody>
      </p:sp>
      <p:sp>
        <p:nvSpPr>
          <p:cNvPr id="6" name="Footer Placeholder 5">
            <a:extLst>
              <a:ext uri="{FF2B5EF4-FFF2-40B4-BE49-F238E27FC236}">
                <a16:creationId xmlns:a16="http://schemas.microsoft.com/office/drawing/2014/main" id="{92F27E08-B77B-B4E3-450E-971EDEF449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F928BD-A69D-DD94-DABB-00615F268006}"/>
              </a:ext>
            </a:extLst>
          </p:cNvPr>
          <p:cNvSpPr>
            <a:spLocks noGrp="1"/>
          </p:cNvSpPr>
          <p:nvPr>
            <p:ph type="sldNum" sz="quarter" idx="12"/>
          </p:nvPr>
        </p:nvSpPr>
        <p:spPr/>
        <p:txBody>
          <a:bodyPr/>
          <a:lstStyle/>
          <a:p>
            <a:fld id="{39980B17-6112-4913-98A3-F2E9B2E28D71}" type="slidenum">
              <a:rPr lang="en-US" smtClean="0"/>
              <a:t>‹#›</a:t>
            </a:fld>
            <a:endParaRPr lang="en-US"/>
          </a:p>
        </p:txBody>
      </p:sp>
    </p:spTree>
    <p:extLst>
      <p:ext uri="{BB962C8B-B14F-4D97-AF65-F5344CB8AC3E}">
        <p14:creationId xmlns:p14="http://schemas.microsoft.com/office/powerpoint/2010/main" val="29219845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70A34-AA03-9B4C-D6DA-BB786BD9855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813630D-A6F0-BC30-7EBB-1FD8B21E389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4F8B5F-5AE9-3395-EB30-1704A99A5787}"/>
              </a:ext>
            </a:extLst>
          </p:cNvPr>
          <p:cNvSpPr>
            <a:spLocks noGrp="1"/>
          </p:cNvSpPr>
          <p:nvPr>
            <p:ph type="dt" sz="half" idx="10"/>
          </p:nvPr>
        </p:nvSpPr>
        <p:spPr/>
        <p:txBody>
          <a:bodyPr/>
          <a:lstStyle/>
          <a:p>
            <a:fld id="{05370C1C-FED6-47AC-B551-0F781BC50403}" type="datetimeFigureOut">
              <a:rPr lang="en-US" smtClean="0"/>
              <a:t>10/22/2026</a:t>
            </a:fld>
            <a:endParaRPr lang="en-US"/>
          </a:p>
        </p:txBody>
      </p:sp>
      <p:sp>
        <p:nvSpPr>
          <p:cNvPr id="5" name="Footer Placeholder 4">
            <a:extLst>
              <a:ext uri="{FF2B5EF4-FFF2-40B4-BE49-F238E27FC236}">
                <a16:creationId xmlns:a16="http://schemas.microsoft.com/office/drawing/2014/main" id="{06FE2AD0-988D-E9BC-6358-3D93BCEC6E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85B09F-3537-BBC4-9616-83C677F6AF62}"/>
              </a:ext>
            </a:extLst>
          </p:cNvPr>
          <p:cNvSpPr>
            <a:spLocks noGrp="1"/>
          </p:cNvSpPr>
          <p:nvPr>
            <p:ph type="sldNum" sz="quarter" idx="12"/>
          </p:nvPr>
        </p:nvSpPr>
        <p:spPr/>
        <p:txBody>
          <a:bodyPr/>
          <a:lstStyle/>
          <a:p>
            <a:fld id="{39980B17-6112-4913-98A3-F2E9B2E28D71}" type="slidenum">
              <a:rPr lang="en-US" smtClean="0"/>
              <a:t>‹#›</a:t>
            </a:fld>
            <a:endParaRPr lang="en-US"/>
          </a:p>
        </p:txBody>
      </p:sp>
    </p:spTree>
    <p:extLst>
      <p:ext uri="{BB962C8B-B14F-4D97-AF65-F5344CB8AC3E}">
        <p14:creationId xmlns:p14="http://schemas.microsoft.com/office/powerpoint/2010/main" val="32780830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CFDCC12-7581-CE7B-169A-B2C2164533D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36BF93D-733D-206A-65E2-35F5085E14D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4B7B2A-7996-3A79-81DB-8888FD512502}"/>
              </a:ext>
            </a:extLst>
          </p:cNvPr>
          <p:cNvSpPr>
            <a:spLocks noGrp="1"/>
          </p:cNvSpPr>
          <p:nvPr>
            <p:ph type="dt" sz="half" idx="10"/>
          </p:nvPr>
        </p:nvSpPr>
        <p:spPr/>
        <p:txBody>
          <a:bodyPr/>
          <a:lstStyle/>
          <a:p>
            <a:fld id="{05370C1C-FED6-47AC-B551-0F781BC50403}" type="datetimeFigureOut">
              <a:rPr lang="en-US" smtClean="0"/>
              <a:t>10/22/2026</a:t>
            </a:fld>
            <a:endParaRPr lang="en-US"/>
          </a:p>
        </p:txBody>
      </p:sp>
      <p:sp>
        <p:nvSpPr>
          <p:cNvPr id="5" name="Footer Placeholder 4">
            <a:extLst>
              <a:ext uri="{FF2B5EF4-FFF2-40B4-BE49-F238E27FC236}">
                <a16:creationId xmlns:a16="http://schemas.microsoft.com/office/drawing/2014/main" id="{052CBD8B-9462-9807-68A9-3E567F13E6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8158E2-6DD2-5E3F-6CDD-07C2971AD150}"/>
              </a:ext>
            </a:extLst>
          </p:cNvPr>
          <p:cNvSpPr>
            <a:spLocks noGrp="1"/>
          </p:cNvSpPr>
          <p:nvPr>
            <p:ph type="sldNum" sz="quarter" idx="12"/>
          </p:nvPr>
        </p:nvSpPr>
        <p:spPr/>
        <p:txBody>
          <a:bodyPr/>
          <a:lstStyle/>
          <a:p>
            <a:fld id="{39980B17-6112-4913-98A3-F2E9B2E28D71}" type="slidenum">
              <a:rPr lang="en-US" smtClean="0"/>
              <a:t>‹#›</a:t>
            </a:fld>
            <a:endParaRPr lang="en-US"/>
          </a:p>
        </p:txBody>
      </p:sp>
    </p:spTree>
    <p:extLst>
      <p:ext uri="{BB962C8B-B14F-4D97-AF65-F5344CB8AC3E}">
        <p14:creationId xmlns:p14="http://schemas.microsoft.com/office/powerpoint/2010/main" val="12997150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0DA8E6E-70BF-9400-1D45-BF066AC5B85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832BCD4-21EE-E88B-F0C1-0EDD418B79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420107-3A5F-F53A-C7D3-D2485223EF1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5370C1C-FED6-47AC-B551-0F781BC50403}" type="datetimeFigureOut">
              <a:rPr lang="en-US" smtClean="0"/>
              <a:t>10/22/2026</a:t>
            </a:fld>
            <a:endParaRPr lang="en-US"/>
          </a:p>
        </p:txBody>
      </p:sp>
      <p:sp>
        <p:nvSpPr>
          <p:cNvPr id="5" name="Footer Placeholder 4">
            <a:extLst>
              <a:ext uri="{FF2B5EF4-FFF2-40B4-BE49-F238E27FC236}">
                <a16:creationId xmlns:a16="http://schemas.microsoft.com/office/drawing/2014/main" id="{9F269BD3-71C7-D431-22C3-D7B9F2935A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63975A2-552C-2932-9AB7-C63694232B7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9980B17-6112-4913-98A3-F2E9B2E28D71}" type="slidenum">
              <a:rPr lang="en-US" smtClean="0"/>
              <a:t>‹#›</a:t>
            </a:fld>
            <a:endParaRPr lang="en-US"/>
          </a:p>
        </p:txBody>
      </p:sp>
    </p:spTree>
    <p:extLst>
      <p:ext uri="{BB962C8B-B14F-4D97-AF65-F5344CB8AC3E}">
        <p14:creationId xmlns:p14="http://schemas.microsoft.com/office/powerpoint/2010/main" val="6978006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51D9A69-2A23-22CE-3F96-33DAF2A96277}"/>
              </a:ext>
            </a:extLst>
          </p:cNvPr>
          <p:cNvSpPr/>
          <p:nvPr/>
        </p:nvSpPr>
        <p:spPr>
          <a:xfrm>
            <a:off x="0" y="0"/>
            <a:ext cx="12192000" cy="6858000"/>
          </a:xfrm>
          <a:prstGeom prst="rect">
            <a:avLst/>
          </a:prstGeom>
          <a:solidFill>
            <a:srgbClr val="1F386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F634AFFE-31AE-AD65-F61D-83633BEE837F}"/>
              </a:ext>
            </a:extLst>
          </p:cNvPr>
          <p:cNvSpPr/>
          <p:nvPr/>
        </p:nvSpPr>
        <p:spPr>
          <a:xfrm>
            <a:off x="889000" y="3810000"/>
            <a:ext cx="1524000" cy="63500"/>
          </a:xfrm>
          <a:prstGeom prst="rect">
            <a:avLst/>
          </a:prstGeom>
          <a:solidFill>
            <a:srgbClr val="2E75B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6FEA56D-2EA9-894D-0AED-B02CAEA5D09D}"/>
              </a:ext>
            </a:extLst>
          </p:cNvPr>
          <p:cNvSpPr txBox="1"/>
          <p:nvPr/>
        </p:nvSpPr>
        <p:spPr>
          <a:xfrm>
            <a:off x="812800" y="2159000"/>
            <a:ext cx="10541000" cy="769441"/>
          </a:xfrm>
          <a:prstGeom prst="rect">
            <a:avLst/>
          </a:prstGeom>
          <a:noFill/>
        </p:spPr>
        <p:txBody>
          <a:bodyPr vert="horz" wrap="square" rtlCol="0">
            <a:spAutoFit/>
          </a:bodyPr>
          <a:lstStyle/>
          <a:p>
            <a:r>
              <a:rPr lang="en-US" sz="4400" b="1">
                <a:solidFill>
                  <a:srgbClr val="FFFFFF"/>
                </a:solidFill>
                <a:latin typeface="Calibri" panose="020F0502020204030204" pitchFamily="34" charset="0"/>
              </a:rPr>
              <a:t>EDIFACT Orders POC</a:t>
            </a:r>
          </a:p>
        </p:txBody>
      </p:sp>
      <p:sp>
        <p:nvSpPr>
          <p:cNvPr id="5" name="TextBox 4">
            <a:extLst>
              <a:ext uri="{FF2B5EF4-FFF2-40B4-BE49-F238E27FC236}">
                <a16:creationId xmlns:a16="http://schemas.microsoft.com/office/drawing/2014/main" id="{386B36DC-F76E-A1E7-0683-C696BB1F762A}"/>
              </a:ext>
            </a:extLst>
          </p:cNvPr>
          <p:cNvSpPr txBox="1"/>
          <p:nvPr/>
        </p:nvSpPr>
        <p:spPr>
          <a:xfrm>
            <a:off x="812800" y="3048000"/>
            <a:ext cx="10541000" cy="400110"/>
          </a:xfrm>
          <a:prstGeom prst="rect">
            <a:avLst/>
          </a:prstGeom>
          <a:noFill/>
        </p:spPr>
        <p:txBody>
          <a:bodyPr vert="horz" wrap="square" rtlCol="0">
            <a:spAutoFit/>
          </a:bodyPr>
          <a:lstStyle/>
          <a:p>
            <a:r>
              <a:rPr lang="en-US" sz="2000">
                <a:solidFill>
                  <a:srgbClr val="DEEBF7"/>
                </a:solidFill>
                <a:latin typeface="Calibri" panose="020F0502020204030204" pitchFamily="34" charset="0"/>
              </a:rPr>
              <a:t>EDIFACT purchase orders to JSON and XML, and back, over SFTP with MuleSoft</a:t>
            </a:r>
          </a:p>
        </p:txBody>
      </p:sp>
      <p:sp>
        <p:nvSpPr>
          <p:cNvPr id="6" name="TextBox 5">
            <a:extLst>
              <a:ext uri="{FF2B5EF4-FFF2-40B4-BE49-F238E27FC236}">
                <a16:creationId xmlns:a16="http://schemas.microsoft.com/office/drawing/2014/main" id="{56E0E3A9-F6EF-EFF9-9258-B83C11D5CB82}"/>
              </a:ext>
            </a:extLst>
          </p:cNvPr>
          <p:cNvSpPr txBox="1"/>
          <p:nvPr/>
        </p:nvSpPr>
        <p:spPr>
          <a:xfrm>
            <a:off x="812800" y="4064000"/>
            <a:ext cx="10541000" cy="307777"/>
          </a:xfrm>
          <a:prstGeom prst="rect">
            <a:avLst/>
          </a:prstGeom>
          <a:noFill/>
        </p:spPr>
        <p:txBody>
          <a:bodyPr vert="horz" wrap="square" rtlCol="0">
            <a:spAutoFit/>
          </a:bodyPr>
          <a:lstStyle/>
          <a:p>
            <a:r>
              <a:rPr lang="en-US" sz="1400">
                <a:solidFill>
                  <a:srgbClr val="DEEBF7"/>
                </a:solidFill>
                <a:latin typeface="Calibri" panose="020F0502020204030204" pitchFamily="34" charset="0"/>
              </a:rPr>
              <a:t>Proof of concept overview  |  October 2026</a:t>
            </a:r>
          </a:p>
        </p:txBody>
      </p:sp>
    </p:spTree>
    <p:extLst>
      <p:ext uri="{BB962C8B-B14F-4D97-AF65-F5344CB8AC3E}">
        <p14:creationId xmlns:p14="http://schemas.microsoft.com/office/powerpoint/2010/main" val="20077329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20F47D9-FEE2-259B-EEDE-291C51998ECD}"/>
              </a:ext>
            </a:extLst>
          </p:cNvPr>
          <p:cNvSpPr/>
          <p:nvPr/>
        </p:nvSpPr>
        <p:spPr>
          <a:xfrm>
            <a:off x="0" y="0"/>
            <a:ext cx="12192000" cy="914400"/>
          </a:xfrm>
          <a:prstGeom prst="rect">
            <a:avLst/>
          </a:prstGeom>
          <a:solidFill>
            <a:srgbClr val="1F386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0" rtlCol="0" anchor="ctr"/>
          <a:lstStyle/>
          <a:p>
            <a:r>
              <a:rPr lang="en-US" sz="2600" b="1">
                <a:solidFill>
                  <a:srgbClr val="FFFFFF"/>
                </a:solidFill>
                <a:latin typeface="Calibri" panose="020F0502020204030204" pitchFamily="34" charset="0"/>
              </a:rPr>
              <a:t>Business requirement</a:t>
            </a:r>
          </a:p>
        </p:txBody>
      </p:sp>
      <p:sp>
        <p:nvSpPr>
          <p:cNvPr id="3" name="Rectangle 2">
            <a:extLst>
              <a:ext uri="{FF2B5EF4-FFF2-40B4-BE49-F238E27FC236}">
                <a16:creationId xmlns:a16="http://schemas.microsoft.com/office/drawing/2014/main" id="{ADC25A60-7E85-F75B-897B-09601AEA3325}"/>
              </a:ext>
            </a:extLst>
          </p:cNvPr>
          <p:cNvSpPr/>
          <p:nvPr/>
        </p:nvSpPr>
        <p:spPr>
          <a:xfrm>
            <a:off x="0" y="914400"/>
            <a:ext cx="12192000" cy="50800"/>
          </a:xfrm>
          <a:prstGeom prst="rect">
            <a:avLst/>
          </a:prstGeom>
          <a:solidFill>
            <a:srgbClr val="2E75B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4626C0C-FA3E-3770-BE99-A1D473C81DEA}"/>
              </a:ext>
            </a:extLst>
          </p:cNvPr>
          <p:cNvSpPr txBox="1"/>
          <p:nvPr/>
        </p:nvSpPr>
        <p:spPr>
          <a:xfrm>
            <a:off x="508000" y="6413500"/>
            <a:ext cx="7620000" cy="246221"/>
          </a:xfrm>
          <a:prstGeom prst="rect">
            <a:avLst/>
          </a:prstGeom>
          <a:noFill/>
        </p:spPr>
        <p:txBody>
          <a:bodyPr vert="horz" wrap="square" rtlCol="0">
            <a:spAutoFit/>
          </a:bodyPr>
          <a:lstStyle/>
          <a:p>
            <a:r>
              <a:rPr lang="en-US" sz="1000">
                <a:solidFill>
                  <a:srgbClr val="767676"/>
                </a:solidFill>
                <a:latin typeface="Calibri" panose="020F0502020204030204" pitchFamily="34" charset="0"/>
              </a:rPr>
              <a:t>EDIFACT Orders POC</a:t>
            </a:r>
          </a:p>
        </p:txBody>
      </p:sp>
      <p:sp>
        <p:nvSpPr>
          <p:cNvPr id="5" name="TextBox 4">
            <a:extLst>
              <a:ext uri="{FF2B5EF4-FFF2-40B4-BE49-F238E27FC236}">
                <a16:creationId xmlns:a16="http://schemas.microsoft.com/office/drawing/2014/main" id="{506A54C2-60C5-CB5E-A7F4-5F6AD9F5DEF4}"/>
              </a:ext>
            </a:extLst>
          </p:cNvPr>
          <p:cNvSpPr txBox="1"/>
          <p:nvPr/>
        </p:nvSpPr>
        <p:spPr>
          <a:xfrm>
            <a:off x="10414000" y="6413500"/>
            <a:ext cx="1270000" cy="246221"/>
          </a:xfrm>
          <a:prstGeom prst="rect">
            <a:avLst/>
          </a:prstGeom>
          <a:noFill/>
        </p:spPr>
        <p:txBody>
          <a:bodyPr vert="horz" wrap="square" rtlCol="0">
            <a:spAutoFit/>
          </a:bodyPr>
          <a:lstStyle/>
          <a:p>
            <a:pPr algn="r"/>
            <a:r>
              <a:rPr lang="en-US" sz="1000">
                <a:solidFill>
                  <a:srgbClr val="767676"/>
                </a:solidFill>
                <a:latin typeface="Calibri" panose="020F0502020204030204" pitchFamily="34" charset="0"/>
              </a:rPr>
              <a:t>2</a:t>
            </a:r>
          </a:p>
        </p:txBody>
      </p:sp>
      <p:sp>
        <p:nvSpPr>
          <p:cNvPr id="6" name="TextBox 5">
            <a:extLst>
              <a:ext uri="{FF2B5EF4-FFF2-40B4-BE49-F238E27FC236}">
                <a16:creationId xmlns:a16="http://schemas.microsoft.com/office/drawing/2014/main" id="{00FE5643-E457-4FC3-33A4-8F9C1A020A0A}"/>
              </a:ext>
            </a:extLst>
          </p:cNvPr>
          <p:cNvSpPr txBox="1"/>
          <p:nvPr/>
        </p:nvSpPr>
        <p:spPr>
          <a:xfrm>
            <a:off x="508000" y="1206500"/>
            <a:ext cx="11176000" cy="615553"/>
          </a:xfrm>
          <a:prstGeom prst="rect">
            <a:avLst/>
          </a:prstGeom>
          <a:noFill/>
        </p:spPr>
        <p:txBody>
          <a:bodyPr vert="horz" wrap="square" rtlCol="0">
            <a:spAutoFit/>
          </a:bodyPr>
          <a:lstStyle/>
          <a:p>
            <a:r>
              <a:rPr lang="en-US" sz="1700">
                <a:solidFill>
                  <a:srgbClr val="404040"/>
                </a:solidFill>
                <a:latin typeface="Calibri" panose="020F0502020204030204" pitchFamily="34" charset="0"/>
              </a:rPr>
              <a:t>Harbor Retail (buyer) sends purchase orders to Northwind Telecom Supplies (supplier) as EDIFACT ORDERS messages, version D.96A. Northwind needs to:</a:t>
            </a:r>
          </a:p>
        </p:txBody>
      </p:sp>
      <p:sp>
        <p:nvSpPr>
          <p:cNvPr id="7" name="TextBox 6">
            <a:extLst>
              <a:ext uri="{FF2B5EF4-FFF2-40B4-BE49-F238E27FC236}">
                <a16:creationId xmlns:a16="http://schemas.microsoft.com/office/drawing/2014/main" id="{BD08259A-0070-99C6-4BF4-A05028345D62}"/>
              </a:ext>
            </a:extLst>
          </p:cNvPr>
          <p:cNvSpPr txBox="1"/>
          <p:nvPr/>
        </p:nvSpPr>
        <p:spPr>
          <a:xfrm>
            <a:off x="635000" y="1905000"/>
            <a:ext cx="10922000" cy="1810752"/>
          </a:xfrm>
          <a:prstGeom prst="rect">
            <a:avLst/>
          </a:prstGeom>
          <a:noFill/>
        </p:spPr>
        <p:txBody>
          <a:bodyPr vert="horz" wrap="square" rtlCol="0">
            <a:spAutoFit/>
          </a:bodyPr>
          <a:lstStyle/>
          <a:p>
            <a:pPr marL="342900" indent="-342900">
              <a:spcAft>
                <a:spcPts val="800"/>
              </a:spcAft>
              <a:buFont typeface="+mj-lt"/>
              <a:buChar char="•"/>
            </a:pPr>
            <a:r>
              <a:rPr lang="en-US" sz="1700">
                <a:solidFill>
                  <a:srgbClr val="404040"/>
                </a:solidFill>
                <a:latin typeface="Calibri" panose="020F0502020204030204" pitchFamily="34" charset="0"/>
              </a:rPr>
              <a:t>Receive each purchase order from SFTP and validate it against the EDIFACT standard.</a:t>
            </a:r>
          </a:p>
          <a:p>
            <a:pPr marL="342900" indent="-342900">
              <a:spcAft>
                <a:spcPts val="800"/>
              </a:spcAft>
              <a:buFont typeface="+mj-lt"/>
              <a:buChar char="•"/>
            </a:pPr>
            <a:r>
              <a:rPr lang="en-US" sz="1700">
                <a:solidFill>
                  <a:srgbClr val="404040"/>
                </a:solidFill>
                <a:latin typeface="Calibri" panose="020F0502020204030204" pitchFamily="34" charset="0"/>
              </a:rPr>
              <a:t>Translate the order into one clear purchase-order format for internal use.</a:t>
            </a:r>
          </a:p>
          <a:p>
            <a:pPr marL="342900" indent="-342900">
              <a:spcAft>
                <a:spcPts val="800"/>
              </a:spcAft>
              <a:buFont typeface="+mj-lt"/>
              <a:buChar char="•"/>
            </a:pPr>
            <a:r>
              <a:rPr lang="en-US" sz="1700">
                <a:solidFill>
                  <a:srgbClr val="404040"/>
                </a:solidFill>
                <a:latin typeface="Calibri" panose="020F0502020204030204" pitchFamily="34" charset="0"/>
              </a:rPr>
              <a:t>Accept or reject the order using business rules, with a reason for every rejection.</a:t>
            </a:r>
          </a:p>
          <a:p>
            <a:pPr marL="342900" indent="-342900">
              <a:spcAft>
                <a:spcPts val="800"/>
              </a:spcAft>
              <a:buFont typeface="+mj-lt"/>
              <a:buChar char="•"/>
            </a:pPr>
            <a:r>
              <a:rPr lang="en-US" sz="1700">
                <a:solidFill>
                  <a:srgbClr val="404040"/>
                </a:solidFill>
                <a:latin typeface="Calibri" panose="020F0502020204030204" pitchFamily="34" charset="0"/>
              </a:rPr>
              <a:t>Write the order to SFTP as both JSON and XML.</a:t>
            </a:r>
          </a:p>
          <a:p>
            <a:pPr marL="342900" indent="-342900">
              <a:spcAft>
                <a:spcPts val="800"/>
              </a:spcAft>
              <a:buFont typeface="+mj-lt"/>
              <a:buChar char="•"/>
            </a:pPr>
            <a:r>
              <a:rPr lang="en-US" sz="1700">
                <a:solidFill>
                  <a:srgbClr val="404040"/>
                </a:solidFill>
                <a:latin typeface="Calibri" panose="020F0502020204030204" pitchFamily="34" charset="0"/>
              </a:rPr>
              <a:t>Write every outbound order back to SFTP as EDIFACT, including a rejected order.</a:t>
            </a:r>
          </a:p>
        </p:txBody>
      </p:sp>
      <p:sp>
        <p:nvSpPr>
          <p:cNvPr id="8" name="Rectangle: Rounded Corners 7">
            <a:extLst>
              <a:ext uri="{FF2B5EF4-FFF2-40B4-BE49-F238E27FC236}">
                <a16:creationId xmlns:a16="http://schemas.microsoft.com/office/drawing/2014/main" id="{39FAE2F0-B8B1-2641-58BB-04FB4CB7C047}"/>
              </a:ext>
            </a:extLst>
          </p:cNvPr>
          <p:cNvSpPr/>
          <p:nvPr/>
        </p:nvSpPr>
        <p:spPr>
          <a:xfrm>
            <a:off x="1143000" y="4953000"/>
            <a:ext cx="2794000" cy="762000"/>
          </a:xfrm>
          <a:prstGeom prst="roundRect">
            <a:avLst/>
          </a:prstGeom>
          <a:solidFill>
            <a:srgbClr val="F2F2F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rIns="76200" rtlCol="0" anchor="ctr"/>
          <a:lstStyle/>
          <a:p>
            <a:pPr algn="ctr"/>
            <a:r>
              <a:rPr lang="en-US" sz="1500" b="1">
                <a:solidFill>
                  <a:srgbClr val="404040"/>
                </a:solidFill>
                <a:latin typeface="Calibri" panose="020F0502020204030204" pitchFamily="34" charset="0"/>
              </a:rPr>
              <a:t>Harbor Retail (buyer)</a:t>
            </a:r>
          </a:p>
        </p:txBody>
      </p:sp>
      <p:sp>
        <p:nvSpPr>
          <p:cNvPr id="9" name="Rectangle: Rounded Corners 8">
            <a:extLst>
              <a:ext uri="{FF2B5EF4-FFF2-40B4-BE49-F238E27FC236}">
                <a16:creationId xmlns:a16="http://schemas.microsoft.com/office/drawing/2014/main" id="{E3ABD669-F74E-6989-7491-2BBC3CDA1ABE}"/>
              </a:ext>
            </a:extLst>
          </p:cNvPr>
          <p:cNvSpPr/>
          <p:nvPr/>
        </p:nvSpPr>
        <p:spPr>
          <a:xfrm>
            <a:off x="4699000" y="4953000"/>
            <a:ext cx="2794000" cy="762000"/>
          </a:xfrm>
          <a:prstGeom prst="roundRect">
            <a:avLst/>
          </a:prstGeom>
          <a:solidFill>
            <a:srgbClr val="DEEB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rIns="76200" rtlCol="0" anchor="ctr"/>
          <a:lstStyle/>
          <a:p>
            <a:pPr algn="ctr"/>
            <a:r>
              <a:rPr lang="en-US" sz="1500" b="1">
                <a:solidFill>
                  <a:srgbClr val="1F3864"/>
                </a:solidFill>
                <a:latin typeface="Calibri" panose="020F0502020204030204" pitchFamily="34" charset="0"/>
              </a:rPr>
              <a:t>EDIFACT ORDERS D.96A</a:t>
            </a:r>
          </a:p>
        </p:txBody>
      </p:sp>
      <p:sp>
        <p:nvSpPr>
          <p:cNvPr id="10" name="Rectangle: Rounded Corners 9">
            <a:extLst>
              <a:ext uri="{FF2B5EF4-FFF2-40B4-BE49-F238E27FC236}">
                <a16:creationId xmlns:a16="http://schemas.microsoft.com/office/drawing/2014/main" id="{20B2F8A7-F638-2AD5-71DD-5E532A789F4D}"/>
              </a:ext>
            </a:extLst>
          </p:cNvPr>
          <p:cNvSpPr/>
          <p:nvPr/>
        </p:nvSpPr>
        <p:spPr>
          <a:xfrm>
            <a:off x="8255000" y="4953000"/>
            <a:ext cx="2794000" cy="762000"/>
          </a:xfrm>
          <a:prstGeom prst="roundRect">
            <a:avLst/>
          </a:prstGeom>
          <a:solidFill>
            <a:srgbClr val="1F386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rIns="76200" rtlCol="0" anchor="ctr"/>
          <a:lstStyle/>
          <a:p>
            <a:pPr algn="ctr"/>
            <a:r>
              <a:rPr lang="en-US" sz="1500" b="1">
                <a:solidFill>
                  <a:srgbClr val="FFFFFF"/>
                </a:solidFill>
                <a:latin typeface="Calibri" panose="020F0502020204030204" pitchFamily="34" charset="0"/>
              </a:rPr>
              <a:t>Northwind with MuleSoft</a:t>
            </a:r>
          </a:p>
        </p:txBody>
      </p:sp>
      <p:cxnSp>
        <p:nvCxnSpPr>
          <p:cNvPr id="11" name="Straight Connector 10">
            <a:extLst>
              <a:ext uri="{FF2B5EF4-FFF2-40B4-BE49-F238E27FC236}">
                <a16:creationId xmlns:a16="http://schemas.microsoft.com/office/drawing/2014/main" id="{DFDD254F-C3C5-376B-8CA2-63AD425DE536}"/>
              </a:ext>
            </a:extLst>
          </p:cNvPr>
          <p:cNvCxnSpPr/>
          <p:nvPr/>
        </p:nvCxnSpPr>
        <p:spPr>
          <a:xfrm>
            <a:off x="3937000" y="5334000"/>
            <a:ext cx="762000" cy="0"/>
          </a:xfrm>
          <a:prstGeom prst="line">
            <a:avLst/>
          </a:prstGeom>
          <a:ln w="22225">
            <a:solidFill>
              <a:srgbClr val="767676"/>
            </a:solidFill>
            <a:tailEnd type="triangle"/>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0D693F31-E29C-AA44-D232-045057E22C37}"/>
              </a:ext>
            </a:extLst>
          </p:cNvPr>
          <p:cNvCxnSpPr/>
          <p:nvPr/>
        </p:nvCxnSpPr>
        <p:spPr>
          <a:xfrm>
            <a:off x="7493000" y="5334000"/>
            <a:ext cx="762000" cy="0"/>
          </a:xfrm>
          <a:prstGeom prst="line">
            <a:avLst/>
          </a:prstGeom>
          <a:ln w="22225">
            <a:solidFill>
              <a:srgbClr val="767676"/>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E0B68313-38C1-CD8F-BF46-9AEB060D3779}"/>
              </a:ext>
            </a:extLst>
          </p:cNvPr>
          <p:cNvSpPr txBox="1"/>
          <p:nvPr/>
        </p:nvSpPr>
        <p:spPr>
          <a:xfrm>
            <a:off x="508000" y="5905500"/>
            <a:ext cx="11176000" cy="276999"/>
          </a:xfrm>
          <a:prstGeom prst="rect">
            <a:avLst/>
          </a:prstGeom>
          <a:noFill/>
        </p:spPr>
        <p:txBody>
          <a:bodyPr vert="horz" wrap="square" rtlCol="0">
            <a:spAutoFit/>
          </a:bodyPr>
          <a:lstStyle/>
          <a:p>
            <a:pPr algn="ctr"/>
            <a:r>
              <a:rPr lang="en-US" sz="1200">
                <a:solidFill>
                  <a:srgbClr val="767676"/>
                </a:solidFill>
                <a:latin typeface="Calibri" panose="020F0502020204030204" pitchFamily="34" charset="0"/>
              </a:rPr>
              <a:t>The company names are illustrative. No ERP or partner system is connected in this POC.</a:t>
            </a:r>
          </a:p>
        </p:txBody>
      </p:sp>
    </p:spTree>
    <p:extLst>
      <p:ext uri="{BB962C8B-B14F-4D97-AF65-F5344CB8AC3E}">
        <p14:creationId xmlns:p14="http://schemas.microsoft.com/office/powerpoint/2010/main" val="4465451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5680842-7199-AAD0-F049-F4918F24E0EF}"/>
              </a:ext>
            </a:extLst>
          </p:cNvPr>
          <p:cNvSpPr/>
          <p:nvPr/>
        </p:nvSpPr>
        <p:spPr>
          <a:xfrm>
            <a:off x="0" y="0"/>
            <a:ext cx="12192000" cy="914400"/>
          </a:xfrm>
          <a:prstGeom prst="rect">
            <a:avLst/>
          </a:prstGeom>
          <a:solidFill>
            <a:srgbClr val="1F386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0" rtlCol="0" anchor="ctr"/>
          <a:lstStyle/>
          <a:p>
            <a:r>
              <a:rPr lang="en-US" sz="2600" b="1">
                <a:solidFill>
                  <a:srgbClr val="FFFFFF"/>
                </a:solidFill>
                <a:latin typeface="Calibri" panose="020F0502020204030204" pitchFamily="34" charset="0"/>
              </a:rPr>
              <a:t>Goals</a:t>
            </a:r>
          </a:p>
        </p:txBody>
      </p:sp>
      <p:sp>
        <p:nvSpPr>
          <p:cNvPr id="3" name="Rectangle 2">
            <a:extLst>
              <a:ext uri="{FF2B5EF4-FFF2-40B4-BE49-F238E27FC236}">
                <a16:creationId xmlns:a16="http://schemas.microsoft.com/office/drawing/2014/main" id="{F932762E-04C1-CA8B-D85F-EBCD70C01999}"/>
              </a:ext>
            </a:extLst>
          </p:cNvPr>
          <p:cNvSpPr/>
          <p:nvPr/>
        </p:nvSpPr>
        <p:spPr>
          <a:xfrm>
            <a:off x="0" y="914400"/>
            <a:ext cx="12192000" cy="50800"/>
          </a:xfrm>
          <a:prstGeom prst="rect">
            <a:avLst/>
          </a:prstGeom>
          <a:solidFill>
            <a:srgbClr val="2E75B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A6C7481-C282-23AD-418D-AD667DCDF9D8}"/>
              </a:ext>
            </a:extLst>
          </p:cNvPr>
          <p:cNvSpPr txBox="1"/>
          <p:nvPr/>
        </p:nvSpPr>
        <p:spPr>
          <a:xfrm>
            <a:off x="508000" y="6413500"/>
            <a:ext cx="7620000" cy="246221"/>
          </a:xfrm>
          <a:prstGeom prst="rect">
            <a:avLst/>
          </a:prstGeom>
          <a:noFill/>
        </p:spPr>
        <p:txBody>
          <a:bodyPr vert="horz" wrap="square" rtlCol="0">
            <a:spAutoFit/>
          </a:bodyPr>
          <a:lstStyle/>
          <a:p>
            <a:r>
              <a:rPr lang="en-US" sz="1000">
                <a:solidFill>
                  <a:srgbClr val="767676"/>
                </a:solidFill>
                <a:latin typeface="Calibri" panose="020F0502020204030204" pitchFamily="34" charset="0"/>
              </a:rPr>
              <a:t>EDIFACT Orders POC</a:t>
            </a:r>
          </a:p>
        </p:txBody>
      </p:sp>
      <p:sp>
        <p:nvSpPr>
          <p:cNvPr id="5" name="TextBox 4">
            <a:extLst>
              <a:ext uri="{FF2B5EF4-FFF2-40B4-BE49-F238E27FC236}">
                <a16:creationId xmlns:a16="http://schemas.microsoft.com/office/drawing/2014/main" id="{2846682C-ED70-263D-1EFF-D4BE434CCBA3}"/>
              </a:ext>
            </a:extLst>
          </p:cNvPr>
          <p:cNvSpPr txBox="1"/>
          <p:nvPr/>
        </p:nvSpPr>
        <p:spPr>
          <a:xfrm>
            <a:off x="10414000" y="6413500"/>
            <a:ext cx="1270000" cy="246221"/>
          </a:xfrm>
          <a:prstGeom prst="rect">
            <a:avLst/>
          </a:prstGeom>
          <a:noFill/>
        </p:spPr>
        <p:txBody>
          <a:bodyPr vert="horz" wrap="square" rtlCol="0">
            <a:spAutoFit/>
          </a:bodyPr>
          <a:lstStyle/>
          <a:p>
            <a:pPr algn="r"/>
            <a:r>
              <a:rPr lang="en-US" sz="1000">
                <a:solidFill>
                  <a:srgbClr val="767676"/>
                </a:solidFill>
                <a:latin typeface="Calibri" panose="020F0502020204030204" pitchFamily="34" charset="0"/>
              </a:rPr>
              <a:t>3</a:t>
            </a:r>
          </a:p>
        </p:txBody>
      </p:sp>
      <p:sp>
        <p:nvSpPr>
          <p:cNvPr id="6" name="Oval 5">
            <a:extLst>
              <a:ext uri="{FF2B5EF4-FFF2-40B4-BE49-F238E27FC236}">
                <a16:creationId xmlns:a16="http://schemas.microsoft.com/office/drawing/2014/main" id="{A1531AF3-A3E0-5AD6-8C56-8420663F71EA}"/>
              </a:ext>
            </a:extLst>
          </p:cNvPr>
          <p:cNvSpPr/>
          <p:nvPr/>
        </p:nvSpPr>
        <p:spPr>
          <a:xfrm>
            <a:off x="508000" y="1524000"/>
            <a:ext cx="558800" cy="558800"/>
          </a:xfrm>
          <a:prstGeom prst="ellipse">
            <a:avLst/>
          </a:prstGeom>
          <a:solidFill>
            <a:srgbClr val="1F386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rIns="76200" rtlCol="0" anchor="ctr"/>
          <a:lstStyle/>
          <a:p>
            <a:pPr algn="ctr"/>
            <a:r>
              <a:rPr lang="en-US" b="1">
                <a:solidFill>
                  <a:srgbClr val="FFFFFF"/>
                </a:solidFill>
                <a:latin typeface="Calibri" panose="020F0502020204030204" pitchFamily="34" charset="0"/>
              </a:rPr>
              <a:t>1</a:t>
            </a:r>
          </a:p>
        </p:txBody>
      </p:sp>
      <p:sp>
        <p:nvSpPr>
          <p:cNvPr id="7" name="Rectangle 6">
            <a:extLst>
              <a:ext uri="{FF2B5EF4-FFF2-40B4-BE49-F238E27FC236}">
                <a16:creationId xmlns:a16="http://schemas.microsoft.com/office/drawing/2014/main" id="{DE024042-274A-E30F-AD98-8817F9F4E74B}"/>
              </a:ext>
            </a:extLst>
          </p:cNvPr>
          <p:cNvSpPr/>
          <p:nvPr/>
        </p:nvSpPr>
        <p:spPr>
          <a:xfrm>
            <a:off x="508000" y="2286000"/>
            <a:ext cx="2133600" cy="3175000"/>
          </a:xfrm>
          <a:prstGeom prst="rect">
            <a:avLst/>
          </a:prstGeom>
          <a:solidFill>
            <a:srgbClr val="F2F7FC"/>
          </a:solidFill>
          <a:ln>
            <a:solidFill>
              <a:srgbClr val="DEEBF7"/>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27000" rIns="152400" rtlCol="0" anchor="t"/>
          <a:lstStyle/>
          <a:p>
            <a:pPr>
              <a:spcAft>
                <a:spcPts val="600"/>
              </a:spcAft>
            </a:pPr>
            <a:r>
              <a:rPr lang="en-US" sz="1600" b="1">
                <a:solidFill>
                  <a:srgbClr val="1F3864"/>
                </a:solidFill>
                <a:latin typeface="Calibri" panose="020F0502020204030204" pitchFamily="34" charset="0"/>
              </a:rPr>
              <a:t>Parse and validate</a:t>
            </a:r>
          </a:p>
          <a:p>
            <a:r>
              <a:rPr lang="en-US" sz="1400">
                <a:solidFill>
                  <a:srgbClr val="404040"/>
                </a:solidFill>
                <a:latin typeface="Calibri" panose="020F0502020204030204" pitchFamily="34" charset="0"/>
              </a:rPr>
              <a:t>Read EDIFACT ORDERS D.96A from the SFTP edi directory with the MuleSoft EDIFACT EDI Connector.</a:t>
            </a:r>
          </a:p>
        </p:txBody>
      </p:sp>
      <p:sp>
        <p:nvSpPr>
          <p:cNvPr id="8" name="Rectangle 7">
            <a:extLst>
              <a:ext uri="{FF2B5EF4-FFF2-40B4-BE49-F238E27FC236}">
                <a16:creationId xmlns:a16="http://schemas.microsoft.com/office/drawing/2014/main" id="{72C43EE0-53B4-D93E-A380-737B54465CD5}"/>
              </a:ext>
            </a:extLst>
          </p:cNvPr>
          <p:cNvSpPr/>
          <p:nvPr/>
        </p:nvSpPr>
        <p:spPr>
          <a:xfrm>
            <a:off x="508000" y="2286000"/>
            <a:ext cx="63500" cy="3175000"/>
          </a:xfrm>
          <a:prstGeom prst="rect">
            <a:avLst/>
          </a:prstGeom>
          <a:solidFill>
            <a:srgbClr val="2E75B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3AC33F43-2B5F-34A9-7862-05D7A5DC794F}"/>
              </a:ext>
            </a:extLst>
          </p:cNvPr>
          <p:cNvSpPr/>
          <p:nvPr/>
        </p:nvSpPr>
        <p:spPr>
          <a:xfrm>
            <a:off x="2768600" y="1524000"/>
            <a:ext cx="558800" cy="558800"/>
          </a:xfrm>
          <a:prstGeom prst="ellipse">
            <a:avLst/>
          </a:prstGeom>
          <a:solidFill>
            <a:srgbClr val="1F386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rIns="76200" rtlCol="0" anchor="ctr"/>
          <a:lstStyle/>
          <a:p>
            <a:pPr algn="ctr"/>
            <a:r>
              <a:rPr lang="en-US" b="1">
                <a:solidFill>
                  <a:srgbClr val="FFFFFF"/>
                </a:solidFill>
                <a:latin typeface="Calibri" panose="020F0502020204030204" pitchFamily="34" charset="0"/>
              </a:rPr>
              <a:t>2</a:t>
            </a:r>
          </a:p>
        </p:txBody>
      </p:sp>
      <p:sp>
        <p:nvSpPr>
          <p:cNvPr id="10" name="Rectangle 9">
            <a:extLst>
              <a:ext uri="{FF2B5EF4-FFF2-40B4-BE49-F238E27FC236}">
                <a16:creationId xmlns:a16="http://schemas.microsoft.com/office/drawing/2014/main" id="{6BA16CF7-1A3F-6416-8B88-0C6B43C9D8AD}"/>
              </a:ext>
            </a:extLst>
          </p:cNvPr>
          <p:cNvSpPr/>
          <p:nvPr/>
        </p:nvSpPr>
        <p:spPr>
          <a:xfrm>
            <a:off x="2768600" y="2286000"/>
            <a:ext cx="2133600" cy="3175000"/>
          </a:xfrm>
          <a:prstGeom prst="rect">
            <a:avLst/>
          </a:prstGeom>
          <a:solidFill>
            <a:srgbClr val="F2F7FC"/>
          </a:solidFill>
          <a:ln>
            <a:solidFill>
              <a:srgbClr val="DEEBF7"/>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27000" rIns="152400" rtlCol="0" anchor="t"/>
          <a:lstStyle/>
          <a:p>
            <a:pPr>
              <a:spcAft>
                <a:spcPts val="600"/>
              </a:spcAft>
            </a:pPr>
            <a:r>
              <a:rPr lang="en-US" sz="1600" b="1">
                <a:solidFill>
                  <a:srgbClr val="1F3864"/>
                </a:solidFill>
                <a:latin typeface="Calibri" panose="020F0502020204030204" pitchFamily="34" charset="0"/>
              </a:rPr>
              <a:t>Map</a:t>
            </a:r>
          </a:p>
          <a:p>
            <a:r>
              <a:rPr lang="en-US" sz="1400">
                <a:solidFill>
                  <a:srgbClr val="404040"/>
                </a:solidFill>
                <a:latin typeface="Calibri" panose="020F0502020204030204" pitchFamily="34" charset="0"/>
              </a:rPr>
              <a:t>Convert EDIFACT segments into one canonical purchase order.</a:t>
            </a:r>
          </a:p>
        </p:txBody>
      </p:sp>
      <p:sp>
        <p:nvSpPr>
          <p:cNvPr id="11" name="Rectangle 10">
            <a:extLst>
              <a:ext uri="{FF2B5EF4-FFF2-40B4-BE49-F238E27FC236}">
                <a16:creationId xmlns:a16="http://schemas.microsoft.com/office/drawing/2014/main" id="{65AEAD19-FADD-524C-6076-9700F394DCD1}"/>
              </a:ext>
            </a:extLst>
          </p:cNvPr>
          <p:cNvSpPr/>
          <p:nvPr/>
        </p:nvSpPr>
        <p:spPr>
          <a:xfrm>
            <a:off x="2768600" y="2286000"/>
            <a:ext cx="63500" cy="3175000"/>
          </a:xfrm>
          <a:prstGeom prst="rect">
            <a:avLst/>
          </a:prstGeom>
          <a:solidFill>
            <a:srgbClr val="2E75B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279F7AA-E244-035C-478A-615561858713}"/>
              </a:ext>
            </a:extLst>
          </p:cNvPr>
          <p:cNvSpPr/>
          <p:nvPr/>
        </p:nvSpPr>
        <p:spPr>
          <a:xfrm>
            <a:off x="5029200" y="1524000"/>
            <a:ext cx="558800" cy="558800"/>
          </a:xfrm>
          <a:prstGeom prst="ellipse">
            <a:avLst/>
          </a:prstGeom>
          <a:solidFill>
            <a:srgbClr val="1F386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rIns="76200" rtlCol="0" anchor="ctr"/>
          <a:lstStyle/>
          <a:p>
            <a:pPr algn="ctr"/>
            <a:r>
              <a:rPr lang="en-US" b="1">
                <a:solidFill>
                  <a:srgbClr val="FFFFFF"/>
                </a:solidFill>
                <a:latin typeface="Calibri" panose="020F0502020204030204" pitchFamily="34" charset="0"/>
              </a:rPr>
              <a:t>3</a:t>
            </a:r>
          </a:p>
        </p:txBody>
      </p:sp>
      <p:sp>
        <p:nvSpPr>
          <p:cNvPr id="13" name="Rectangle 12">
            <a:extLst>
              <a:ext uri="{FF2B5EF4-FFF2-40B4-BE49-F238E27FC236}">
                <a16:creationId xmlns:a16="http://schemas.microsoft.com/office/drawing/2014/main" id="{0E2DCBCA-A726-8455-6634-1F8A796DBECA}"/>
              </a:ext>
            </a:extLst>
          </p:cNvPr>
          <p:cNvSpPr/>
          <p:nvPr/>
        </p:nvSpPr>
        <p:spPr>
          <a:xfrm>
            <a:off x="5029200" y="2286000"/>
            <a:ext cx="2133600" cy="3175000"/>
          </a:xfrm>
          <a:prstGeom prst="rect">
            <a:avLst/>
          </a:prstGeom>
          <a:solidFill>
            <a:srgbClr val="F2F7FC"/>
          </a:solidFill>
          <a:ln>
            <a:solidFill>
              <a:srgbClr val="DEEBF7"/>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27000" rIns="152400" rtlCol="0" anchor="t"/>
          <a:lstStyle/>
          <a:p>
            <a:pPr>
              <a:spcAft>
                <a:spcPts val="600"/>
              </a:spcAft>
            </a:pPr>
            <a:r>
              <a:rPr lang="en-US" sz="1600" b="1">
                <a:solidFill>
                  <a:srgbClr val="1F3864"/>
                </a:solidFill>
                <a:latin typeface="Calibri" panose="020F0502020204030204" pitchFamily="34" charset="0"/>
              </a:rPr>
              <a:t>Apply rules</a:t>
            </a:r>
          </a:p>
          <a:p>
            <a:r>
              <a:rPr lang="en-US" sz="1400">
                <a:solidFill>
                  <a:srgbClr val="404040"/>
                </a:solidFill>
                <a:latin typeface="Calibri" panose="020F0502020204030204" pitchFamily="34" charset="0"/>
              </a:rPr>
              <a:t>Decide ACCEPTED or REJECTED, with reason codes.</a:t>
            </a:r>
          </a:p>
        </p:txBody>
      </p:sp>
      <p:sp>
        <p:nvSpPr>
          <p:cNvPr id="14" name="Rectangle 13">
            <a:extLst>
              <a:ext uri="{FF2B5EF4-FFF2-40B4-BE49-F238E27FC236}">
                <a16:creationId xmlns:a16="http://schemas.microsoft.com/office/drawing/2014/main" id="{B01A3A33-D871-7918-DD59-A0C7015AE5FF}"/>
              </a:ext>
            </a:extLst>
          </p:cNvPr>
          <p:cNvSpPr/>
          <p:nvPr/>
        </p:nvSpPr>
        <p:spPr>
          <a:xfrm>
            <a:off x="5029200" y="2286000"/>
            <a:ext cx="63500" cy="3175000"/>
          </a:xfrm>
          <a:prstGeom prst="rect">
            <a:avLst/>
          </a:prstGeom>
          <a:solidFill>
            <a:srgbClr val="2E75B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870D17F6-B106-D739-C2DD-30978ADF97CB}"/>
              </a:ext>
            </a:extLst>
          </p:cNvPr>
          <p:cNvSpPr/>
          <p:nvPr/>
        </p:nvSpPr>
        <p:spPr>
          <a:xfrm>
            <a:off x="7289800" y="1524000"/>
            <a:ext cx="558800" cy="558800"/>
          </a:xfrm>
          <a:prstGeom prst="ellipse">
            <a:avLst/>
          </a:prstGeom>
          <a:solidFill>
            <a:srgbClr val="1F386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rIns="76200" rtlCol="0" anchor="ctr"/>
          <a:lstStyle/>
          <a:p>
            <a:pPr algn="ctr"/>
            <a:r>
              <a:rPr lang="en-US" b="1">
                <a:solidFill>
                  <a:srgbClr val="FFFFFF"/>
                </a:solidFill>
                <a:latin typeface="Calibri" panose="020F0502020204030204" pitchFamily="34" charset="0"/>
              </a:rPr>
              <a:t>4</a:t>
            </a:r>
          </a:p>
        </p:txBody>
      </p:sp>
      <p:sp>
        <p:nvSpPr>
          <p:cNvPr id="16" name="Rectangle 15">
            <a:extLst>
              <a:ext uri="{FF2B5EF4-FFF2-40B4-BE49-F238E27FC236}">
                <a16:creationId xmlns:a16="http://schemas.microsoft.com/office/drawing/2014/main" id="{5B28E906-292A-F068-FF0F-9C738C2822E8}"/>
              </a:ext>
            </a:extLst>
          </p:cNvPr>
          <p:cNvSpPr/>
          <p:nvPr/>
        </p:nvSpPr>
        <p:spPr>
          <a:xfrm>
            <a:off x="7289800" y="2286000"/>
            <a:ext cx="2133600" cy="3175000"/>
          </a:xfrm>
          <a:prstGeom prst="rect">
            <a:avLst/>
          </a:prstGeom>
          <a:solidFill>
            <a:srgbClr val="F2F7FC"/>
          </a:solidFill>
          <a:ln>
            <a:solidFill>
              <a:srgbClr val="DEEBF7"/>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27000" rIns="152400" rtlCol="0" anchor="t"/>
          <a:lstStyle/>
          <a:p>
            <a:pPr>
              <a:spcAft>
                <a:spcPts val="600"/>
              </a:spcAft>
            </a:pPr>
            <a:r>
              <a:rPr lang="en-US" sz="1600" b="1">
                <a:solidFill>
                  <a:srgbClr val="1F3864"/>
                </a:solidFill>
                <a:latin typeface="Calibri" panose="020F0502020204030204" pitchFamily="34" charset="0"/>
              </a:rPr>
              <a:t>Convert</a:t>
            </a:r>
          </a:p>
          <a:p>
            <a:r>
              <a:rPr lang="en-US" sz="1400">
                <a:solidFill>
                  <a:srgbClr val="404040"/>
                </a:solidFill>
                <a:latin typeface="Calibri" panose="020F0502020204030204" pitchFamily="34" charset="0"/>
              </a:rPr>
              <a:t>Write JSON and XML to SFTP, and write EDIFACT for every outbound order.</a:t>
            </a:r>
          </a:p>
        </p:txBody>
      </p:sp>
      <p:sp>
        <p:nvSpPr>
          <p:cNvPr id="17" name="Rectangle 16">
            <a:extLst>
              <a:ext uri="{FF2B5EF4-FFF2-40B4-BE49-F238E27FC236}">
                <a16:creationId xmlns:a16="http://schemas.microsoft.com/office/drawing/2014/main" id="{C0EB19FC-45D7-E717-3A8B-E24F64D98320}"/>
              </a:ext>
            </a:extLst>
          </p:cNvPr>
          <p:cNvSpPr/>
          <p:nvPr/>
        </p:nvSpPr>
        <p:spPr>
          <a:xfrm>
            <a:off x="7289800" y="2286000"/>
            <a:ext cx="63500" cy="3175000"/>
          </a:xfrm>
          <a:prstGeom prst="rect">
            <a:avLst/>
          </a:prstGeom>
          <a:solidFill>
            <a:srgbClr val="2E75B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5343687-5775-D8D9-ADCB-13BF5CB96123}"/>
              </a:ext>
            </a:extLst>
          </p:cNvPr>
          <p:cNvSpPr/>
          <p:nvPr/>
        </p:nvSpPr>
        <p:spPr>
          <a:xfrm>
            <a:off x="9550400" y="1524000"/>
            <a:ext cx="558800" cy="558800"/>
          </a:xfrm>
          <a:prstGeom prst="ellipse">
            <a:avLst/>
          </a:prstGeom>
          <a:solidFill>
            <a:srgbClr val="1F386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rIns="76200" rtlCol="0" anchor="ctr"/>
          <a:lstStyle/>
          <a:p>
            <a:pPr algn="ctr"/>
            <a:r>
              <a:rPr lang="en-US" b="1">
                <a:solidFill>
                  <a:srgbClr val="FFFFFF"/>
                </a:solidFill>
                <a:latin typeface="Calibri" panose="020F0502020204030204" pitchFamily="34" charset="0"/>
              </a:rPr>
              <a:t>5</a:t>
            </a:r>
          </a:p>
        </p:txBody>
      </p:sp>
      <p:sp>
        <p:nvSpPr>
          <p:cNvPr id="19" name="Rectangle 18">
            <a:extLst>
              <a:ext uri="{FF2B5EF4-FFF2-40B4-BE49-F238E27FC236}">
                <a16:creationId xmlns:a16="http://schemas.microsoft.com/office/drawing/2014/main" id="{C653C505-2FC8-9FEE-5FBA-0FFC340C804B}"/>
              </a:ext>
            </a:extLst>
          </p:cNvPr>
          <p:cNvSpPr/>
          <p:nvPr/>
        </p:nvSpPr>
        <p:spPr>
          <a:xfrm>
            <a:off x="9550400" y="2286000"/>
            <a:ext cx="2133600" cy="3175000"/>
          </a:xfrm>
          <a:prstGeom prst="rect">
            <a:avLst/>
          </a:prstGeom>
          <a:solidFill>
            <a:srgbClr val="F2F7FC"/>
          </a:solidFill>
          <a:ln>
            <a:solidFill>
              <a:srgbClr val="DEEBF7"/>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27000" rIns="152400" rtlCol="0" anchor="t"/>
          <a:lstStyle/>
          <a:p>
            <a:pPr>
              <a:spcAft>
                <a:spcPts val="600"/>
              </a:spcAft>
            </a:pPr>
            <a:r>
              <a:rPr lang="en-US" sz="1600" b="1">
                <a:solidFill>
                  <a:srgbClr val="1F3864"/>
                </a:solidFill>
                <a:latin typeface="Calibri" panose="020F0502020204030204" pitchFamily="34" charset="0"/>
              </a:rPr>
              <a:t>SFTP file store</a:t>
            </a:r>
          </a:p>
          <a:p>
            <a:r>
              <a:rPr lang="en-US" sz="1400">
                <a:solidFill>
                  <a:srgbClr val="404040"/>
                </a:solidFill>
                <a:latin typeface="Calibri" panose="020F0502020204030204" pitchFamily="34" charset="0"/>
              </a:rPr>
              <a:t>Keep samples in the project, then copy them into four SFTP directories for the demo.</a:t>
            </a:r>
          </a:p>
        </p:txBody>
      </p:sp>
      <p:sp>
        <p:nvSpPr>
          <p:cNvPr id="20" name="Rectangle 19">
            <a:extLst>
              <a:ext uri="{FF2B5EF4-FFF2-40B4-BE49-F238E27FC236}">
                <a16:creationId xmlns:a16="http://schemas.microsoft.com/office/drawing/2014/main" id="{0719A390-CDA4-855F-36C3-8FC48D045C35}"/>
              </a:ext>
            </a:extLst>
          </p:cNvPr>
          <p:cNvSpPr/>
          <p:nvPr/>
        </p:nvSpPr>
        <p:spPr>
          <a:xfrm>
            <a:off x="9550400" y="2286000"/>
            <a:ext cx="63500" cy="3175000"/>
          </a:xfrm>
          <a:prstGeom prst="rect">
            <a:avLst/>
          </a:prstGeom>
          <a:solidFill>
            <a:srgbClr val="2E75B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641785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5710C8F-D218-BAB0-386F-0F5652E91AE0}"/>
              </a:ext>
            </a:extLst>
          </p:cNvPr>
          <p:cNvSpPr/>
          <p:nvPr/>
        </p:nvSpPr>
        <p:spPr>
          <a:xfrm>
            <a:off x="0" y="0"/>
            <a:ext cx="12192000" cy="914400"/>
          </a:xfrm>
          <a:prstGeom prst="rect">
            <a:avLst/>
          </a:prstGeom>
          <a:solidFill>
            <a:srgbClr val="1F386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0" rtlCol="0" anchor="ctr"/>
          <a:lstStyle/>
          <a:p>
            <a:r>
              <a:rPr lang="en-US" sz="2600" b="1">
                <a:solidFill>
                  <a:srgbClr val="FFFFFF"/>
                </a:solidFill>
                <a:latin typeface="Calibri" panose="020F0502020204030204" pitchFamily="34" charset="0"/>
              </a:rPr>
              <a:t>Architecture</a:t>
            </a:r>
          </a:p>
        </p:txBody>
      </p:sp>
      <p:sp>
        <p:nvSpPr>
          <p:cNvPr id="3" name="Rectangle 2">
            <a:extLst>
              <a:ext uri="{FF2B5EF4-FFF2-40B4-BE49-F238E27FC236}">
                <a16:creationId xmlns:a16="http://schemas.microsoft.com/office/drawing/2014/main" id="{B2CB01DC-A41D-1F0C-891F-56B22C7F6A20}"/>
              </a:ext>
            </a:extLst>
          </p:cNvPr>
          <p:cNvSpPr/>
          <p:nvPr/>
        </p:nvSpPr>
        <p:spPr>
          <a:xfrm>
            <a:off x="0" y="914400"/>
            <a:ext cx="12192000" cy="50800"/>
          </a:xfrm>
          <a:prstGeom prst="rect">
            <a:avLst/>
          </a:prstGeom>
          <a:solidFill>
            <a:srgbClr val="2E75B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88C7F2D-4917-1C73-1892-960707298997}"/>
              </a:ext>
            </a:extLst>
          </p:cNvPr>
          <p:cNvSpPr txBox="1"/>
          <p:nvPr/>
        </p:nvSpPr>
        <p:spPr>
          <a:xfrm>
            <a:off x="508000" y="6413500"/>
            <a:ext cx="7620000" cy="246221"/>
          </a:xfrm>
          <a:prstGeom prst="rect">
            <a:avLst/>
          </a:prstGeom>
          <a:noFill/>
        </p:spPr>
        <p:txBody>
          <a:bodyPr vert="horz" wrap="square" rtlCol="0">
            <a:spAutoFit/>
          </a:bodyPr>
          <a:lstStyle/>
          <a:p>
            <a:r>
              <a:rPr lang="en-US" sz="1000">
                <a:solidFill>
                  <a:srgbClr val="767676"/>
                </a:solidFill>
                <a:latin typeface="Calibri" panose="020F0502020204030204" pitchFamily="34" charset="0"/>
              </a:rPr>
              <a:t>EDIFACT Orders POC</a:t>
            </a:r>
          </a:p>
        </p:txBody>
      </p:sp>
      <p:sp>
        <p:nvSpPr>
          <p:cNvPr id="5" name="TextBox 4">
            <a:extLst>
              <a:ext uri="{FF2B5EF4-FFF2-40B4-BE49-F238E27FC236}">
                <a16:creationId xmlns:a16="http://schemas.microsoft.com/office/drawing/2014/main" id="{DD13FED9-9D5D-8C15-3502-B2A3778F10E0}"/>
              </a:ext>
            </a:extLst>
          </p:cNvPr>
          <p:cNvSpPr txBox="1"/>
          <p:nvPr/>
        </p:nvSpPr>
        <p:spPr>
          <a:xfrm>
            <a:off x="10414000" y="6413500"/>
            <a:ext cx="1270000" cy="246221"/>
          </a:xfrm>
          <a:prstGeom prst="rect">
            <a:avLst/>
          </a:prstGeom>
          <a:noFill/>
        </p:spPr>
        <p:txBody>
          <a:bodyPr vert="horz" wrap="square" rtlCol="0">
            <a:spAutoFit/>
          </a:bodyPr>
          <a:lstStyle/>
          <a:p>
            <a:pPr algn="r"/>
            <a:r>
              <a:rPr lang="en-US" sz="1000">
                <a:solidFill>
                  <a:srgbClr val="767676"/>
                </a:solidFill>
                <a:latin typeface="Calibri" panose="020F0502020204030204" pitchFamily="34" charset="0"/>
              </a:rPr>
              <a:t>4</a:t>
            </a:r>
          </a:p>
        </p:txBody>
      </p:sp>
      <p:sp>
        <p:nvSpPr>
          <p:cNvPr id="6" name="Rectangle: Rounded Corners 5">
            <a:extLst>
              <a:ext uri="{FF2B5EF4-FFF2-40B4-BE49-F238E27FC236}">
                <a16:creationId xmlns:a16="http://schemas.microsoft.com/office/drawing/2014/main" id="{95294380-9D29-0B79-B0A8-B1C25C9F15EC}"/>
              </a:ext>
            </a:extLst>
          </p:cNvPr>
          <p:cNvSpPr/>
          <p:nvPr/>
        </p:nvSpPr>
        <p:spPr>
          <a:xfrm>
            <a:off x="2921000" y="1270000"/>
            <a:ext cx="6350000" cy="4191000"/>
          </a:xfrm>
          <a:prstGeom prst="roundRect">
            <a:avLst>
              <a:gd name="adj" fmla="val 5000"/>
            </a:avLst>
          </a:prstGeom>
          <a:solidFill>
            <a:srgbClr val="F2F7FC"/>
          </a:solidFill>
          <a:ln w="15875">
            <a:solidFill>
              <a:srgbClr val="2E75B6"/>
            </a:solidFill>
          </a:ln>
        </p:spPr>
        <p:style>
          <a:lnRef idx="2">
            <a:schemeClr val="accent1">
              <a:shade val="15000"/>
            </a:schemeClr>
          </a:lnRef>
          <a:fillRef idx="1">
            <a:schemeClr val="accent1"/>
          </a:fillRef>
          <a:effectRef idx="0">
            <a:schemeClr val="accent1"/>
          </a:effectRef>
          <a:fontRef idx="minor">
            <a:schemeClr val="lt1"/>
          </a:fontRef>
        </p:style>
        <p:txBody>
          <a:bodyPr wrap="square" tIns="101600" rtlCol="0" anchor="t"/>
          <a:lstStyle/>
          <a:p>
            <a:pPr algn="ctr"/>
            <a:r>
              <a:rPr lang="en-US" sz="1300" b="1">
                <a:solidFill>
                  <a:srgbClr val="1F3864"/>
                </a:solidFill>
                <a:latin typeface="Calibri" panose="020F0502020204030204" pitchFamily="34" charset="0"/>
              </a:rPr>
              <a:t>Mule 4.12.2 application: edifact-orders-poc</a:t>
            </a:r>
          </a:p>
        </p:txBody>
      </p:sp>
      <p:sp>
        <p:nvSpPr>
          <p:cNvPr id="7" name="Rectangle: Rounded Corners 6">
            <a:extLst>
              <a:ext uri="{FF2B5EF4-FFF2-40B4-BE49-F238E27FC236}">
                <a16:creationId xmlns:a16="http://schemas.microsoft.com/office/drawing/2014/main" id="{5B68AC9D-1597-6E5E-F11E-A3715323A09B}"/>
              </a:ext>
            </a:extLst>
          </p:cNvPr>
          <p:cNvSpPr/>
          <p:nvPr/>
        </p:nvSpPr>
        <p:spPr>
          <a:xfrm>
            <a:off x="635000" y="1778000"/>
            <a:ext cx="1905000" cy="762000"/>
          </a:xfrm>
          <a:prstGeom prst="roundRect">
            <a:avLst/>
          </a:prstGeom>
          <a:solidFill>
            <a:srgbClr val="F2F2F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rIns="76200" rtlCol="0" anchor="ctr"/>
          <a:lstStyle/>
          <a:p>
            <a:pPr algn="ctr"/>
            <a:r>
              <a:rPr lang="en-US" sz="1200">
                <a:solidFill>
                  <a:srgbClr val="404040"/>
                </a:solidFill>
                <a:latin typeface="Calibri" panose="020F0502020204030204" pitchFamily="34" charset="0"/>
              </a:rPr>
              <a:t>SFTP edi  inbound EDIFACT</a:t>
            </a:r>
          </a:p>
        </p:txBody>
      </p:sp>
      <p:sp>
        <p:nvSpPr>
          <p:cNvPr id="8" name="Rectangle: Rounded Corners 7">
            <a:extLst>
              <a:ext uri="{FF2B5EF4-FFF2-40B4-BE49-F238E27FC236}">
                <a16:creationId xmlns:a16="http://schemas.microsoft.com/office/drawing/2014/main" id="{3663E8EA-C0D6-F744-461A-1589A22C391D}"/>
              </a:ext>
            </a:extLst>
          </p:cNvPr>
          <p:cNvSpPr/>
          <p:nvPr/>
        </p:nvSpPr>
        <p:spPr>
          <a:xfrm>
            <a:off x="635000" y="3429000"/>
            <a:ext cx="1905000" cy="762000"/>
          </a:xfrm>
          <a:prstGeom prst="roundRect">
            <a:avLst/>
          </a:prstGeom>
          <a:solidFill>
            <a:srgbClr val="F2F2F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rIns="76200" rtlCol="0" anchor="ctr"/>
          <a:lstStyle/>
          <a:p>
            <a:pPr algn="ctr"/>
            <a:r>
              <a:rPr lang="en-US" sz="1200">
                <a:solidFill>
                  <a:srgbClr val="404040"/>
                </a:solidFill>
                <a:latin typeface="Calibri" panose="020F0502020204030204" pitchFamily="34" charset="0"/>
              </a:rPr>
              <a:t>SFTP jsonXmlFiles  JSON or XML</a:t>
            </a:r>
          </a:p>
        </p:txBody>
      </p:sp>
      <p:sp>
        <p:nvSpPr>
          <p:cNvPr id="9" name="Rectangle: Rounded Corners 8">
            <a:extLst>
              <a:ext uri="{FF2B5EF4-FFF2-40B4-BE49-F238E27FC236}">
                <a16:creationId xmlns:a16="http://schemas.microsoft.com/office/drawing/2014/main" id="{FE2D7193-93CD-DE42-508A-B4C6442157B0}"/>
              </a:ext>
            </a:extLst>
          </p:cNvPr>
          <p:cNvSpPr/>
          <p:nvPr/>
        </p:nvSpPr>
        <p:spPr>
          <a:xfrm>
            <a:off x="3175000" y="1778000"/>
            <a:ext cx="1778000" cy="762000"/>
          </a:xfrm>
          <a:prstGeom prst="roundRect">
            <a:avLst/>
          </a:prstGeom>
          <a:solidFill>
            <a:srgbClr val="1F386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rIns="76200" rtlCol="0" anchor="ctr"/>
          <a:lstStyle/>
          <a:p>
            <a:pPr algn="ctr"/>
            <a:r>
              <a:rPr lang="en-US" sz="1100" b="1">
                <a:solidFill>
                  <a:srgbClr val="FFFFFF"/>
                </a:solidFill>
                <a:latin typeface="Calibri" panose="020F0502020204030204" pitchFamily="34" charset="0"/>
              </a:rPr>
              <a:t>GET /orders/from-edifact</a:t>
            </a:r>
          </a:p>
        </p:txBody>
      </p:sp>
      <p:sp>
        <p:nvSpPr>
          <p:cNvPr id="10" name="Rectangle: Rounded Corners 9">
            <a:extLst>
              <a:ext uri="{FF2B5EF4-FFF2-40B4-BE49-F238E27FC236}">
                <a16:creationId xmlns:a16="http://schemas.microsoft.com/office/drawing/2014/main" id="{848FD64E-DD0B-32D3-1405-C7E6A82CE779}"/>
              </a:ext>
            </a:extLst>
          </p:cNvPr>
          <p:cNvSpPr/>
          <p:nvPr/>
        </p:nvSpPr>
        <p:spPr>
          <a:xfrm>
            <a:off x="5207000" y="1778000"/>
            <a:ext cx="1778000" cy="762000"/>
          </a:xfrm>
          <a:prstGeom prst="roundRect">
            <a:avLst/>
          </a:prstGeom>
          <a:solidFill>
            <a:srgbClr val="DEEB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rIns="76200" rtlCol="0" anchor="ctr"/>
          <a:lstStyle/>
          <a:p>
            <a:pPr algn="ctr"/>
            <a:r>
              <a:rPr lang="en-US" sz="1200">
                <a:solidFill>
                  <a:srgbClr val="1F3864"/>
                </a:solidFill>
                <a:latin typeface="Calibri" panose="020F0502020204030204" pitchFamily="34" charset="0"/>
              </a:rPr>
              <a:t>EDIFACT read and validate</a:t>
            </a:r>
          </a:p>
        </p:txBody>
      </p:sp>
      <p:sp>
        <p:nvSpPr>
          <p:cNvPr id="11" name="Rectangle: Rounded Corners 10">
            <a:extLst>
              <a:ext uri="{FF2B5EF4-FFF2-40B4-BE49-F238E27FC236}">
                <a16:creationId xmlns:a16="http://schemas.microsoft.com/office/drawing/2014/main" id="{F4215B52-FE35-986D-10D5-20BBC6D0E6FD}"/>
              </a:ext>
            </a:extLst>
          </p:cNvPr>
          <p:cNvSpPr/>
          <p:nvPr/>
        </p:nvSpPr>
        <p:spPr>
          <a:xfrm>
            <a:off x="7239000" y="1778000"/>
            <a:ext cx="1778000" cy="762000"/>
          </a:xfrm>
          <a:prstGeom prst="roundRect">
            <a:avLst/>
          </a:prstGeom>
          <a:solidFill>
            <a:srgbClr val="DEEB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rIns="76200" rtlCol="0" anchor="ctr"/>
          <a:lstStyle/>
          <a:p>
            <a:pPr algn="ctr"/>
            <a:r>
              <a:rPr lang="en-US" sz="1200">
                <a:solidFill>
                  <a:srgbClr val="1F3864"/>
                </a:solidFill>
                <a:latin typeface="Calibri" panose="020F0502020204030204" pitchFamily="34" charset="0"/>
              </a:rPr>
              <a:t>Map and apply business rules</a:t>
            </a:r>
          </a:p>
        </p:txBody>
      </p:sp>
      <p:sp>
        <p:nvSpPr>
          <p:cNvPr id="12" name="Rectangle: Rounded Corners 11">
            <a:extLst>
              <a:ext uri="{FF2B5EF4-FFF2-40B4-BE49-F238E27FC236}">
                <a16:creationId xmlns:a16="http://schemas.microsoft.com/office/drawing/2014/main" id="{E55BFFD3-2FBA-941F-C73D-3D3E8AAC9FB2}"/>
              </a:ext>
            </a:extLst>
          </p:cNvPr>
          <p:cNvSpPr/>
          <p:nvPr/>
        </p:nvSpPr>
        <p:spPr>
          <a:xfrm>
            <a:off x="3175000" y="3429000"/>
            <a:ext cx="1778000" cy="762000"/>
          </a:xfrm>
          <a:prstGeom prst="roundRect">
            <a:avLst/>
          </a:prstGeom>
          <a:solidFill>
            <a:srgbClr val="1F386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rIns="76200" rtlCol="0" anchor="ctr"/>
          <a:lstStyle/>
          <a:p>
            <a:pPr algn="ctr"/>
            <a:r>
              <a:rPr lang="en-US" sz="1100" b="1">
                <a:solidFill>
                  <a:srgbClr val="FFFFFF"/>
                </a:solidFill>
                <a:latin typeface="Calibri" panose="020F0502020204030204" pitchFamily="34" charset="0"/>
              </a:rPr>
              <a:t>GET /orders/to-edifact</a:t>
            </a:r>
          </a:p>
        </p:txBody>
      </p:sp>
      <p:sp>
        <p:nvSpPr>
          <p:cNvPr id="13" name="Rectangle: Rounded Corners 12">
            <a:extLst>
              <a:ext uri="{FF2B5EF4-FFF2-40B4-BE49-F238E27FC236}">
                <a16:creationId xmlns:a16="http://schemas.microsoft.com/office/drawing/2014/main" id="{203C8F5D-4E69-6835-ED2D-7F46AE0B5E6D}"/>
              </a:ext>
            </a:extLst>
          </p:cNvPr>
          <p:cNvSpPr/>
          <p:nvPr/>
        </p:nvSpPr>
        <p:spPr>
          <a:xfrm>
            <a:off x="5207000" y="3429000"/>
            <a:ext cx="1778000" cy="762000"/>
          </a:xfrm>
          <a:prstGeom prst="roundRect">
            <a:avLst/>
          </a:prstGeom>
          <a:solidFill>
            <a:srgbClr val="DEEB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rIns="76200" rtlCol="0" anchor="ctr"/>
          <a:lstStyle/>
          <a:p>
            <a:pPr algn="ctr"/>
            <a:r>
              <a:rPr lang="en-US" sz="1200">
                <a:solidFill>
                  <a:srgbClr val="1F3864"/>
                </a:solidFill>
                <a:latin typeface="Calibri" panose="020F0502020204030204" pitchFamily="34" charset="0"/>
              </a:rPr>
              <a:t>Load JSON or XML</a:t>
            </a:r>
          </a:p>
        </p:txBody>
      </p:sp>
      <p:sp>
        <p:nvSpPr>
          <p:cNvPr id="14" name="Rectangle: Rounded Corners 13">
            <a:extLst>
              <a:ext uri="{FF2B5EF4-FFF2-40B4-BE49-F238E27FC236}">
                <a16:creationId xmlns:a16="http://schemas.microsoft.com/office/drawing/2014/main" id="{B156A695-93CF-033F-A31C-9BBA147EA885}"/>
              </a:ext>
            </a:extLst>
          </p:cNvPr>
          <p:cNvSpPr/>
          <p:nvPr/>
        </p:nvSpPr>
        <p:spPr>
          <a:xfrm>
            <a:off x="7239000" y="3429000"/>
            <a:ext cx="1778000" cy="762000"/>
          </a:xfrm>
          <a:prstGeom prst="roundRect">
            <a:avLst/>
          </a:prstGeom>
          <a:solidFill>
            <a:srgbClr val="DEEB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rIns="76200" rtlCol="0" anchor="ctr"/>
          <a:lstStyle/>
          <a:p>
            <a:pPr algn="ctr"/>
            <a:r>
              <a:rPr lang="en-US" sz="1200">
                <a:solidFill>
                  <a:srgbClr val="1F3864"/>
                </a:solidFill>
                <a:latin typeface="Calibri" panose="020F0502020204030204" pitchFamily="34" charset="0"/>
              </a:rPr>
              <a:t>Write EDIFACT for every order</a:t>
            </a:r>
          </a:p>
        </p:txBody>
      </p:sp>
      <p:sp>
        <p:nvSpPr>
          <p:cNvPr id="15" name="Rectangle 14">
            <a:extLst>
              <a:ext uri="{FF2B5EF4-FFF2-40B4-BE49-F238E27FC236}">
                <a16:creationId xmlns:a16="http://schemas.microsoft.com/office/drawing/2014/main" id="{4A6E3D04-49E8-7E2C-2D66-8DD5B6229058}"/>
              </a:ext>
            </a:extLst>
          </p:cNvPr>
          <p:cNvSpPr/>
          <p:nvPr/>
        </p:nvSpPr>
        <p:spPr>
          <a:xfrm>
            <a:off x="3175000" y="4597400"/>
            <a:ext cx="5842000" cy="6350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rIns="76200" rtlCol="0" anchor="ctr"/>
          <a:lstStyle/>
          <a:p>
            <a:pPr algn="ctr"/>
            <a:r>
              <a:rPr lang="en-US" sz="1100">
                <a:solidFill>
                  <a:srgbClr val="404040"/>
                </a:solidFill>
                <a:latin typeface="Calibri" panose="020F0502020204030204" pitchFamily="34" charset="0"/>
              </a:rPr>
              <a:t>Shared: ORDERS D.96A  |  SFTP connection  |  Canonical purchase order  |  DataWeave modules</a:t>
            </a:r>
          </a:p>
        </p:txBody>
      </p:sp>
      <p:sp>
        <p:nvSpPr>
          <p:cNvPr id="16" name="Rectangle: Rounded Corners 15">
            <a:extLst>
              <a:ext uri="{FF2B5EF4-FFF2-40B4-BE49-F238E27FC236}">
                <a16:creationId xmlns:a16="http://schemas.microsoft.com/office/drawing/2014/main" id="{8E9580EC-1B3E-82DD-88DF-70F9D0B171E2}"/>
              </a:ext>
            </a:extLst>
          </p:cNvPr>
          <p:cNvSpPr/>
          <p:nvPr/>
        </p:nvSpPr>
        <p:spPr>
          <a:xfrm>
            <a:off x="9652000" y="1778000"/>
            <a:ext cx="1905000" cy="762000"/>
          </a:xfrm>
          <a:prstGeom prst="roundRect">
            <a:avLst/>
          </a:prstGeom>
          <a:solidFill>
            <a:srgbClr val="F2F2F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rIns="76200" rtlCol="0" anchor="ctr"/>
          <a:lstStyle/>
          <a:p>
            <a:pPr algn="ctr"/>
            <a:r>
              <a:rPr lang="en-US" sz="1200">
                <a:solidFill>
                  <a:srgbClr val="404040"/>
                </a:solidFill>
                <a:latin typeface="Calibri" panose="020F0502020204030204" pitchFamily="34" charset="0"/>
              </a:rPr>
              <a:t>SFTP inboundResults  JSON and XML</a:t>
            </a:r>
          </a:p>
        </p:txBody>
      </p:sp>
      <p:sp>
        <p:nvSpPr>
          <p:cNvPr id="17" name="Rectangle: Rounded Corners 16">
            <a:extLst>
              <a:ext uri="{FF2B5EF4-FFF2-40B4-BE49-F238E27FC236}">
                <a16:creationId xmlns:a16="http://schemas.microsoft.com/office/drawing/2014/main" id="{3526346B-1A6C-7031-6D55-1A3F3D036164}"/>
              </a:ext>
            </a:extLst>
          </p:cNvPr>
          <p:cNvSpPr/>
          <p:nvPr/>
        </p:nvSpPr>
        <p:spPr>
          <a:xfrm>
            <a:off x="9652000" y="3429000"/>
            <a:ext cx="1905000" cy="762000"/>
          </a:xfrm>
          <a:prstGeom prst="roundRect">
            <a:avLst/>
          </a:prstGeom>
          <a:solidFill>
            <a:srgbClr val="F2F2F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rIns="76200" rtlCol="0" anchor="ctr"/>
          <a:lstStyle/>
          <a:p>
            <a:pPr algn="ctr"/>
            <a:r>
              <a:rPr lang="en-US" sz="1200">
                <a:solidFill>
                  <a:srgbClr val="404040"/>
                </a:solidFill>
                <a:latin typeface="Calibri" panose="020F0502020204030204" pitchFamily="34" charset="0"/>
              </a:rPr>
              <a:t>SFTP outboundResults  EDIFACT</a:t>
            </a:r>
          </a:p>
        </p:txBody>
      </p:sp>
      <p:cxnSp>
        <p:nvCxnSpPr>
          <p:cNvPr id="18" name="Straight Connector 17">
            <a:extLst>
              <a:ext uri="{FF2B5EF4-FFF2-40B4-BE49-F238E27FC236}">
                <a16:creationId xmlns:a16="http://schemas.microsoft.com/office/drawing/2014/main" id="{4255C620-92BE-7F56-11AF-1D1B33510413}"/>
              </a:ext>
            </a:extLst>
          </p:cNvPr>
          <p:cNvCxnSpPr/>
          <p:nvPr/>
        </p:nvCxnSpPr>
        <p:spPr>
          <a:xfrm>
            <a:off x="2540000" y="2159000"/>
            <a:ext cx="635000" cy="0"/>
          </a:xfrm>
          <a:prstGeom prst="line">
            <a:avLst/>
          </a:prstGeom>
          <a:ln w="22225">
            <a:solidFill>
              <a:srgbClr val="767676"/>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98D9D8DE-E97C-2B85-C142-6D27884A981A}"/>
              </a:ext>
            </a:extLst>
          </p:cNvPr>
          <p:cNvCxnSpPr/>
          <p:nvPr/>
        </p:nvCxnSpPr>
        <p:spPr>
          <a:xfrm>
            <a:off x="4953000" y="2159000"/>
            <a:ext cx="254000" cy="0"/>
          </a:xfrm>
          <a:prstGeom prst="line">
            <a:avLst/>
          </a:prstGeom>
          <a:ln w="22225">
            <a:solidFill>
              <a:srgbClr val="767676"/>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15F98C82-67FB-2902-BA75-5AE99E3882CE}"/>
              </a:ext>
            </a:extLst>
          </p:cNvPr>
          <p:cNvCxnSpPr/>
          <p:nvPr/>
        </p:nvCxnSpPr>
        <p:spPr>
          <a:xfrm>
            <a:off x="6985000" y="2159000"/>
            <a:ext cx="254000" cy="0"/>
          </a:xfrm>
          <a:prstGeom prst="line">
            <a:avLst/>
          </a:prstGeom>
          <a:ln w="22225">
            <a:solidFill>
              <a:srgbClr val="767676"/>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9E86518E-4B85-A6A6-CF67-3D89558790F7}"/>
              </a:ext>
            </a:extLst>
          </p:cNvPr>
          <p:cNvCxnSpPr/>
          <p:nvPr/>
        </p:nvCxnSpPr>
        <p:spPr>
          <a:xfrm>
            <a:off x="9017000" y="2159000"/>
            <a:ext cx="635000" cy="0"/>
          </a:xfrm>
          <a:prstGeom prst="line">
            <a:avLst/>
          </a:prstGeom>
          <a:ln w="22225">
            <a:solidFill>
              <a:srgbClr val="767676"/>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76B026DC-A017-C33F-308B-40B193C79469}"/>
              </a:ext>
            </a:extLst>
          </p:cNvPr>
          <p:cNvCxnSpPr/>
          <p:nvPr/>
        </p:nvCxnSpPr>
        <p:spPr>
          <a:xfrm>
            <a:off x="2540000" y="3810000"/>
            <a:ext cx="635000" cy="0"/>
          </a:xfrm>
          <a:prstGeom prst="line">
            <a:avLst/>
          </a:prstGeom>
          <a:ln w="22225">
            <a:solidFill>
              <a:srgbClr val="767676"/>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9D3DD90C-7F21-82D4-23D3-7AA8F54F8C42}"/>
              </a:ext>
            </a:extLst>
          </p:cNvPr>
          <p:cNvCxnSpPr/>
          <p:nvPr/>
        </p:nvCxnSpPr>
        <p:spPr>
          <a:xfrm>
            <a:off x="4953000" y="3810000"/>
            <a:ext cx="254000" cy="0"/>
          </a:xfrm>
          <a:prstGeom prst="line">
            <a:avLst/>
          </a:prstGeom>
          <a:ln w="22225">
            <a:solidFill>
              <a:srgbClr val="767676"/>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2B6519FE-CC7A-36C3-8212-424524A3DA64}"/>
              </a:ext>
            </a:extLst>
          </p:cNvPr>
          <p:cNvCxnSpPr/>
          <p:nvPr/>
        </p:nvCxnSpPr>
        <p:spPr>
          <a:xfrm>
            <a:off x="6985000" y="3810000"/>
            <a:ext cx="254000" cy="0"/>
          </a:xfrm>
          <a:prstGeom prst="line">
            <a:avLst/>
          </a:prstGeom>
          <a:ln w="22225">
            <a:solidFill>
              <a:srgbClr val="767676"/>
            </a:solidFill>
            <a:tailEnd type="triangle"/>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71C27358-A53B-B7CD-DB1C-7E83D493CCD4}"/>
              </a:ext>
            </a:extLst>
          </p:cNvPr>
          <p:cNvCxnSpPr/>
          <p:nvPr/>
        </p:nvCxnSpPr>
        <p:spPr>
          <a:xfrm>
            <a:off x="9017000" y="3810000"/>
            <a:ext cx="635000" cy="0"/>
          </a:xfrm>
          <a:prstGeom prst="line">
            <a:avLst/>
          </a:prstGeom>
          <a:ln w="22225">
            <a:solidFill>
              <a:srgbClr val="767676"/>
            </a:solidFill>
            <a:tailEnd type="triangle"/>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A507624D-0C37-2F91-D0F1-6541CA468856}"/>
              </a:ext>
            </a:extLst>
          </p:cNvPr>
          <p:cNvSpPr txBox="1"/>
          <p:nvPr/>
        </p:nvSpPr>
        <p:spPr>
          <a:xfrm>
            <a:off x="508000" y="5715000"/>
            <a:ext cx="11176000" cy="461665"/>
          </a:xfrm>
          <a:prstGeom prst="rect">
            <a:avLst/>
          </a:prstGeom>
          <a:noFill/>
        </p:spPr>
        <p:txBody>
          <a:bodyPr vert="horz" wrap="square" rtlCol="0">
            <a:spAutoFit/>
          </a:bodyPr>
          <a:lstStyle/>
          <a:p>
            <a:pPr algn="ctr"/>
            <a:r>
              <a:rPr lang="en-US" sz="1200">
                <a:solidFill>
                  <a:srgbClr val="767676"/>
                </a:solidFill>
                <a:latin typeface="Calibri" panose="020F0502020204030204" pitchFamily="34" charset="0"/>
              </a:rPr>
              <a:t>HTTP starts each call. Files move only through SFTP: edi and jsonXmlFiles in, inboundResults and outboundResults out. GET /orders/upload-sample copies project samples into edi and jsonXmlFiles.</a:t>
            </a:r>
          </a:p>
        </p:txBody>
      </p:sp>
    </p:spTree>
    <p:extLst>
      <p:ext uri="{BB962C8B-B14F-4D97-AF65-F5344CB8AC3E}">
        <p14:creationId xmlns:p14="http://schemas.microsoft.com/office/powerpoint/2010/main" val="1151814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14594E9-1F90-F990-EE23-082E26E84ED0}"/>
              </a:ext>
            </a:extLst>
          </p:cNvPr>
          <p:cNvSpPr/>
          <p:nvPr/>
        </p:nvSpPr>
        <p:spPr>
          <a:xfrm>
            <a:off x="0" y="0"/>
            <a:ext cx="12192000" cy="914400"/>
          </a:xfrm>
          <a:prstGeom prst="rect">
            <a:avLst/>
          </a:prstGeom>
          <a:solidFill>
            <a:srgbClr val="1F386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0" rtlCol="0" anchor="ctr"/>
          <a:lstStyle/>
          <a:p>
            <a:r>
              <a:rPr lang="en-US" sz="2600" b="1">
                <a:solidFill>
                  <a:srgbClr val="FFFFFF"/>
                </a:solidFill>
                <a:latin typeface="Calibri" panose="020F0502020204030204" pitchFamily="34" charset="0"/>
              </a:rPr>
              <a:t>Business rules</a:t>
            </a:r>
          </a:p>
        </p:txBody>
      </p:sp>
      <p:sp>
        <p:nvSpPr>
          <p:cNvPr id="3" name="Rectangle 2">
            <a:extLst>
              <a:ext uri="{FF2B5EF4-FFF2-40B4-BE49-F238E27FC236}">
                <a16:creationId xmlns:a16="http://schemas.microsoft.com/office/drawing/2014/main" id="{77F6DF08-B43A-685B-2BB6-A3680D509271}"/>
              </a:ext>
            </a:extLst>
          </p:cNvPr>
          <p:cNvSpPr/>
          <p:nvPr/>
        </p:nvSpPr>
        <p:spPr>
          <a:xfrm>
            <a:off x="0" y="914400"/>
            <a:ext cx="12192000" cy="50800"/>
          </a:xfrm>
          <a:prstGeom prst="rect">
            <a:avLst/>
          </a:prstGeom>
          <a:solidFill>
            <a:srgbClr val="2E75B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43E133F5-9194-9B35-4B9F-79BD16092F18}"/>
              </a:ext>
            </a:extLst>
          </p:cNvPr>
          <p:cNvSpPr txBox="1"/>
          <p:nvPr/>
        </p:nvSpPr>
        <p:spPr>
          <a:xfrm>
            <a:off x="508000" y="6413500"/>
            <a:ext cx="7620000" cy="246221"/>
          </a:xfrm>
          <a:prstGeom prst="rect">
            <a:avLst/>
          </a:prstGeom>
          <a:noFill/>
        </p:spPr>
        <p:txBody>
          <a:bodyPr vert="horz" wrap="square" rtlCol="0">
            <a:spAutoFit/>
          </a:bodyPr>
          <a:lstStyle/>
          <a:p>
            <a:r>
              <a:rPr lang="en-US" sz="1000">
                <a:solidFill>
                  <a:srgbClr val="767676"/>
                </a:solidFill>
                <a:latin typeface="Calibri" panose="020F0502020204030204" pitchFamily="34" charset="0"/>
              </a:rPr>
              <a:t>EDIFACT Orders POC</a:t>
            </a:r>
          </a:p>
        </p:txBody>
      </p:sp>
      <p:sp>
        <p:nvSpPr>
          <p:cNvPr id="5" name="TextBox 4">
            <a:extLst>
              <a:ext uri="{FF2B5EF4-FFF2-40B4-BE49-F238E27FC236}">
                <a16:creationId xmlns:a16="http://schemas.microsoft.com/office/drawing/2014/main" id="{BEDC3AB5-292D-40A4-62B7-CFF692CEDCF4}"/>
              </a:ext>
            </a:extLst>
          </p:cNvPr>
          <p:cNvSpPr txBox="1"/>
          <p:nvPr/>
        </p:nvSpPr>
        <p:spPr>
          <a:xfrm>
            <a:off x="10414000" y="6413500"/>
            <a:ext cx="1270000" cy="246221"/>
          </a:xfrm>
          <a:prstGeom prst="rect">
            <a:avLst/>
          </a:prstGeom>
          <a:noFill/>
        </p:spPr>
        <p:txBody>
          <a:bodyPr vert="horz" wrap="square" rtlCol="0">
            <a:spAutoFit/>
          </a:bodyPr>
          <a:lstStyle/>
          <a:p>
            <a:pPr algn="r"/>
            <a:r>
              <a:rPr lang="en-US" sz="1000">
                <a:solidFill>
                  <a:srgbClr val="767676"/>
                </a:solidFill>
                <a:latin typeface="Calibri" panose="020F0502020204030204" pitchFamily="34" charset="0"/>
              </a:rPr>
              <a:t>5</a:t>
            </a:r>
          </a:p>
        </p:txBody>
      </p:sp>
      <p:sp>
        <p:nvSpPr>
          <p:cNvPr id="6" name="TextBox 5">
            <a:extLst>
              <a:ext uri="{FF2B5EF4-FFF2-40B4-BE49-F238E27FC236}">
                <a16:creationId xmlns:a16="http://schemas.microsoft.com/office/drawing/2014/main" id="{2D5FAD9C-8F43-F53D-2118-F3516DCA4F77}"/>
              </a:ext>
            </a:extLst>
          </p:cNvPr>
          <p:cNvSpPr txBox="1"/>
          <p:nvPr/>
        </p:nvSpPr>
        <p:spPr>
          <a:xfrm>
            <a:off x="508000" y="1168400"/>
            <a:ext cx="11176000" cy="338554"/>
          </a:xfrm>
          <a:prstGeom prst="rect">
            <a:avLst/>
          </a:prstGeom>
          <a:noFill/>
        </p:spPr>
        <p:txBody>
          <a:bodyPr vert="horz" wrap="square" rtlCol="0">
            <a:spAutoFit/>
          </a:bodyPr>
          <a:lstStyle/>
          <a:p>
            <a:r>
              <a:rPr lang="en-US" sz="1600">
                <a:solidFill>
                  <a:srgbClr val="404040"/>
                </a:solidFill>
                <a:latin typeface="Calibri" panose="020F0502020204030204" pitchFamily="34" charset="0"/>
              </a:rPr>
              <a:t>An order is ACCEPTED only when every rule passes. Otherwise it is REJECTED and each failed rule is listed.</a:t>
            </a:r>
          </a:p>
        </p:txBody>
      </p:sp>
      <p:graphicFrame>
        <p:nvGraphicFramePr>
          <p:cNvPr id="7" name="Table 6">
            <a:extLst>
              <a:ext uri="{FF2B5EF4-FFF2-40B4-BE49-F238E27FC236}">
                <a16:creationId xmlns:a16="http://schemas.microsoft.com/office/drawing/2014/main" id="{3CE16FE1-1041-A8C5-2E6C-CE528BF74C73}"/>
              </a:ext>
            </a:extLst>
          </p:cNvPr>
          <p:cNvGraphicFramePr>
            <a:graphicFrameLocks noGrp="1"/>
          </p:cNvGraphicFramePr>
          <p:nvPr>
            <p:extLst>
              <p:ext uri="{D42A27DB-BD31-4B8C-83A1-F6EECF244321}">
                <p14:modId xmlns:p14="http://schemas.microsoft.com/office/powerpoint/2010/main" val="3274731610"/>
              </p:ext>
            </p:extLst>
          </p:nvPr>
        </p:nvGraphicFramePr>
        <p:xfrm>
          <a:off x="508000" y="1778000"/>
          <a:ext cx="11176000" cy="3048000"/>
        </p:xfrm>
        <a:graphic>
          <a:graphicData uri="http://schemas.openxmlformats.org/drawingml/2006/table">
            <a:tbl>
              <a:tblPr firstRow="1" bandRow="1">
                <a:tableStyleId>{5C22544A-7EE6-4342-B048-85BDC9FD1C3A}</a:tableStyleId>
              </a:tblPr>
              <a:tblGrid>
                <a:gridCol w="4191000">
                  <a:extLst>
                    <a:ext uri="{9D8B030D-6E8A-4147-A177-3AD203B41FA5}">
                      <a16:colId xmlns:a16="http://schemas.microsoft.com/office/drawing/2014/main" val="1051916858"/>
                    </a:ext>
                  </a:extLst>
                </a:gridCol>
                <a:gridCol w="3810000">
                  <a:extLst>
                    <a:ext uri="{9D8B030D-6E8A-4147-A177-3AD203B41FA5}">
                      <a16:colId xmlns:a16="http://schemas.microsoft.com/office/drawing/2014/main" val="2574317652"/>
                    </a:ext>
                  </a:extLst>
                </a:gridCol>
                <a:gridCol w="3175000">
                  <a:extLst>
                    <a:ext uri="{9D8B030D-6E8A-4147-A177-3AD203B41FA5}">
                      <a16:colId xmlns:a16="http://schemas.microsoft.com/office/drawing/2014/main" val="572873113"/>
                    </a:ext>
                  </a:extLst>
                </a:gridCol>
              </a:tblGrid>
              <a:tr h="508000">
                <a:tc>
                  <a:txBody>
                    <a:bodyPr/>
                    <a:lstStyle/>
                    <a:p>
                      <a:r>
                        <a:rPr lang="en-US" sz="1400" b="1">
                          <a:solidFill>
                            <a:srgbClr val="FFFFFF"/>
                          </a:solidFill>
                          <a:latin typeface="Calibri" panose="020F0502020204030204" pitchFamily="34" charset="0"/>
                        </a:rPr>
                        <a:t>Rule</a:t>
                      </a:r>
                    </a:p>
                  </a:txBody>
                  <a:tcPr>
                    <a:solidFill>
                      <a:srgbClr val="1F3864"/>
                    </a:solidFill>
                  </a:tcPr>
                </a:tc>
                <a:tc>
                  <a:txBody>
                    <a:bodyPr/>
                    <a:lstStyle/>
                    <a:p>
                      <a:r>
                        <a:rPr lang="en-US" sz="1400" b="1">
                          <a:solidFill>
                            <a:srgbClr val="FFFFFF"/>
                          </a:solidFill>
                          <a:latin typeface="Calibri" panose="020F0502020204030204" pitchFamily="34" charset="0"/>
                        </a:rPr>
                        <a:t>EDIFACT source</a:t>
                      </a:r>
                    </a:p>
                  </a:txBody>
                  <a:tcPr>
                    <a:solidFill>
                      <a:srgbClr val="1F3864"/>
                    </a:solidFill>
                  </a:tcPr>
                </a:tc>
                <a:tc>
                  <a:txBody>
                    <a:bodyPr/>
                    <a:lstStyle/>
                    <a:p>
                      <a:r>
                        <a:rPr lang="en-US" sz="1400" b="1">
                          <a:solidFill>
                            <a:srgbClr val="FFFFFF"/>
                          </a:solidFill>
                          <a:latin typeface="Calibri" panose="020F0502020204030204" pitchFamily="34" charset="0"/>
                        </a:rPr>
                        <a:t>Reason code if failed</a:t>
                      </a:r>
                    </a:p>
                  </a:txBody>
                  <a:tcPr>
                    <a:solidFill>
                      <a:srgbClr val="1F3864"/>
                    </a:solidFill>
                  </a:tcPr>
                </a:tc>
                <a:extLst>
                  <a:ext uri="{0D108BD9-81ED-4DB2-BD59-A6C34878D82A}">
                    <a16:rowId xmlns:a16="http://schemas.microsoft.com/office/drawing/2014/main" val="2049260565"/>
                  </a:ext>
                </a:extLst>
              </a:tr>
              <a:tr h="508000">
                <a:tc>
                  <a:txBody>
                    <a:bodyPr/>
                    <a:lstStyle/>
                    <a:p>
                      <a:r>
                        <a:rPr lang="en-US" sz="1400" b="0">
                          <a:solidFill>
                            <a:srgbClr val="404040"/>
                          </a:solidFill>
                          <a:latin typeface="Calibri" panose="020F0502020204030204" pitchFamily="34" charset="0"/>
                        </a:rPr>
                        <a:t>Currency is PHP</a:t>
                      </a:r>
                    </a:p>
                  </a:txBody>
                  <a:tcPr>
                    <a:solidFill>
                      <a:srgbClr val="F2F7FC"/>
                    </a:solidFill>
                  </a:tcPr>
                </a:tc>
                <a:tc>
                  <a:txBody>
                    <a:bodyPr/>
                    <a:lstStyle/>
                    <a:p>
                      <a:r>
                        <a:rPr lang="en-US" sz="1400" b="0">
                          <a:solidFill>
                            <a:srgbClr val="404040"/>
                          </a:solidFill>
                          <a:latin typeface="Calibri" panose="020F0502020204030204" pitchFamily="34" charset="0"/>
                        </a:rPr>
                        <a:t>CUX, currency (qualifier 2)</a:t>
                      </a:r>
                    </a:p>
                  </a:txBody>
                  <a:tcPr>
                    <a:solidFill>
                      <a:srgbClr val="F2F7FC"/>
                    </a:solidFill>
                  </a:tcPr>
                </a:tc>
                <a:tc>
                  <a:txBody>
                    <a:bodyPr/>
                    <a:lstStyle/>
                    <a:p>
                      <a:r>
                        <a:rPr lang="en-US" sz="1400" b="0">
                          <a:solidFill>
                            <a:srgbClr val="404040"/>
                          </a:solidFill>
                          <a:latin typeface="Calibri" panose="020F0502020204030204" pitchFamily="34" charset="0"/>
                        </a:rPr>
                        <a:t>UNSUPPORTED_CURRENCY</a:t>
                      </a:r>
                    </a:p>
                  </a:txBody>
                  <a:tcPr>
                    <a:solidFill>
                      <a:srgbClr val="F2F7FC"/>
                    </a:solidFill>
                  </a:tcPr>
                </a:tc>
                <a:extLst>
                  <a:ext uri="{0D108BD9-81ED-4DB2-BD59-A6C34878D82A}">
                    <a16:rowId xmlns:a16="http://schemas.microsoft.com/office/drawing/2014/main" val="1651520019"/>
                  </a:ext>
                </a:extLst>
              </a:tr>
              <a:tr h="508000">
                <a:tc>
                  <a:txBody>
                    <a:bodyPr/>
                    <a:lstStyle/>
                    <a:p>
                      <a:r>
                        <a:rPr lang="en-US" sz="1400" b="0">
                          <a:solidFill>
                            <a:srgbClr val="404040"/>
                          </a:solidFill>
                          <a:latin typeface="Calibri" panose="020F0502020204030204" pitchFamily="34" charset="0"/>
                        </a:rPr>
                        <a:t>Every quantity is greater than 0</a:t>
                      </a:r>
                    </a:p>
                  </a:txBody>
                  <a:tcPr>
                    <a:solidFill>
                      <a:srgbClr val="FFFFFF"/>
                    </a:solidFill>
                  </a:tcPr>
                </a:tc>
                <a:tc>
                  <a:txBody>
                    <a:bodyPr/>
                    <a:lstStyle/>
                    <a:p>
                      <a:r>
                        <a:rPr lang="en-US" sz="1400" b="0">
                          <a:solidFill>
                            <a:srgbClr val="404040"/>
                          </a:solidFill>
                          <a:latin typeface="Calibri" panose="020F0502020204030204" pitchFamily="34" charset="0"/>
                        </a:rPr>
                        <a:t>QTY, ordered quantity (qualifier 21)</a:t>
                      </a:r>
                    </a:p>
                  </a:txBody>
                  <a:tcPr>
                    <a:solidFill>
                      <a:srgbClr val="FFFFFF"/>
                    </a:solidFill>
                  </a:tcPr>
                </a:tc>
                <a:tc>
                  <a:txBody>
                    <a:bodyPr/>
                    <a:lstStyle/>
                    <a:p>
                      <a:r>
                        <a:rPr lang="en-US" sz="1400" b="0">
                          <a:solidFill>
                            <a:srgbClr val="404040"/>
                          </a:solidFill>
                          <a:latin typeface="Calibri" panose="020F0502020204030204" pitchFamily="34" charset="0"/>
                        </a:rPr>
                        <a:t>INVALID_QUANTITY</a:t>
                      </a:r>
                    </a:p>
                  </a:txBody>
                  <a:tcPr>
                    <a:solidFill>
                      <a:srgbClr val="FFFFFF"/>
                    </a:solidFill>
                  </a:tcPr>
                </a:tc>
                <a:extLst>
                  <a:ext uri="{0D108BD9-81ED-4DB2-BD59-A6C34878D82A}">
                    <a16:rowId xmlns:a16="http://schemas.microsoft.com/office/drawing/2014/main" val="2268459755"/>
                  </a:ext>
                </a:extLst>
              </a:tr>
              <a:tr h="508000">
                <a:tc>
                  <a:txBody>
                    <a:bodyPr/>
                    <a:lstStyle/>
                    <a:p>
                      <a:r>
                        <a:rPr lang="en-US" sz="1400" b="0">
                          <a:solidFill>
                            <a:srgbClr val="404040"/>
                          </a:solidFill>
                          <a:latin typeface="Calibri" panose="020F0502020204030204" pitchFamily="34" charset="0"/>
                        </a:rPr>
                        <a:t>Every unit price is greater than 0</a:t>
                      </a:r>
                    </a:p>
                  </a:txBody>
                  <a:tcPr>
                    <a:solidFill>
                      <a:srgbClr val="F2F7FC"/>
                    </a:solidFill>
                  </a:tcPr>
                </a:tc>
                <a:tc>
                  <a:txBody>
                    <a:bodyPr/>
                    <a:lstStyle/>
                    <a:p>
                      <a:r>
                        <a:rPr lang="fr-FR" sz="1400" b="0">
                          <a:solidFill>
                            <a:srgbClr val="404040"/>
                          </a:solidFill>
                          <a:latin typeface="Calibri" panose="020F0502020204030204" pitchFamily="34" charset="0"/>
                        </a:rPr>
                        <a:t>PRI, net price (qualifier AAA)</a:t>
                      </a:r>
                      <a:endParaRPr lang="en-US" sz="1400" b="0">
                        <a:solidFill>
                          <a:srgbClr val="404040"/>
                        </a:solidFill>
                        <a:latin typeface="Calibri" panose="020F0502020204030204" pitchFamily="34" charset="0"/>
                      </a:endParaRPr>
                    </a:p>
                  </a:txBody>
                  <a:tcPr>
                    <a:solidFill>
                      <a:srgbClr val="F2F7FC"/>
                    </a:solidFill>
                  </a:tcPr>
                </a:tc>
                <a:tc>
                  <a:txBody>
                    <a:bodyPr/>
                    <a:lstStyle/>
                    <a:p>
                      <a:r>
                        <a:rPr lang="en-US" sz="1400" b="0">
                          <a:solidFill>
                            <a:srgbClr val="404040"/>
                          </a:solidFill>
                          <a:latin typeface="Calibri" panose="020F0502020204030204" pitchFamily="34" charset="0"/>
                        </a:rPr>
                        <a:t>INVALID_PRICE</a:t>
                      </a:r>
                    </a:p>
                  </a:txBody>
                  <a:tcPr>
                    <a:solidFill>
                      <a:srgbClr val="F2F7FC"/>
                    </a:solidFill>
                  </a:tcPr>
                </a:tc>
                <a:extLst>
                  <a:ext uri="{0D108BD9-81ED-4DB2-BD59-A6C34878D82A}">
                    <a16:rowId xmlns:a16="http://schemas.microsoft.com/office/drawing/2014/main" val="2177066134"/>
                  </a:ext>
                </a:extLst>
              </a:tr>
              <a:tr h="508000">
                <a:tc>
                  <a:txBody>
                    <a:bodyPr/>
                    <a:lstStyle/>
                    <a:p>
                      <a:r>
                        <a:rPr lang="en-US" sz="1400" b="0">
                          <a:solidFill>
                            <a:srgbClr val="404040"/>
                          </a:solidFill>
                          <a:latin typeface="Calibri" panose="020F0502020204030204" pitchFamily="34" charset="0"/>
                        </a:rPr>
                        <a:t>Delivery date is on or after the order date</a:t>
                      </a:r>
                    </a:p>
                  </a:txBody>
                  <a:tcPr>
                    <a:solidFill>
                      <a:srgbClr val="FFFFFF"/>
                    </a:solidFill>
                  </a:tcPr>
                </a:tc>
                <a:tc>
                  <a:txBody>
                    <a:bodyPr/>
                    <a:lstStyle/>
                    <a:p>
                      <a:r>
                        <a:rPr lang="en-US" sz="1400" b="0">
                          <a:solidFill>
                            <a:srgbClr val="404040"/>
                          </a:solidFill>
                          <a:latin typeface="Calibri" panose="020F0502020204030204" pitchFamily="34" charset="0"/>
                        </a:rPr>
                        <a:t>DTM (qualifiers 2 and 137)</a:t>
                      </a:r>
                    </a:p>
                  </a:txBody>
                  <a:tcPr>
                    <a:solidFill>
                      <a:srgbClr val="FFFFFF"/>
                    </a:solidFill>
                  </a:tcPr>
                </a:tc>
                <a:tc>
                  <a:txBody>
                    <a:bodyPr/>
                    <a:lstStyle/>
                    <a:p>
                      <a:r>
                        <a:rPr lang="en-US" sz="1400" b="0">
                          <a:solidFill>
                            <a:srgbClr val="404040"/>
                          </a:solidFill>
                          <a:latin typeface="Calibri" panose="020F0502020204030204" pitchFamily="34" charset="0"/>
                        </a:rPr>
                        <a:t>DELIVERY_BEFORE_ORDER</a:t>
                      </a:r>
                    </a:p>
                  </a:txBody>
                  <a:tcPr>
                    <a:solidFill>
                      <a:srgbClr val="FFFFFF"/>
                    </a:solidFill>
                  </a:tcPr>
                </a:tc>
                <a:extLst>
                  <a:ext uri="{0D108BD9-81ED-4DB2-BD59-A6C34878D82A}">
                    <a16:rowId xmlns:a16="http://schemas.microsoft.com/office/drawing/2014/main" val="2600894075"/>
                  </a:ext>
                </a:extLst>
              </a:tr>
              <a:tr h="508000">
                <a:tc>
                  <a:txBody>
                    <a:bodyPr/>
                    <a:lstStyle/>
                    <a:p>
                      <a:r>
                        <a:rPr lang="en-US" sz="1400" b="0">
                          <a:solidFill>
                            <a:srgbClr val="404040"/>
                          </a:solidFill>
                          <a:latin typeface="Calibri" panose="020F0502020204030204" pitchFamily="34" charset="0"/>
                        </a:rPr>
                        <a:t>Order total is at most 100,000 PHP</a:t>
                      </a:r>
                    </a:p>
                  </a:txBody>
                  <a:tcPr>
                    <a:solidFill>
                      <a:srgbClr val="F2F7FC"/>
                    </a:solidFill>
                  </a:tcPr>
                </a:tc>
                <a:tc>
                  <a:txBody>
                    <a:bodyPr/>
                    <a:lstStyle/>
                    <a:p>
                      <a:r>
                        <a:rPr lang="en-US" sz="1400" b="0">
                          <a:solidFill>
                            <a:srgbClr val="404040"/>
                          </a:solidFill>
                          <a:latin typeface="Calibri" panose="020F0502020204030204" pitchFamily="34" charset="0"/>
                        </a:rPr>
                        <a:t>Calculated from all lines</a:t>
                      </a:r>
                    </a:p>
                  </a:txBody>
                  <a:tcPr>
                    <a:solidFill>
                      <a:srgbClr val="F2F7FC"/>
                    </a:solidFill>
                  </a:tcPr>
                </a:tc>
                <a:tc>
                  <a:txBody>
                    <a:bodyPr/>
                    <a:lstStyle/>
                    <a:p>
                      <a:r>
                        <a:rPr lang="en-US" sz="1400" b="0">
                          <a:solidFill>
                            <a:srgbClr val="404040"/>
                          </a:solidFill>
                          <a:latin typeface="Calibri" panose="020F0502020204030204" pitchFamily="34" charset="0"/>
                        </a:rPr>
                        <a:t>CREDIT_LIMIT_EXCEEDED</a:t>
                      </a:r>
                    </a:p>
                  </a:txBody>
                  <a:tcPr>
                    <a:solidFill>
                      <a:srgbClr val="F2F7FC"/>
                    </a:solidFill>
                  </a:tcPr>
                </a:tc>
                <a:extLst>
                  <a:ext uri="{0D108BD9-81ED-4DB2-BD59-A6C34878D82A}">
                    <a16:rowId xmlns:a16="http://schemas.microsoft.com/office/drawing/2014/main" val="2343498537"/>
                  </a:ext>
                </a:extLst>
              </a:tr>
            </a:tbl>
          </a:graphicData>
        </a:graphic>
      </p:graphicFrame>
      <p:sp>
        <p:nvSpPr>
          <p:cNvPr id="8" name="TextBox 7">
            <a:extLst>
              <a:ext uri="{FF2B5EF4-FFF2-40B4-BE49-F238E27FC236}">
                <a16:creationId xmlns:a16="http://schemas.microsoft.com/office/drawing/2014/main" id="{7FC99A77-E412-A669-DB2D-E6E2B12862EA}"/>
              </a:ext>
            </a:extLst>
          </p:cNvPr>
          <p:cNvSpPr txBox="1"/>
          <p:nvPr/>
        </p:nvSpPr>
        <p:spPr>
          <a:xfrm>
            <a:off x="508000" y="5588000"/>
            <a:ext cx="11176000" cy="292388"/>
          </a:xfrm>
          <a:prstGeom prst="rect">
            <a:avLst/>
          </a:prstGeom>
          <a:noFill/>
        </p:spPr>
        <p:txBody>
          <a:bodyPr vert="horz" wrap="square" rtlCol="0">
            <a:spAutoFit/>
          </a:bodyPr>
          <a:lstStyle/>
          <a:p>
            <a:r>
              <a:rPr lang="en-US" sz="1300">
                <a:solidFill>
                  <a:srgbClr val="767676"/>
                </a:solidFill>
                <a:latin typeface="Calibri" panose="020F0502020204030204" pitchFamily="34" charset="0"/>
              </a:rPr>
              <a:t>Line amount is calculated by MuleSoft as quantity multiplied by unit price. It is not taken from the incoming file. Currency and credit limit are configuration values.</a:t>
            </a:r>
          </a:p>
        </p:txBody>
      </p:sp>
    </p:spTree>
    <p:extLst>
      <p:ext uri="{BB962C8B-B14F-4D97-AF65-F5344CB8AC3E}">
        <p14:creationId xmlns:p14="http://schemas.microsoft.com/office/powerpoint/2010/main" val="10737036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CA984C9-AD87-481F-61FD-A515B91E6DE3}"/>
              </a:ext>
            </a:extLst>
          </p:cNvPr>
          <p:cNvSpPr/>
          <p:nvPr/>
        </p:nvSpPr>
        <p:spPr>
          <a:xfrm>
            <a:off x="0" y="0"/>
            <a:ext cx="12192000" cy="914400"/>
          </a:xfrm>
          <a:prstGeom prst="rect">
            <a:avLst/>
          </a:prstGeom>
          <a:solidFill>
            <a:srgbClr val="1F386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0" rtlCol="0" anchor="ctr"/>
          <a:lstStyle/>
          <a:p>
            <a:r>
              <a:rPr lang="en-US" sz="2600" b="1">
                <a:solidFill>
                  <a:srgbClr val="FFFFFF"/>
                </a:solidFill>
                <a:latin typeface="Calibri" panose="020F0502020204030204" pitchFamily="34" charset="0"/>
              </a:rPr>
              <a:t>Demo walkthrough</a:t>
            </a:r>
          </a:p>
        </p:txBody>
      </p:sp>
      <p:sp>
        <p:nvSpPr>
          <p:cNvPr id="3" name="Rectangle 2">
            <a:extLst>
              <a:ext uri="{FF2B5EF4-FFF2-40B4-BE49-F238E27FC236}">
                <a16:creationId xmlns:a16="http://schemas.microsoft.com/office/drawing/2014/main" id="{4E2ED79A-EFDC-652A-411D-F72FE7841E96}"/>
              </a:ext>
            </a:extLst>
          </p:cNvPr>
          <p:cNvSpPr/>
          <p:nvPr/>
        </p:nvSpPr>
        <p:spPr>
          <a:xfrm>
            <a:off x="0" y="914400"/>
            <a:ext cx="12192000" cy="50800"/>
          </a:xfrm>
          <a:prstGeom prst="rect">
            <a:avLst/>
          </a:prstGeom>
          <a:solidFill>
            <a:srgbClr val="2E75B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5DF1D81-6E70-0A74-FE07-F40FABE2F4DF}"/>
              </a:ext>
            </a:extLst>
          </p:cNvPr>
          <p:cNvSpPr txBox="1"/>
          <p:nvPr/>
        </p:nvSpPr>
        <p:spPr>
          <a:xfrm>
            <a:off x="508000" y="6413500"/>
            <a:ext cx="7620000" cy="246221"/>
          </a:xfrm>
          <a:prstGeom prst="rect">
            <a:avLst/>
          </a:prstGeom>
          <a:noFill/>
        </p:spPr>
        <p:txBody>
          <a:bodyPr vert="horz" wrap="square" rtlCol="0">
            <a:spAutoFit/>
          </a:bodyPr>
          <a:lstStyle/>
          <a:p>
            <a:r>
              <a:rPr lang="en-US" sz="1000">
                <a:solidFill>
                  <a:srgbClr val="767676"/>
                </a:solidFill>
                <a:latin typeface="Calibri" panose="020F0502020204030204" pitchFamily="34" charset="0"/>
              </a:rPr>
              <a:t>EDIFACT Orders POC</a:t>
            </a:r>
          </a:p>
        </p:txBody>
      </p:sp>
      <p:sp>
        <p:nvSpPr>
          <p:cNvPr id="5" name="TextBox 4">
            <a:extLst>
              <a:ext uri="{FF2B5EF4-FFF2-40B4-BE49-F238E27FC236}">
                <a16:creationId xmlns:a16="http://schemas.microsoft.com/office/drawing/2014/main" id="{80E96AD4-A79F-E5FA-06D1-A89D63A3A1CF}"/>
              </a:ext>
            </a:extLst>
          </p:cNvPr>
          <p:cNvSpPr txBox="1"/>
          <p:nvPr/>
        </p:nvSpPr>
        <p:spPr>
          <a:xfrm>
            <a:off x="10414000" y="6413500"/>
            <a:ext cx="1270000" cy="246221"/>
          </a:xfrm>
          <a:prstGeom prst="rect">
            <a:avLst/>
          </a:prstGeom>
          <a:noFill/>
        </p:spPr>
        <p:txBody>
          <a:bodyPr vert="horz" wrap="square" rtlCol="0">
            <a:spAutoFit/>
          </a:bodyPr>
          <a:lstStyle/>
          <a:p>
            <a:pPr algn="r"/>
            <a:r>
              <a:rPr lang="en-US" sz="1000">
                <a:solidFill>
                  <a:srgbClr val="767676"/>
                </a:solidFill>
                <a:latin typeface="Calibri" panose="020F0502020204030204" pitchFamily="34" charset="0"/>
              </a:rPr>
              <a:t>6</a:t>
            </a:r>
          </a:p>
        </p:txBody>
      </p:sp>
      <p:sp>
        <p:nvSpPr>
          <p:cNvPr id="6" name="TextBox 5">
            <a:extLst>
              <a:ext uri="{FF2B5EF4-FFF2-40B4-BE49-F238E27FC236}">
                <a16:creationId xmlns:a16="http://schemas.microsoft.com/office/drawing/2014/main" id="{78CF6F5C-376B-CAB7-1171-4B3A9DA65353}"/>
              </a:ext>
            </a:extLst>
          </p:cNvPr>
          <p:cNvSpPr txBox="1"/>
          <p:nvPr/>
        </p:nvSpPr>
        <p:spPr>
          <a:xfrm>
            <a:off x="508000" y="1092200"/>
            <a:ext cx="11176000" cy="523220"/>
          </a:xfrm>
          <a:prstGeom prst="rect">
            <a:avLst/>
          </a:prstGeom>
          <a:noFill/>
        </p:spPr>
        <p:txBody>
          <a:bodyPr vert="horz" wrap="square" rtlCol="0">
            <a:spAutoFit/>
          </a:bodyPr>
          <a:lstStyle/>
          <a:p>
            <a:r>
              <a:rPr lang="en-US" sz="1400">
                <a:solidFill>
                  <a:srgbClr val="404040"/>
                </a:solidFill>
                <a:latin typeface="Calibri" panose="020F0502020204030204" pitchFamily="34" charset="0"/>
              </a:rPr>
              <a:t>The demo runs locally on port 8081. Copy the project samples to SFTP first, then run the order calls. A name ending in .xml is read as XML. Any other outbound file is read as JSON.</a:t>
            </a:r>
          </a:p>
        </p:txBody>
      </p:sp>
      <p:graphicFrame>
        <p:nvGraphicFramePr>
          <p:cNvPr id="7" name="Table 6">
            <a:extLst>
              <a:ext uri="{FF2B5EF4-FFF2-40B4-BE49-F238E27FC236}">
                <a16:creationId xmlns:a16="http://schemas.microsoft.com/office/drawing/2014/main" id="{D39BD097-75DE-7E79-2998-147C83371DF9}"/>
              </a:ext>
            </a:extLst>
          </p:cNvPr>
          <p:cNvGraphicFramePr>
            <a:graphicFrameLocks noGrp="1"/>
          </p:cNvGraphicFramePr>
          <p:nvPr>
            <p:extLst>
              <p:ext uri="{D42A27DB-BD31-4B8C-83A1-F6EECF244321}">
                <p14:modId xmlns:p14="http://schemas.microsoft.com/office/powerpoint/2010/main" val="1318637266"/>
              </p:ext>
            </p:extLst>
          </p:nvPr>
        </p:nvGraphicFramePr>
        <p:xfrm>
          <a:off x="508000" y="1778000"/>
          <a:ext cx="11176000" cy="3048000"/>
        </p:xfrm>
        <a:graphic>
          <a:graphicData uri="http://schemas.openxmlformats.org/drawingml/2006/table">
            <a:tbl>
              <a:tblPr firstRow="1" bandRow="1">
                <a:tableStyleId>{5C22544A-7EE6-4342-B048-85BDC9FD1C3A}</a:tableStyleId>
              </a:tblPr>
              <a:tblGrid>
                <a:gridCol w="4318000">
                  <a:extLst>
                    <a:ext uri="{9D8B030D-6E8A-4147-A177-3AD203B41FA5}">
                      <a16:colId xmlns:a16="http://schemas.microsoft.com/office/drawing/2014/main" val="144975089"/>
                    </a:ext>
                  </a:extLst>
                </a:gridCol>
                <a:gridCol w="2540000">
                  <a:extLst>
                    <a:ext uri="{9D8B030D-6E8A-4147-A177-3AD203B41FA5}">
                      <a16:colId xmlns:a16="http://schemas.microsoft.com/office/drawing/2014/main" val="2381923909"/>
                    </a:ext>
                  </a:extLst>
                </a:gridCol>
                <a:gridCol w="4318000">
                  <a:extLst>
                    <a:ext uri="{9D8B030D-6E8A-4147-A177-3AD203B41FA5}">
                      <a16:colId xmlns:a16="http://schemas.microsoft.com/office/drawing/2014/main" val="1705155338"/>
                    </a:ext>
                  </a:extLst>
                </a:gridCol>
              </a:tblGrid>
              <a:tr h="508000">
                <a:tc>
                  <a:txBody>
                    <a:bodyPr/>
                    <a:lstStyle/>
                    <a:p>
                      <a:r>
                        <a:rPr lang="en-US" sz="1100" b="1">
                          <a:solidFill>
                            <a:srgbClr val="FFFFFF"/>
                          </a:solidFill>
                          <a:latin typeface="Calibri" panose="020F0502020204030204" pitchFamily="34" charset="0"/>
                        </a:rPr>
                        <a:t>Call</a:t>
                      </a:r>
                    </a:p>
                  </a:txBody>
                  <a:tcPr>
                    <a:solidFill>
                      <a:srgbClr val="1F3864"/>
                    </a:solidFill>
                  </a:tcPr>
                </a:tc>
                <a:tc>
                  <a:txBody>
                    <a:bodyPr/>
                    <a:lstStyle/>
                    <a:p>
                      <a:r>
                        <a:rPr lang="en-US" sz="1100" b="1">
                          <a:solidFill>
                            <a:srgbClr val="FFFFFF"/>
                          </a:solidFill>
                          <a:latin typeface="Calibri" panose="020F0502020204030204" pitchFamily="34" charset="0"/>
                        </a:rPr>
                        <a:t>Input</a:t>
                      </a:r>
                    </a:p>
                  </a:txBody>
                  <a:tcPr>
                    <a:solidFill>
                      <a:srgbClr val="1F3864"/>
                    </a:solidFill>
                  </a:tcPr>
                </a:tc>
                <a:tc>
                  <a:txBody>
                    <a:bodyPr/>
                    <a:lstStyle/>
                    <a:p>
                      <a:r>
                        <a:rPr lang="en-US" sz="1100" b="1">
                          <a:solidFill>
                            <a:srgbClr val="FFFFFF"/>
                          </a:solidFill>
                          <a:latin typeface="Calibri" panose="020F0502020204030204" pitchFamily="34" charset="0"/>
                        </a:rPr>
                        <a:t>Expected result</a:t>
                      </a:r>
                    </a:p>
                  </a:txBody>
                  <a:tcPr>
                    <a:solidFill>
                      <a:srgbClr val="1F3864"/>
                    </a:solidFill>
                  </a:tcPr>
                </a:tc>
                <a:extLst>
                  <a:ext uri="{0D108BD9-81ED-4DB2-BD59-A6C34878D82A}">
                    <a16:rowId xmlns:a16="http://schemas.microsoft.com/office/drawing/2014/main" val="1997950879"/>
                  </a:ext>
                </a:extLst>
              </a:tr>
              <a:tr h="508000">
                <a:tc>
                  <a:txBody>
                    <a:bodyPr/>
                    <a:lstStyle/>
                    <a:p>
                      <a:r>
                        <a:rPr lang="en-US" sz="1100" b="0">
                          <a:solidFill>
                            <a:srgbClr val="404040"/>
                          </a:solidFill>
                          <a:latin typeface="Calibri" panose="020F0502020204030204" pitchFamily="34" charset="0"/>
                        </a:rPr>
                        <a:t>GET /orders/upload-sample?file=orders-accepted.edi</a:t>
                      </a:r>
                    </a:p>
                  </a:txBody>
                  <a:tcPr>
                    <a:solidFill>
                      <a:srgbClr val="F2F7FC"/>
                    </a:solidFill>
                  </a:tcPr>
                </a:tc>
                <a:tc>
                  <a:txBody>
                    <a:bodyPr/>
                    <a:lstStyle/>
                    <a:p>
                      <a:r>
                        <a:rPr lang="en-US" sz="1100" b="0">
                          <a:solidFill>
                            <a:srgbClr val="404040"/>
                          </a:solidFill>
                          <a:latin typeface="Calibri" panose="020F0502020204030204" pitchFamily="34" charset="0"/>
                        </a:rPr>
                        <a:t>Project sample</a:t>
                      </a:r>
                    </a:p>
                  </a:txBody>
                  <a:tcPr>
                    <a:solidFill>
                      <a:srgbClr val="F2F7FC"/>
                    </a:solidFill>
                  </a:tcPr>
                </a:tc>
                <a:tc>
                  <a:txBody>
                    <a:bodyPr/>
                    <a:lstStyle/>
                    <a:p>
                      <a:r>
                        <a:rPr lang="en-US" sz="1100" b="0">
                          <a:solidFill>
                            <a:srgbClr val="404040"/>
                          </a:solidFill>
                          <a:latin typeface="Calibri" panose="020F0502020204030204" pitchFamily="34" charset="0"/>
                        </a:rPr>
                        <a:t>Written to edi/orders-accepted.edi. JSON and XML samples go to jsonXmlFiles.</a:t>
                      </a:r>
                    </a:p>
                  </a:txBody>
                  <a:tcPr>
                    <a:solidFill>
                      <a:srgbClr val="F2F7FC"/>
                    </a:solidFill>
                  </a:tcPr>
                </a:tc>
                <a:extLst>
                  <a:ext uri="{0D108BD9-81ED-4DB2-BD59-A6C34878D82A}">
                    <a16:rowId xmlns:a16="http://schemas.microsoft.com/office/drawing/2014/main" val="3324905324"/>
                  </a:ext>
                </a:extLst>
              </a:tr>
              <a:tr h="508000">
                <a:tc>
                  <a:txBody>
                    <a:bodyPr/>
                    <a:lstStyle/>
                    <a:p>
                      <a:r>
                        <a:rPr lang="en-US" sz="1100" b="0">
                          <a:solidFill>
                            <a:srgbClr val="404040"/>
                          </a:solidFill>
                          <a:latin typeface="Calibri" panose="020F0502020204030204" pitchFamily="34" charset="0"/>
                        </a:rPr>
                        <a:t>GET /orders/from-edifact?file=orders-accepted.edi</a:t>
                      </a:r>
                    </a:p>
                  </a:txBody>
                  <a:tcPr>
                    <a:solidFill>
                      <a:srgbClr val="FFFFFF"/>
                    </a:solidFill>
                  </a:tcPr>
                </a:tc>
                <a:tc>
                  <a:txBody>
                    <a:bodyPr/>
                    <a:lstStyle/>
                    <a:p>
                      <a:r>
                        <a:rPr lang="en-US" sz="1100" b="0">
                          <a:solidFill>
                            <a:srgbClr val="404040"/>
                          </a:solidFill>
                          <a:latin typeface="Calibri" panose="020F0502020204030204" pitchFamily="34" charset="0"/>
                        </a:rPr>
                        <a:t>PO-1001 from edi</a:t>
                      </a:r>
                    </a:p>
                  </a:txBody>
                  <a:tcPr>
                    <a:solidFill>
                      <a:srgbClr val="FFFFFF"/>
                    </a:solidFill>
                  </a:tcPr>
                </a:tc>
                <a:tc>
                  <a:txBody>
                    <a:bodyPr/>
                    <a:lstStyle/>
                    <a:p>
                      <a:r>
                        <a:rPr lang="en-US" sz="1100" b="0">
                          <a:solidFill>
                            <a:srgbClr val="404040"/>
                          </a:solidFill>
                          <a:latin typeface="Calibri" panose="020F0502020204030204" pitchFamily="34" charset="0"/>
                        </a:rPr>
                        <a:t>ACCEPTED, total 25,000 PHP. JSON and XML written to inboundResults.</a:t>
                      </a:r>
                    </a:p>
                  </a:txBody>
                  <a:tcPr>
                    <a:solidFill>
                      <a:srgbClr val="FFFFFF"/>
                    </a:solidFill>
                  </a:tcPr>
                </a:tc>
                <a:extLst>
                  <a:ext uri="{0D108BD9-81ED-4DB2-BD59-A6C34878D82A}">
                    <a16:rowId xmlns:a16="http://schemas.microsoft.com/office/drawing/2014/main" val="189209734"/>
                  </a:ext>
                </a:extLst>
              </a:tr>
              <a:tr h="508000">
                <a:tc>
                  <a:txBody>
                    <a:bodyPr/>
                    <a:lstStyle/>
                    <a:p>
                      <a:r>
                        <a:rPr lang="en-US" sz="1100" b="0">
                          <a:solidFill>
                            <a:srgbClr val="404040"/>
                          </a:solidFill>
                          <a:latin typeface="Calibri" panose="020F0502020204030204" pitchFamily="34" charset="0"/>
                        </a:rPr>
                        <a:t>GET /orders/from-edifact?file=orders-rejected.edi</a:t>
                      </a:r>
                    </a:p>
                  </a:txBody>
                  <a:tcPr>
                    <a:solidFill>
                      <a:srgbClr val="F2F7FC"/>
                    </a:solidFill>
                  </a:tcPr>
                </a:tc>
                <a:tc>
                  <a:txBody>
                    <a:bodyPr/>
                    <a:lstStyle/>
                    <a:p>
                      <a:r>
                        <a:rPr lang="en-US" sz="1100" b="0">
                          <a:solidFill>
                            <a:srgbClr val="404040"/>
                          </a:solidFill>
                          <a:latin typeface="Calibri" panose="020F0502020204030204" pitchFamily="34" charset="0"/>
                        </a:rPr>
                        <a:t>PO-1002 from edi</a:t>
                      </a:r>
                    </a:p>
                  </a:txBody>
                  <a:tcPr>
                    <a:solidFill>
                      <a:srgbClr val="F2F7FC"/>
                    </a:solidFill>
                  </a:tcPr>
                </a:tc>
                <a:tc>
                  <a:txBody>
                    <a:bodyPr/>
                    <a:lstStyle/>
                    <a:p>
                      <a:r>
                        <a:rPr lang="en-US" sz="1100" b="0">
                          <a:solidFill>
                            <a:srgbClr val="404040"/>
                          </a:solidFill>
                          <a:latin typeface="Calibri" panose="020F0502020204030204" pitchFamily="34" charset="0"/>
                        </a:rPr>
                        <a:t>REJECTED with INVALID_QUANTITY and CREDIT_LIMIT_EXCEEDED. JSON and XML written to inboundResults.</a:t>
                      </a:r>
                    </a:p>
                  </a:txBody>
                  <a:tcPr>
                    <a:solidFill>
                      <a:srgbClr val="F2F7FC"/>
                    </a:solidFill>
                  </a:tcPr>
                </a:tc>
                <a:extLst>
                  <a:ext uri="{0D108BD9-81ED-4DB2-BD59-A6C34878D82A}">
                    <a16:rowId xmlns:a16="http://schemas.microsoft.com/office/drawing/2014/main" val="1213063059"/>
                  </a:ext>
                </a:extLst>
              </a:tr>
              <a:tr h="508000">
                <a:tc>
                  <a:txBody>
                    <a:bodyPr/>
                    <a:lstStyle/>
                    <a:p>
                      <a:r>
                        <a:rPr lang="en-US" sz="1100" b="0">
                          <a:solidFill>
                            <a:srgbClr val="404040"/>
                          </a:solidFill>
                          <a:latin typeface="Calibri" panose="020F0502020204030204" pitchFamily="34" charset="0"/>
                        </a:rPr>
                        <a:t>GET /orders/to-edifact?file=orders-accepted.json</a:t>
                      </a:r>
                    </a:p>
                  </a:txBody>
                  <a:tcPr>
                    <a:solidFill>
                      <a:srgbClr val="FFFFFF"/>
                    </a:solidFill>
                  </a:tcPr>
                </a:tc>
                <a:tc>
                  <a:txBody>
                    <a:bodyPr/>
                    <a:lstStyle/>
                    <a:p>
                      <a:r>
                        <a:rPr lang="en-US" sz="1100" b="0">
                          <a:solidFill>
                            <a:srgbClr val="404040"/>
                          </a:solidFill>
                          <a:latin typeface="Calibri" panose="020F0502020204030204" pitchFamily="34" charset="0"/>
                        </a:rPr>
                        <a:t>PO-1001 from jsonXmlFiles</a:t>
                      </a:r>
                    </a:p>
                  </a:txBody>
                  <a:tcPr>
                    <a:solidFill>
                      <a:srgbClr val="FFFFFF"/>
                    </a:solidFill>
                  </a:tcPr>
                </a:tc>
                <a:tc>
                  <a:txBody>
                    <a:bodyPr/>
                    <a:lstStyle/>
                    <a:p>
                      <a:r>
                        <a:rPr lang="en-US" sz="1100" b="0">
                          <a:solidFill>
                            <a:srgbClr val="404040"/>
                          </a:solidFill>
                          <a:latin typeface="Calibri" panose="020F0502020204030204" pitchFamily="34" charset="0"/>
                        </a:rPr>
                        <a:t>EDIFACT written to outboundResults/orders-accepted.edi. Round-trip check matches.</a:t>
                      </a:r>
                    </a:p>
                  </a:txBody>
                  <a:tcPr>
                    <a:solidFill>
                      <a:srgbClr val="FFFFFF"/>
                    </a:solidFill>
                  </a:tcPr>
                </a:tc>
                <a:extLst>
                  <a:ext uri="{0D108BD9-81ED-4DB2-BD59-A6C34878D82A}">
                    <a16:rowId xmlns:a16="http://schemas.microsoft.com/office/drawing/2014/main" val="2256004217"/>
                  </a:ext>
                </a:extLst>
              </a:tr>
              <a:tr h="508000">
                <a:tc>
                  <a:txBody>
                    <a:bodyPr/>
                    <a:lstStyle/>
                    <a:p>
                      <a:r>
                        <a:rPr lang="en-US" sz="1100" b="0">
                          <a:solidFill>
                            <a:srgbClr val="404040"/>
                          </a:solidFill>
                          <a:latin typeface="Calibri" panose="020F0502020204030204" pitchFamily="34" charset="0"/>
                        </a:rPr>
                        <a:t>GET /orders/to-edifact?file=orders-rejected.json</a:t>
                      </a:r>
                    </a:p>
                  </a:txBody>
                  <a:tcPr>
                    <a:solidFill>
                      <a:srgbClr val="F2F7FC"/>
                    </a:solidFill>
                  </a:tcPr>
                </a:tc>
                <a:tc>
                  <a:txBody>
                    <a:bodyPr/>
                    <a:lstStyle/>
                    <a:p>
                      <a:r>
                        <a:rPr lang="en-US" sz="1100" b="0">
                          <a:solidFill>
                            <a:srgbClr val="404040"/>
                          </a:solidFill>
                          <a:latin typeface="Calibri" panose="020F0502020204030204" pitchFamily="34" charset="0"/>
                        </a:rPr>
                        <a:t>PO-1002 from jsonXmlFiles</a:t>
                      </a:r>
                    </a:p>
                  </a:txBody>
                  <a:tcPr>
                    <a:solidFill>
                      <a:srgbClr val="F2F7FC"/>
                    </a:solidFill>
                  </a:tcPr>
                </a:tc>
                <a:tc>
                  <a:txBody>
                    <a:bodyPr/>
                    <a:lstStyle/>
                    <a:p>
                      <a:r>
                        <a:rPr lang="en-US" sz="1100" b="0">
                          <a:solidFill>
                            <a:srgbClr val="404040"/>
                          </a:solidFill>
                          <a:latin typeface="Calibri" panose="020F0502020204030204" pitchFamily="34" charset="0"/>
                        </a:rPr>
                        <a:t>REJECTED with the same reason codes. EDIFACT is still written to outboundResults/orders-rejected.edi.</a:t>
                      </a:r>
                    </a:p>
                  </a:txBody>
                  <a:tcPr>
                    <a:solidFill>
                      <a:srgbClr val="F2F7FC"/>
                    </a:solidFill>
                  </a:tcPr>
                </a:tc>
                <a:extLst>
                  <a:ext uri="{0D108BD9-81ED-4DB2-BD59-A6C34878D82A}">
                    <a16:rowId xmlns:a16="http://schemas.microsoft.com/office/drawing/2014/main" val="1612272482"/>
                  </a:ext>
                </a:extLst>
              </a:tr>
            </a:tbl>
          </a:graphicData>
        </a:graphic>
      </p:graphicFrame>
      <p:sp>
        <p:nvSpPr>
          <p:cNvPr id="8" name="TextBox 7">
            <a:extLst>
              <a:ext uri="{FF2B5EF4-FFF2-40B4-BE49-F238E27FC236}">
                <a16:creationId xmlns:a16="http://schemas.microsoft.com/office/drawing/2014/main" id="{E88346DE-65F3-8517-BC79-4401343673FC}"/>
              </a:ext>
            </a:extLst>
          </p:cNvPr>
          <p:cNvSpPr txBox="1"/>
          <p:nvPr/>
        </p:nvSpPr>
        <p:spPr>
          <a:xfrm>
            <a:off x="508000" y="5461000"/>
            <a:ext cx="11176000" cy="430887"/>
          </a:xfrm>
          <a:prstGeom prst="rect">
            <a:avLst/>
          </a:prstGeom>
          <a:noFill/>
        </p:spPr>
        <p:txBody>
          <a:bodyPr vert="horz" wrap="square" rtlCol="0">
            <a:spAutoFit/>
          </a:bodyPr>
          <a:lstStyle/>
          <a:p>
            <a:r>
              <a:rPr lang="en-US" sz="1100">
                <a:solidFill>
                  <a:srgbClr val="767676"/>
                </a:solidFill>
                <a:latin typeface="Calibri" panose="020F0502020204030204" pitchFamily="34" charset="0"/>
              </a:rPr>
              <a:t>PO-1001 has SKU100 quantity 10 at 1,500 and SKU200 quantity 4 at 2,500, order date 20261021 and delivery date 20261115. PO-1002 has SKU100 quantity 0 at 500 and SKU900 quantity 200 at 1,000, order date 20261021 and delivery date 20261120, total 200,000 PHP. orders-accepted.xml and orders-rejected.xml use the same outbound call.</a:t>
            </a:r>
          </a:p>
        </p:txBody>
      </p:sp>
    </p:spTree>
    <p:extLst>
      <p:ext uri="{BB962C8B-B14F-4D97-AF65-F5344CB8AC3E}">
        <p14:creationId xmlns:p14="http://schemas.microsoft.com/office/powerpoint/2010/main" val="23205126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6AAB9A8-38FA-243F-6428-271ED23712F6}"/>
              </a:ext>
            </a:extLst>
          </p:cNvPr>
          <p:cNvSpPr/>
          <p:nvPr/>
        </p:nvSpPr>
        <p:spPr>
          <a:xfrm>
            <a:off x="0" y="0"/>
            <a:ext cx="12192000" cy="914400"/>
          </a:xfrm>
          <a:prstGeom prst="rect">
            <a:avLst/>
          </a:prstGeom>
          <a:solidFill>
            <a:srgbClr val="1F386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0" rtlCol="0" anchor="ctr"/>
          <a:lstStyle/>
          <a:p>
            <a:r>
              <a:rPr lang="en-US" sz="2600" b="1">
                <a:solidFill>
                  <a:srgbClr val="FFFFFF"/>
                </a:solidFill>
                <a:latin typeface="Calibri" panose="020F0502020204030204" pitchFamily="34" charset="0"/>
              </a:rPr>
              <a:t>Technology</a:t>
            </a:r>
          </a:p>
        </p:txBody>
      </p:sp>
      <p:sp>
        <p:nvSpPr>
          <p:cNvPr id="3" name="Rectangle 2">
            <a:extLst>
              <a:ext uri="{FF2B5EF4-FFF2-40B4-BE49-F238E27FC236}">
                <a16:creationId xmlns:a16="http://schemas.microsoft.com/office/drawing/2014/main" id="{FCCBBF93-AD28-3773-09BD-CD035A137CB2}"/>
              </a:ext>
            </a:extLst>
          </p:cNvPr>
          <p:cNvSpPr/>
          <p:nvPr/>
        </p:nvSpPr>
        <p:spPr>
          <a:xfrm>
            <a:off x="0" y="914400"/>
            <a:ext cx="12192000" cy="50800"/>
          </a:xfrm>
          <a:prstGeom prst="rect">
            <a:avLst/>
          </a:prstGeom>
          <a:solidFill>
            <a:srgbClr val="2E75B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6E0875F-6769-92AE-4FB8-DA1D0F7BDAE1}"/>
              </a:ext>
            </a:extLst>
          </p:cNvPr>
          <p:cNvSpPr txBox="1"/>
          <p:nvPr/>
        </p:nvSpPr>
        <p:spPr>
          <a:xfrm>
            <a:off x="508000" y="6413500"/>
            <a:ext cx="7620000" cy="246221"/>
          </a:xfrm>
          <a:prstGeom prst="rect">
            <a:avLst/>
          </a:prstGeom>
          <a:noFill/>
        </p:spPr>
        <p:txBody>
          <a:bodyPr vert="horz" wrap="square" rtlCol="0">
            <a:spAutoFit/>
          </a:bodyPr>
          <a:lstStyle/>
          <a:p>
            <a:r>
              <a:rPr lang="en-US" sz="1000">
                <a:solidFill>
                  <a:srgbClr val="767676"/>
                </a:solidFill>
                <a:latin typeface="Calibri" panose="020F0502020204030204" pitchFamily="34" charset="0"/>
              </a:rPr>
              <a:t>EDIFACT Orders POC</a:t>
            </a:r>
          </a:p>
        </p:txBody>
      </p:sp>
      <p:sp>
        <p:nvSpPr>
          <p:cNvPr id="5" name="TextBox 4">
            <a:extLst>
              <a:ext uri="{FF2B5EF4-FFF2-40B4-BE49-F238E27FC236}">
                <a16:creationId xmlns:a16="http://schemas.microsoft.com/office/drawing/2014/main" id="{CBA4A845-C7DE-5DE7-E980-C1E3F80502C9}"/>
              </a:ext>
            </a:extLst>
          </p:cNvPr>
          <p:cNvSpPr txBox="1"/>
          <p:nvPr/>
        </p:nvSpPr>
        <p:spPr>
          <a:xfrm>
            <a:off x="10414000" y="6413500"/>
            <a:ext cx="1270000" cy="246221"/>
          </a:xfrm>
          <a:prstGeom prst="rect">
            <a:avLst/>
          </a:prstGeom>
          <a:noFill/>
        </p:spPr>
        <p:txBody>
          <a:bodyPr vert="horz" wrap="square" rtlCol="0">
            <a:spAutoFit/>
          </a:bodyPr>
          <a:lstStyle/>
          <a:p>
            <a:pPr algn="r"/>
            <a:r>
              <a:rPr lang="en-US" sz="1000">
                <a:solidFill>
                  <a:srgbClr val="767676"/>
                </a:solidFill>
                <a:latin typeface="Calibri" panose="020F0502020204030204" pitchFamily="34" charset="0"/>
              </a:rPr>
              <a:t>7</a:t>
            </a:r>
          </a:p>
        </p:txBody>
      </p:sp>
      <p:sp>
        <p:nvSpPr>
          <p:cNvPr id="6" name="Rectangle 5">
            <a:extLst>
              <a:ext uri="{FF2B5EF4-FFF2-40B4-BE49-F238E27FC236}">
                <a16:creationId xmlns:a16="http://schemas.microsoft.com/office/drawing/2014/main" id="{A67B94AB-8EE9-1D57-1736-EDE664BC6D82}"/>
              </a:ext>
            </a:extLst>
          </p:cNvPr>
          <p:cNvSpPr/>
          <p:nvPr/>
        </p:nvSpPr>
        <p:spPr>
          <a:xfrm>
            <a:off x="508000" y="1333500"/>
            <a:ext cx="3632200" cy="2159000"/>
          </a:xfrm>
          <a:prstGeom prst="rect">
            <a:avLst/>
          </a:prstGeom>
          <a:solidFill>
            <a:srgbClr val="F2F7FC"/>
          </a:solidFill>
          <a:ln>
            <a:solidFill>
              <a:srgbClr val="DEEBF7"/>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27000" rIns="152400" rtlCol="0" anchor="t"/>
          <a:lstStyle/>
          <a:p>
            <a:pPr>
              <a:spcAft>
                <a:spcPts val="600"/>
              </a:spcAft>
            </a:pPr>
            <a:r>
              <a:rPr lang="en-US" sz="1700" b="1">
                <a:solidFill>
                  <a:srgbClr val="1F3864"/>
                </a:solidFill>
                <a:latin typeface="Calibri" panose="020F0502020204030204" pitchFamily="34" charset="0"/>
              </a:rPr>
              <a:t>Mule runtime 4.12.2</a:t>
            </a:r>
          </a:p>
          <a:p>
            <a:r>
              <a:rPr lang="en-US" sz="1400">
                <a:solidFill>
                  <a:srgbClr val="404040"/>
                </a:solidFill>
                <a:latin typeface="Calibri" panose="020F0502020204030204" pitchFamily="34" charset="0"/>
              </a:rPr>
              <a:t>Integration runtime, on Java 17.</a:t>
            </a:r>
          </a:p>
        </p:txBody>
      </p:sp>
      <p:sp>
        <p:nvSpPr>
          <p:cNvPr id="7" name="Rectangle 6">
            <a:extLst>
              <a:ext uri="{FF2B5EF4-FFF2-40B4-BE49-F238E27FC236}">
                <a16:creationId xmlns:a16="http://schemas.microsoft.com/office/drawing/2014/main" id="{7D4CE5E8-0D8A-DD85-B9BF-311CC3CBF7CB}"/>
              </a:ext>
            </a:extLst>
          </p:cNvPr>
          <p:cNvSpPr/>
          <p:nvPr/>
        </p:nvSpPr>
        <p:spPr>
          <a:xfrm>
            <a:off x="508000" y="1333500"/>
            <a:ext cx="63500" cy="2159000"/>
          </a:xfrm>
          <a:prstGeom prst="rect">
            <a:avLst/>
          </a:prstGeom>
          <a:solidFill>
            <a:srgbClr val="2E75B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544C736D-F96E-3FDC-7329-08C2BC515808}"/>
              </a:ext>
            </a:extLst>
          </p:cNvPr>
          <p:cNvSpPr/>
          <p:nvPr/>
        </p:nvSpPr>
        <p:spPr>
          <a:xfrm>
            <a:off x="4279900" y="1333500"/>
            <a:ext cx="3632200" cy="2159000"/>
          </a:xfrm>
          <a:prstGeom prst="rect">
            <a:avLst/>
          </a:prstGeom>
          <a:solidFill>
            <a:srgbClr val="F2F7FC"/>
          </a:solidFill>
          <a:ln>
            <a:solidFill>
              <a:srgbClr val="DEEBF7"/>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27000" rIns="152400" rtlCol="0" anchor="t"/>
          <a:lstStyle/>
          <a:p>
            <a:pPr>
              <a:spcAft>
                <a:spcPts val="600"/>
              </a:spcAft>
            </a:pPr>
            <a:r>
              <a:rPr lang="en-US" sz="1700" b="1">
                <a:solidFill>
                  <a:srgbClr val="1F3864"/>
                </a:solidFill>
                <a:latin typeface="Calibri" panose="020F0502020204030204" pitchFamily="34" charset="0"/>
              </a:rPr>
              <a:t>EDIFACT EDI Connector 3.0.0</a:t>
            </a:r>
          </a:p>
          <a:p>
            <a:r>
              <a:rPr lang="en-US" sz="1400">
                <a:solidFill>
                  <a:srgbClr val="404040"/>
                </a:solidFill>
                <a:latin typeface="Calibri" panose="020F0502020204030204" pitchFamily="34" charset="0"/>
              </a:rPr>
              <a:t>Parsing, validation, and EDIFACT generation for ORDERS D.96A.</a:t>
            </a:r>
          </a:p>
        </p:txBody>
      </p:sp>
      <p:sp>
        <p:nvSpPr>
          <p:cNvPr id="9" name="Rectangle 8">
            <a:extLst>
              <a:ext uri="{FF2B5EF4-FFF2-40B4-BE49-F238E27FC236}">
                <a16:creationId xmlns:a16="http://schemas.microsoft.com/office/drawing/2014/main" id="{8FF8CD28-1199-EF27-76F2-A08A8F0178F2}"/>
              </a:ext>
            </a:extLst>
          </p:cNvPr>
          <p:cNvSpPr/>
          <p:nvPr/>
        </p:nvSpPr>
        <p:spPr>
          <a:xfrm>
            <a:off x="4279900" y="1333500"/>
            <a:ext cx="63500" cy="2159000"/>
          </a:xfrm>
          <a:prstGeom prst="rect">
            <a:avLst/>
          </a:prstGeom>
          <a:solidFill>
            <a:srgbClr val="2E75B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DD2FBB-F138-2570-34CD-66793F6534E1}"/>
              </a:ext>
            </a:extLst>
          </p:cNvPr>
          <p:cNvSpPr/>
          <p:nvPr/>
        </p:nvSpPr>
        <p:spPr>
          <a:xfrm>
            <a:off x="8051800" y="1333500"/>
            <a:ext cx="3632200" cy="2159000"/>
          </a:xfrm>
          <a:prstGeom prst="rect">
            <a:avLst/>
          </a:prstGeom>
          <a:solidFill>
            <a:srgbClr val="F2F7FC"/>
          </a:solidFill>
          <a:ln>
            <a:solidFill>
              <a:srgbClr val="DEEBF7"/>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27000" rIns="152400" rtlCol="0" anchor="t"/>
          <a:lstStyle/>
          <a:p>
            <a:pPr>
              <a:spcAft>
                <a:spcPts val="600"/>
              </a:spcAft>
            </a:pPr>
            <a:r>
              <a:rPr lang="en-US" sz="1700" b="1">
                <a:solidFill>
                  <a:srgbClr val="1F3864"/>
                </a:solidFill>
                <a:latin typeface="Calibri" panose="020F0502020204030204" pitchFamily="34" charset="0"/>
              </a:rPr>
              <a:t>DataWeave 2</a:t>
            </a:r>
          </a:p>
          <a:p>
            <a:r>
              <a:rPr lang="en-US" sz="1400">
                <a:solidFill>
                  <a:srgbClr val="404040"/>
                </a:solidFill>
                <a:latin typeface="Calibri" panose="020F0502020204030204" pitchFamily="34" charset="0"/>
              </a:rPr>
              <a:t>Field mapping, business rules, and JSON and XML output.</a:t>
            </a:r>
          </a:p>
        </p:txBody>
      </p:sp>
      <p:sp>
        <p:nvSpPr>
          <p:cNvPr id="11" name="Rectangle 10">
            <a:extLst>
              <a:ext uri="{FF2B5EF4-FFF2-40B4-BE49-F238E27FC236}">
                <a16:creationId xmlns:a16="http://schemas.microsoft.com/office/drawing/2014/main" id="{4D57471B-84AA-E605-75D8-70BEEF9070B2}"/>
              </a:ext>
            </a:extLst>
          </p:cNvPr>
          <p:cNvSpPr/>
          <p:nvPr/>
        </p:nvSpPr>
        <p:spPr>
          <a:xfrm>
            <a:off x="8051800" y="1333500"/>
            <a:ext cx="63500" cy="2159000"/>
          </a:xfrm>
          <a:prstGeom prst="rect">
            <a:avLst/>
          </a:prstGeom>
          <a:solidFill>
            <a:srgbClr val="2E75B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88C90E5-6740-B3CD-1303-8A61D8323130}"/>
              </a:ext>
            </a:extLst>
          </p:cNvPr>
          <p:cNvSpPr/>
          <p:nvPr/>
        </p:nvSpPr>
        <p:spPr>
          <a:xfrm>
            <a:off x="508000" y="3746500"/>
            <a:ext cx="3632200" cy="2159000"/>
          </a:xfrm>
          <a:prstGeom prst="rect">
            <a:avLst/>
          </a:prstGeom>
          <a:solidFill>
            <a:srgbClr val="F2F7FC"/>
          </a:solidFill>
          <a:ln>
            <a:solidFill>
              <a:srgbClr val="DEEBF7"/>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27000" rIns="152400" rtlCol="0" anchor="t"/>
          <a:lstStyle/>
          <a:p>
            <a:pPr>
              <a:spcAft>
                <a:spcPts val="600"/>
              </a:spcAft>
            </a:pPr>
            <a:r>
              <a:rPr lang="en-US" sz="1700" b="1">
                <a:solidFill>
                  <a:srgbClr val="1F3864"/>
                </a:solidFill>
                <a:latin typeface="Calibri" panose="020F0502020204030204" pitchFamily="34" charset="0"/>
              </a:rPr>
              <a:t>HTTP Connector 1.12.1</a:t>
            </a:r>
          </a:p>
          <a:p>
            <a:r>
              <a:rPr lang="en-US" sz="1400">
                <a:solidFill>
                  <a:srgbClr val="404040"/>
                </a:solidFill>
                <a:latin typeface="Calibri" panose="020F0502020204030204" pitchFamily="34" charset="0"/>
              </a:rPr>
              <a:t>Demo endpoints on port 8081.</a:t>
            </a:r>
          </a:p>
        </p:txBody>
      </p:sp>
      <p:sp>
        <p:nvSpPr>
          <p:cNvPr id="13" name="Rectangle 12">
            <a:extLst>
              <a:ext uri="{FF2B5EF4-FFF2-40B4-BE49-F238E27FC236}">
                <a16:creationId xmlns:a16="http://schemas.microsoft.com/office/drawing/2014/main" id="{D0B84A0E-89C0-A888-7030-58F8D43C898A}"/>
              </a:ext>
            </a:extLst>
          </p:cNvPr>
          <p:cNvSpPr/>
          <p:nvPr/>
        </p:nvSpPr>
        <p:spPr>
          <a:xfrm>
            <a:off x="508000" y="3746500"/>
            <a:ext cx="63500" cy="2159000"/>
          </a:xfrm>
          <a:prstGeom prst="rect">
            <a:avLst/>
          </a:prstGeom>
          <a:solidFill>
            <a:srgbClr val="2E75B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9151ECF-3570-F738-37AD-42135E64CF0E}"/>
              </a:ext>
            </a:extLst>
          </p:cNvPr>
          <p:cNvSpPr/>
          <p:nvPr/>
        </p:nvSpPr>
        <p:spPr>
          <a:xfrm>
            <a:off x="4279900" y="3746500"/>
            <a:ext cx="3632200" cy="2159000"/>
          </a:xfrm>
          <a:prstGeom prst="rect">
            <a:avLst/>
          </a:prstGeom>
          <a:solidFill>
            <a:srgbClr val="F2F7FC"/>
          </a:solidFill>
          <a:ln>
            <a:solidFill>
              <a:srgbClr val="DEEBF7"/>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27000" rIns="152400" rtlCol="0" anchor="t"/>
          <a:lstStyle/>
          <a:p>
            <a:pPr>
              <a:spcAft>
                <a:spcPts val="600"/>
              </a:spcAft>
            </a:pPr>
            <a:r>
              <a:rPr lang="en-US" sz="1700" b="1">
                <a:solidFill>
                  <a:srgbClr val="1F3864"/>
                </a:solidFill>
                <a:latin typeface="Calibri" panose="020F0502020204030204" pitchFamily="34" charset="0"/>
              </a:rPr>
              <a:t>SFTP Connector 2.7.4</a:t>
            </a:r>
          </a:p>
          <a:p>
            <a:r>
              <a:rPr lang="en-US" sz="1400">
                <a:solidFill>
                  <a:srgbClr val="404040"/>
                </a:solidFill>
                <a:latin typeface="Calibri" panose="020F0502020204030204" pitchFamily="34" charset="0"/>
              </a:rPr>
              <a:t>Reads and writes the four order directories.</a:t>
            </a:r>
          </a:p>
        </p:txBody>
      </p:sp>
      <p:sp>
        <p:nvSpPr>
          <p:cNvPr id="15" name="Rectangle 14">
            <a:extLst>
              <a:ext uri="{FF2B5EF4-FFF2-40B4-BE49-F238E27FC236}">
                <a16:creationId xmlns:a16="http://schemas.microsoft.com/office/drawing/2014/main" id="{BE0C5F33-9ADE-ABE9-866F-16C10B1543A2}"/>
              </a:ext>
            </a:extLst>
          </p:cNvPr>
          <p:cNvSpPr/>
          <p:nvPr/>
        </p:nvSpPr>
        <p:spPr>
          <a:xfrm>
            <a:off x="4279900" y="3746500"/>
            <a:ext cx="63500" cy="2159000"/>
          </a:xfrm>
          <a:prstGeom prst="rect">
            <a:avLst/>
          </a:prstGeom>
          <a:solidFill>
            <a:srgbClr val="2E75B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522242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4A848AA-FD2F-97E2-2513-4CEF31F3BD55}"/>
              </a:ext>
            </a:extLst>
          </p:cNvPr>
          <p:cNvSpPr/>
          <p:nvPr/>
        </p:nvSpPr>
        <p:spPr>
          <a:xfrm>
            <a:off x="0" y="0"/>
            <a:ext cx="12192000" cy="914400"/>
          </a:xfrm>
          <a:prstGeom prst="rect">
            <a:avLst/>
          </a:prstGeom>
          <a:solidFill>
            <a:srgbClr val="1F386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0" rtlCol="0" anchor="ctr"/>
          <a:lstStyle/>
          <a:p>
            <a:r>
              <a:rPr lang="en-US" sz="2600" b="1">
                <a:solidFill>
                  <a:srgbClr val="FFFFFF"/>
                </a:solidFill>
                <a:latin typeface="Calibri" panose="020F0502020204030204" pitchFamily="34" charset="0"/>
              </a:rPr>
              <a:t>Key factors</a:t>
            </a:r>
          </a:p>
        </p:txBody>
      </p:sp>
      <p:sp>
        <p:nvSpPr>
          <p:cNvPr id="3" name="Rectangle 2">
            <a:extLst>
              <a:ext uri="{FF2B5EF4-FFF2-40B4-BE49-F238E27FC236}">
                <a16:creationId xmlns:a16="http://schemas.microsoft.com/office/drawing/2014/main" id="{5024887C-8DA7-05BE-9513-8B6F8496013A}"/>
              </a:ext>
            </a:extLst>
          </p:cNvPr>
          <p:cNvSpPr/>
          <p:nvPr/>
        </p:nvSpPr>
        <p:spPr>
          <a:xfrm>
            <a:off x="0" y="914400"/>
            <a:ext cx="12192000" cy="50800"/>
          </a:xfrm>
          <a:prstGeom prst="rect">
            <a:avLst/>
          </a:prstGeom>
          <a:solidFill>
            <a:srgbClr val="2E75B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21CE2DF-1AC7-F831-EC81-EC7F8177D727}"/>
              </a:ext>
            </a:extLst>
          </p:cNvPr>
          <p:cNvSpPr txBox="1"/>
          <p:nvPr/>
        </p:nvSpPr>
        <p:spPr>
          <a:xfrm>
            <a:off x="508000" y="6413500"/>
            <a:ext cx="7620000" cy="246221"/>
          </a:xfrm>
          <a:prstGeom prst="rect">
            <a:avLst/>
          </a:prstGeom>
          <a:noFill/>
        </p:spPr>
        <p:txBody>
          <a:bodyPr vert="horz" wrap="square" rtlCol="0">
            <a:spAutoFit/>
          </a:bodyPr>
          <a:lstStyle/>
          <a:p>
            <a:r>
              <a:rPr lang="en-US" sz="1000">
                <a:solidFill>
                  <a:srgbClr val="767676"/>
                </a:solidFill>
                <a:latin typeface="Calibri" panose="020F0502020204030204" pitchFamily="34" charset="0"/>
              </a:rPr>
              <a:t>EDIFACT Orders POC</a:t>
            </a:r>
          </a:p>
        </p:txBody>
      </p:sp>
      <p:sp>
        <p:nvSpPr>
          <p:cNvPr id="5" name="TextBox 4">
            <a:extLst>
              <a:ext uri="{FF2B5EF4-FFF2-40B4-BE49-F238E27FC236}">
                <a16:creationId xmlns:a16="http://schemas.microsoft.com/office/drawing/2014/main" id="{89A483D5-85A4-E241-B42E-B01C54861B5F}"/>
              </a:ext>
            </a:extLst>
          </p:cNvPr>
          <p:cNvSpPr txBox="1"/>
          <p:nvPr/>
        </p:nvSpPr>
        <p:spPr>
          <a:xfrm>
            <a:off x="10414000" y="6413500"/>
            <a:ext cx="1270000" cy="246221"/>
          </a:xfrm>
          <a:prstGeom prst="rect">
            <a:avLst/>
          </a:prstGeom>
          <a:noFill/>
        </p:spPr>
        <p:txBody>
          <a:bodyPr vert="horz" wrap="square" rtlCol="0">
            <a:spAutoFit/>
          </a:bodyPr>
          <a:lstStyle/>
          <a:p>
            <a:pPr algn="r"/>
            <a:r>
              <a:rPr lang="en-US" sz="1000">
                <a:solidFill>
                  <a:srgbClr val="767676"/>
                </a:solidFill>
                <a:latin typeface="Calibri" panose="020F0502020204030204" pitchFamily="34" charset="0"/>
              </a:rPr>
              <a:t>8</a:t>
            </a:r>
          </a:p>
        </p:txBody>
      </p:sp>
      <p:sp>
        <p:nvSpPr>
          <p:cNvPr id="6" name="Rectangle 5">
            <a:extLst>
              <a:ext uri="{FF2B5EF4-FFF2-40B4-BE49-F238E27FC236}">
                <a16:creationId xmlns:a16="http://schemas.microsoft.com/office/drawing/2014/main" id="{0829CAD7-F9FD-4515-0ED0-E714F1FE2109}"/>
              </a:ext>
            </a:extLst>
          </p:cNvPr>
          <p:cNvSpPr/>
          <p:nvPr/>
        </p:nvSpPr>
        <p:spPr>
          <a:xfrm>
            <a:off x="508000" y="1270000"/>
            <a:ext cx="3632200" cy="2349500"/>
          </a:xfrm>
          <a:prstGeom prst="rect">
            <a:avLst/>
          </a:prstGeom>
          <a:solidFill>
            <a:srgbClr val="F2F7FC"/>
          </a:solidFill>
          <a:ln>
            <a:solidFill>
              <a:srgbClr val="DEEBF7"/>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27000" rIns="152400" rtlCol="0" anchor="t"/>
          <a:lstStyle/>
          <a:p>
            <a:pPr>
              <a:spcAft>
                <a:spcPts val="600"/>
              </a:spcAft>
            </a:pPr>
            <a:r>
              <a:rPr lang="en-US" sz="1600" b="1">
                <a:solidFill>
                  <a:srgbClr val="1F3864"/>
                </a:solidFill>
                <a:latin typeface="Calibri" panose="020F0502020204030204" pitchFamily="34" charset="0"/>
              </a:rPr>
              <a:t>Scope and assumptions</a:t>
            </a:r>
          </a:p>
          <a:p>
            <a:r>
              <a:rPr lang="en-US" sz="1300">
                <a:solidFill>
                  <a:srgbClr val="404040"/>
                </a:solidFill>
                <a:latin typeface="Calibri" panose="020F0502020204030204" pitchFamily="34" charset="0"/>
              </a:rPr>
              <a:t>One message type (ORDERS D.96A). Sample files are stored in the project and copied to SFTP for the demo. No partner system or ERP is connected.</a:t>
            </a:r>
          </a:p>
        </p:txBody>
      </p:sp>
      <p:sp>
        <p:nvSpPr>
          <p:cNvPr id="7" name="Rectangle 6">
            <a:extLst>
              <a:ext uri="{FF2B5EF4-FFF2-40B4-BE49-F238E27FC236}">
                <a16:creationId xmlns:a16="http://schemas.microsoft.com/office/drawing/2014/main" id="{1959FA6D-D366-8B02-BF95-1A9CE5502A9F}"/>
              </a:ext>
            </a:extLst>
          </p:cNvPr>
          <p:cNvSpPr/>
          <p:nvPr/>
        </p:nvSpPr>
        <p:spPr>
          <a:xfrm>
            <a:off x="508000" y="1270000"/>
            <a:ext cx="63500" cy="2349500"/>
          </a:xfrm>
          <a:prstGeom prst="rect">
            <a:avLst/>
          </a:prstGeom>
          <a:solidFill>
            <a:srgbClr val="2E75B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B7F707A-3A5A-5048-F717-13BBBD23FD09}"/>
              </a:ext>
            </a:extLst>
          </p:cNvPr>
          <p:cNvSpPr/>
          <p:nvPr/>
        </p:nvSpPr>
        <p:spPr>
          <a:xfrm>
            <a:off x="4279900" y="1270000"/>
            <a:ext cx="3632200" cy="2349500"/>
          </a:xfrm>
          <a:prstGeom prst="rect">
            <a:avLst/>
          </a:prstGeom>
          <a:solidFill>
            <a:srgbClr val="F2F7FC"/>
          </a:solidFill>
          <a:ln>
            <a:solidFill>
              <a:srgbClr val="DEEBF7"/>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27000" rIns="152400" rtlCol="0" anchor="t"/>
          <a:lstStyle/>
          <a:p>
            <a:pPr>
              <a:spcAft>
                <a:spcPts val="600"/>
              </a:spcAft>
            </a:pPr>
            <a:r>
              <a:rPr lang="en-US" sz="1600" b="1">
                <a:solidFill>
                  <a:srgbClr val="1F3864"/>
                </a:solidFill>
                <a:latin typeface="Calibri" panose="020F0502020204030204" pitchFamily="34" charset="0"/>
              </a:rPr>
              <a:t>Reusability</a:t>
            </a:r>
          </a:p>
          <a:p>
            <a:r>
              <a:rPr lang="en-US" sz="1300">
                <a:solidFill>
                  <a:srgbClr val="404040"/>
                </a:solidFill>
                <a:latin typeface="Calibri" panose="020F0502020204030204" pitchFamily="34" charset="0"/>
              </a:rPr>
              <a:t>Mapping and rules live in separate DataWeave modules. A new message type adds a schema and a module, not a new application.</a:t>
            </a:r>
          </a:p>
        </p:txBody>
      </p:sp>
      <p:sp>
        <p:nvSpPr>
          <p:cNvPr id="9" name="Rectangle 8">
            <a:extLst>
              <a:ext uri="{FF2B5EF4-FFF2-40B4-BE49-F238E27FC236}">
                <a16:creationId xmlns:a16="http://schemas.microsoft.com/office/drawing/2014/main" id="{3B177DFF-FACA-01AA-1598-D3C34F412F63}"/>
              </a:ext>
            </a:extLst>
          </p:cNvPr>
          <p:cNvSpPr/>
          <p:nvPr/>
        </p:nvSpPr>
        <p:spPr>
          <a:xfrm>
            <a:off x="4279900" y="1270000"/>
            <a:ext cx="63500" cy="2349500"/>
          </a:xfrm>
          <a:prstGeom prst="rect">
            <a:avLst/>
          </a:prstGeom>
          <a:solidFill>
            <a:srgbClr val="2E75B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3C2091-B776-F8DE-EA0D-15694B43A416}"/>
              </a:ext>
            </a:extLst>
          </p:cNvPr>
          <p:cNvSpPr/>
          <p:nvPr/>
        </p:nvSpPr>
        <p:spPr>
          <a:xfrm>
            <a:off x="8051800" y="1270000"/>
            <a:ext cx="3632200" cy="2349500"/>
          </a:xfrm>
          <a:prstGeom prst="rect">
            <a:avLst/>
          </a:prstGeom>
          <a:solidFill>
            <a:srgbClr val="F2F7FC"/>
          </a:solidFill>
          <a:ln>
            <a:solidFill>
              <a:srgbClr val="DEEBF7"/>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27000" rIns="152400" rtlCol="0" anchor="t"/>
          <a:lstStyle/>
          <a:p>
            <a:pPr>
              <a:spcAft>
                <a:spcPts val="600"/>
              </a:spcAft>
            </a:pPr>
            <a:r>
              <a:rPr lang="en-US" sz="1600" b="1">
                <a:solidFill>
                  <a:srgbClr val="1F3864"/>
                </a:solidFill>
                <a:latin typeface="Calibri" panose="020F0502020204030204" pitchFamily="34" charset="0"/>
              </a:rPr>
              <a:t>Data quality and validation</a:t>
            </a:r>
          </a:p>
          <a:p>
            <a:r>
              <a:rPr lang="en-US" sz="1300">
                <a:solidFill>
                  <a:srgbClr val="404040"/>
                </a:solidFill>
                <a:latin typeface="Calibri" panose="020F0502020204030204" pitchFamily="34" charset="0"/>
              </a:rPr>
              <a:t>The connector validates EDIFACT syntax and structure. DataWeave applies business rules and returns clear reason codes.</a:t>
            </a:r>
          </a:p>
        </p:txBody>
      </p:sp>
      <p:sp>
        <p:nvSpPr>
          <p:cNvPr id="11" name="Rectangle 10">
            <a:extLst>
              <a:ext uri="{FF2B5EF4-FFF2-40B4-BE49-F238E27FC236}">
                <a16:creationId xmlns:a16="http://schemas.microsoft.com/office/drawing/2014/main" id="{E176879B-C44C-6AA8-3DE1-B0F47DFAC230}"/>
              </a:ext>
            </a:extLst>
          </p:cNvPr>
          <p:cNvSpPr/>
          <p:nvPr/>
        </p:nvSpPr>
        <p:spPr>
          <a:xfrm>
            <a:off x="8051800" y="1270000"/>
            <a:ext cx="63500" cy="2349500"/>
          </a:xfrm>
          <a:prstGeom prst="rect">
            <a:avLst/>
          </a:prstGeom>
          <a:solidFill>
            <a:srgbClr val="2E75B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65494A1-2BD8-931A-9209-8C026A763856}"/>
              </a:ext>
            </a:extLst>
          </p:cNvPr>
          <p:cNvSpPr/>
          <p:nvPr/>
        </p:nvSpPr>
        <p:spPr>
          <a:xfrm>
            <a:off x="508000" y="3810000"/>
            <a:ext cx="3632200" cy="2349500"/>
          </a:xfrm>
          <a:prstGeom prst="rect">
            <a:avLst/>
          </a:prstGeom>
          <a:solidFill>
            <a:srgbClr val="F2F7FC"/>
          </a:solidFill>
          <a:ln>
            <a:solidFill>
              <a:srgbClr val="DEEBF7"/>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27000" rIns="152400" rtlCol="0" anchor="t"/>
          <a:lstStyle/>
          <a:p>
            <a:pPr>
              <a:spcAft>
                <a:spcPts val="600"/>
              </a:spcAft>
            </a:pPr>
            <a:r>
              <a:rPr lang="en-US" sz="1600" b="1">
                <a:solidFill>
                  <a:srgbClr val="1F3864"/>
                </a:solidFill>
                <a:latin typeface="Calibri" panose="020F0502020204030204" pitchFamily="34" charset="0"/>
              </a:rPr>
              <a:t>Security</a:t>
            </a:r>
          </a:p>
          <a:p>
            <a:r>
              <a:rPr lang="en-US" sz="1300">
                <a:solidFill>
                  <a:srgbClr val="404040"/>
                </a:solidFill>
                <a:latin typeface="Calibri" panose="020F0502020204030204" pitchFamily="34" charset="0"/>
              </a:rPr>
              <a:t>The POC reads and writes order files over SFTP. Credentials are supplied on the SFTP connection and are not stored in the flows. In production, credentials move to secure properties. AS2 remains available for a partner who requires it.</a:t>
            </a:r>
          </a:p>
        </p:txBody>
      </p:sp>
      <p:sp>
        <p:nvSpPr>
          <p:cNvPr id="13" name="Rectangle 12">
            <a:extLst>
              <a:ext uri="{FF2B5EF4-FFF2-40B4-BE49-F238E27FC236}">
                <a16:creationId xmlns:a16="http://schemas.microsoft.com/office/drawing/2014/main" id="{BB3BCAAA-2E71-5C27-3DDF-E2AC4A87CF01}"/>
              </a:ext>
            </a:extLst>
          </p:cNvPr>
          <p:cNvSpPr/>
          <p:nvPr/>
        </p:nvSpPr>
        <p:spPr>
          <a:xfrm>
            <a:off x="508000" y="3810000"/>
            <a:ext cx="63500" cy="2349500"/>
          </a:xfrm>
          <a:prstGeom prst="rect">
            <a:avLst/>
          </a:prstGeom>
          <a:solidFill>
            <a:srgbClr val="2E75B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01C5B68-3BF7-BEAA-570E-63A2C53B2151}"/>
              </a:ext>
            </a:extLst>
          </p:cNvPr>
          <p:cNvSpPr/>
          <p:nvPr/>
        </p:nvSpPr>
        <p:spPr>
          <a:xfrm>
            <a:off x="4279900" y="3810000"/>
            <a:ext cx="3632200" cy="2349500"/>
          </a:xfrm>
          <a:prstGeom prst="rect">
            <a:avLst/>
          </a:prstGeom>
          <a:solidFill>
            <a:srgbClr val="F2F7FC"/>
          </a:solidFill>
          <a:ln>
            <a:solidFill>
              <a:srgbClr val="DEEBF7"/>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27000" rIns="152400" rtlCol="0" anchor="t"/>
          <a:lstStyle/>
          <a:p>
            <a:pPr>
              <a:spcAft>
                <a:spcPts val="600"/>
              </a:spcAft>
            </a:pPr>
            <a:r>
              <a:rPr lang="en-US" sz="1600" b="1">
                <a:solidFill>
                  <a:srgbClr val="1F3864"/>
                </a:solidFill>
                <a:latin typeface="Calibri" panose="020F0502020204030204" pitchFamily="34" charset="0"/>
              </a:rPr>
              <a:t>Error handling and traceability</a:t>
            </a:r>
          </a:p>
          <a:p>
            <a:r>
              <a:rPr lang="en-US" sz="1300">
                <a:solidFill>
                  <a:srgbClr val="404040"/>
                </a:solidFill>
                <a:latin typeface="Calibri" panose="020F0502020204030204" pitchFamily="34" charset="0"/>
              </a:rPr>
              <a:t>Parse errors and rejections are reported, never silently dropped. Every request is traceable by correlation ID in the logs.</a:t>
            </a:r>
          </a:p>
        </p:txBody>
      </p:sp>
      <p:sp>
        <p:nvSpPr>
          <p:cNvPr id="15" name="Rectangle 14">
            <a:extLst>
              <a:ext uri="{FF2B5EF4-FFF2-40B4-BE49-F238E27FC236}">
                <a16:creationId xmlns:a16="http://schemas.microsoft.com/office/drawing/2014/main" id="{F0ED7764-DA1A-5F57-9883-C9171D193039}"/>
              </a:ext>
            </a:extLst>
          </p:cNvPr>
          <p:cNvSpPr/>
          <p:nvPr/>
        </p:nvSpPr>
        <p:spPr>
          <a:xfrm>
            <a:off x="4279900" y="3810000"/>
            <a:ext cx="63500" cy="2349500"/>
          </a:xfrm>
          <a:prstGeom prst="rect">
            <a:avLst/>
          </a:prstGeom>
          <a:solidFill>
            <a:srgbClr val="2E75B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CA0E665-1FFB-17DA-362A-BBAD48BA206B}"/>
              </a:ext>
            </a:extLst>
          </p:cNvPr>
          <p:cNvSpPr/>
          <p:nvPr/>
        </p:nvSpPr>
        <p:spPr>
          <a:xfrm>
            <a:off x="8051800" y="3810000"/>
            <a:ext cx="3632200" cy="2349500"/>
          </a:xfrm>
          <a:prstGeom prst="rect">
            <a:avLst/>
          </a:prstGeom>
          <a:solidFill>
            <a:srgbClr val="F2F7FC"/>
          </a:solidFill>
          <a:ln>
            <a:solidFill>
              <a:srgbClr val="DEEBF7"/>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27000" rIns="152400" rtlCol="0" anchor="t"/>
          <a:lstStyle/>
          <a:p>
            <a:pPr>
              <a:spcAft>
                <a:spcPts val="600"/>
              </a:spcAft>
            </a:pPr>
            <a:r>
              <a:rPr lang="en-US" sz="1600" b="1">
                <a:solidFill>
                  <a:srgbClr val="1F3864"/>
                </a:solidFill>
                <a:latin typeface="Calibri" panose="020F0502020204030204" pitchFamily="34" charset="0"/>
              </a:rPr>
              <a:t>Licensing</a:t>
            </a:r>
          </a:p>
          <a:p>
            <a:r>
              <a:rPr lang="en-US" sz="1300">
                <a:solidFill>
                  <a:srgbClr val="404040"/>
                </a:solidFill>
                <a:latin typeface="Calibri" panose="020F0502020204030204" pitchFamily="34" charset="0"/>
              </a:rPr>
              <a:t>The EDIFACT EDI Connector is a premium connector and requires the matching Anypoint B2B entitlement.</a:t>
            </a:r>
          </a:p>
        </p:txBody>
      </p:sp>
      <p:sp>
        <p:nvSpPr>
          <p:cNvPr id="17" name="Rectangle 16">
            <a:extLst>
              <a:ext uri="{FF2B5EF4-FFF2-40B4-BE49-F238E27FC236}">
                <a16:creationId xmlns:a16="http://schemas.microsoft.com/office/drawing/2014/main" id="{A52CFC89-CBC4-FDE9-1BB5-83930D16E839}"/>
              </a:ext>
            </a:extLst>
          </p:cNvPr>
          <p:cNvSpPr/>
          <p:nvPr/>
        </p:nvSpPr>
        <p:spPr>
          <a:xfrm>
            <a:off x="8051800" y="3810000"/>
            <a:ext cx="63500" cy="2349500"/>
          </a:xfrm>
          <a:prstGeom prst="rect">
            <a:avLst/>
          </a:prstGeom>
          <a:solidFill>
            <a:srgbClr val="2E75B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593289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00FCB0F-573E-C37F-8AA7-601A9676FCD2}"/>
              </a:ext>
            </a:extLst>
          </p:cNvPr>
          <p:cNvSpPr/>
          <p:nvPr/>
        </p:nvSpPr>
        <p:spPr>
          <a:xfrm>
            <a:off x="0" y="0"/>
            <a:ext cx="12192000" cy="914400"/>
          </a:xfrm>
          <a:prstGeom prst="rect">
            <a:avLst/>
          </a:prstGeom>
          <a:solidFill>
            <a:srgbClr val="1F386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0" rtlCol="0" anchor="ctr"/>
          <a:lstStyle/>
          <a:p>
            <a:r>
              <a:rPr lang="en-US" sz="2600" b="1">
                <a:solidFill>
                  <a:srgbClr val="FFFFFF"/>
                </a:solidFill>
                <a:latin typeface="Calibri" panose="020F0502020204030204" pitchFamily="34" charset="0"/>
              </a:rPr>
              <a:t>Path to production</a:t>
            </a:r>
          </a:p>
        </p:txBody>
      </p:sp>
      <p:sp>
        <p:nvSpPr>
          <p:cNvPr id="3" name="Rectangle 2">
            <a:extLst>
              <a:ext uri="{FF2B5EF4-FFF2-40B4-BE49-F238E27FC236}">
                <a16:creationId xmlns:a16="http://schemas.microsoft.com/office/drawing/2014/main" id="{0BD0F59B-603F-55AE-7A1E-0708FEFCFFB9}"/>
              </a:ext>
            </a:extLst>
          </p:cNvPr>
          <p:cNvSpPr/>
          <p:nvPr/>
        </p:nvSpPr>
        <p:spPr>
          <a:xfrm>
            <a:off x="0" y="914400"/>
            <a:ext cx="12192000" cy="50800"/>
          </a:xfrm>
          <a:prstGeom prst="rect">
            <a:avLst/>
          </a:prstGeom>
          <a:solidFill>
            <a:srgbClr val="2E75B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6E272D5-2E66-B302-B153-7D517BE909AD}"/>
              </a:ext>
            </a:extLst>
          </p:cNvPr>
          <p:cNvSpPr txBox="1"/>
          <p:nvPr/>
        </p:nvSpPr>
        <p:spPr>
          <a:xfrm>
            <a:off x="508000" y="6413500"/>
            <a:ext cx="7620000" cy="246221"/>
          </a:xfrm>
          <a:prstGeom prst="rect">
            <a:avLst/>
          </a:prstGeom>
          <a:noFill/>
        </p:spPr>
        <p:txBody>
          <a:bodyPr vert="horz" wrap="square" rtlCol="0">
            <a:spAutoFit/>
          </a:bodyPr>
          <a:lstStyle/>
          <a:p>
            <a:r>
              <a:rPr lang="en-US" sz="1000">
                <a:solidFill>
                  <a:srgbClr val="767676"/>
                </a:solidFill>
                <a:latin typeface="Calibri" panose="020F0502020204030204" pitchFamily="34" charset="0"/>
              </a:rPr>
              <a:t>EDIFACT Orders POC</a:t>
            </a:r>
          </a:p>
        </p:txBody>
      </p:sp>
      <p:sp>
        <p:nvSpPr>
          <p:cNvPr id="5" name="TextBox 4">
            <a:extLst>
              <a:ext uri="{FF2B5EF4-FFF2-40B4-BE49-F238E27FC236}">
                <a16:creationId xmlns:a16="http://schemas.microsoft.com/office/drawing/2014/main" id="{88AE5E6B-8302-677D-61BA-D6021B45255B}"/>
              </a:ext>
            </a:extLst>
          </p:cNvPr>
          <p:cNvSpPr txBox="1"/>
          <p:nvPr/>
        </p:nvSpPr>
        <p:spPr>
          <a:xfrm>
            <a:off x="10414000" y="6413500"/>
            <a:ext cx="1270000" cy="246221"/>
          </a:xfrm>
          <a:prstGeom prst="rect">
            <a:avLst/>
          </a:prstGeom>
          <a:noFill/>
        </p:spPr>
        <p:txBody>
          <a:bodyPr vert="horz" wrap="square" rtlCol="0">
            <a:spAutoFit/>
          </a:bodyPr>
          <a:lstStyle/>
          <a:p>
            <a:pPr algn="r"/>
            <a:r>
              <a:rPr lang="en-US" sz="1000">
                <a:solidFill>
                  <a:srgbClr val="767676"/>
                </a:solidFill>
                <a:latin typeface="Calibri" panose="020F0502020204030204" pitchFamily="34" charset="0"/>
              </a:rPr>
              <a:t>9</a:t>
            </a:r>
          </a:p>
        </p:txBody>
      </p:sp>
      <p:sp>
        <p:nvSpPr>
          <p:cNvPr id="6" name="TextBox 5">
            <a:extLst>
              <a:ext uri="{FF2B5EF4-FFF2-40B4-BE49-F238E27FC236}">
                <a16:creationId xmlns:a16="http://schemas.microsoft.com/office/drawing/2014/main" id="{4F4162E9-21AB-76DE-4D57-1D1E3A19E73F}"/>
              </a:ext>
            </a:extLst>
          </p:cNvPr>
          <p:cNvSpPr txBox="1"/>
          <p:nvPr/>
        </p:nvSpPr>
        <p:spPr>
          <a:xfrm>
            <a:off x="508000" y="1143000"/>
            <a:ext cx="11176000" cy="553998"/>
          </a:xfrm>
          <a:prstGeom prst="rect">
            <a:avLst/>
          </a:prstGeom>
          <a:noFill/>
        </p:spPr>
        <p:txBody>
          <a:bodyPr vert="horz" wrap="square" rtlCol="0">
            <a:spAutoFit/>
          </a:bodyPr>
          <a:lstStyle/>
          <a:p>
            <a:r>
              <a:rPr lang="en-US" sz="1500">
                <a:solidFill>
                  <a:srgbClr val="404040"/>
                </a:solidFill>
                <a:latin typeface="Calibri" panose="020F0502020204030204" pitchFamily="34" charset="0"/>
              </a:rPr>
              <a:t>The POC already contains the parts that carry into production: EDIFACT configuration, SFTP file exchange, canonical model, mapping, and rules. Production adds the partner account, acknowledgments, and delivery to the ERP, in three phases.</a:t>
            </a:r>
          </a:p>
        </p:txBody>
      </p:sp>
      <p:sp>
        <p:nvSpPr>
          <p:cNvPr id="7" name="Rectangle 6">
            <a:extLst>
              <a:ext uri="{FF2B5EF4-FFF2-40B4-BE49-F238E27FC236}">
                <a16:creationId xmlns:a16="http://schemas.microsoft.com/office/drawing/2014/main" id="{D667BCA4-57D5-0B13-74C7-6C618025A5B8}"/>
              </a:ext>
            </a:extLst>
          </p:cNvPr>
          <p:cNvSpPr/>
          <p:nvPr/>
        </p:nvSpPr>
        <p:spPr>
          <a:xfrm>
            <a:off x="508000" y="2095500"/>
            <a:ext cx="3632200" cy="3810000"/>
          </a:xfrm>
          <a:prstGeom prst="rect">
            <a:avLst/>
          </a:prstGeom>
          <a:solidFill>
            <a:srgbClr val="F2F7FC"/>
          </a:solidFill>
          <a:ln>
            <a:solidFill>
              <a:srgbClr val="DEEBF7"/>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27000" rIns="152400" rtlCol="0" anchor="t"/>
          <a:lstStyle/>
          <a:p>
            <a:pPr>
              <a:spcAft>
                <a:spcPts val="600"/>
              </a:spcAft>
            </a:pPr>
            <a:r>
              <a:rPr lang="en-US" sz="1700" b="1">
                <a:solidFill>
                  <a:srgbClr val="1F3864"/>
                </a:solidFill>
                <a:latin typeface="Calibri" panose="020F0502020204030204" pitchFamily="34" charset="0"/>
              </a:rPr>
              <a:t>Phase 1: Onboard the first partner</a:t>
            </a:r>
          </a:p>
          <a:p>
            <a:r>
              <a:rPr lang="en-US" sz="1400">
                <a:solidFill>
                  <a:srgbClr val="404040"/>
                </a:solidFill>
                <a:latin typeface="Calibri" panose="020F0502020204030204" pitchFamily="34" charset="0"/>
              </a:rPr>
              <a:t>- A partner SFTP account, separate from the demo directories</a:t>
            </a:r>
          </a:p>
          <a:p>
            <a:r>
              <a:rPr lang="en-US" sz="1400">
                <a:solidFill>
                  <a:srgbClr val="404040"/>
                </a:solidFill>
                <a:latin typeface="Calibri" panose="020F0502020204030204" pitchFamily="34" charset="0"/>
              </a:rPr>
              <a:t>- CONTRL functional acknowledgments</a:t>
            </a:r>
          </a:p>
          <a:p>
            <a:r>
              <a:rPr lang="en-US" sz="1400">
                <a:solidFill>
                  <a:srgbClr val="404040"/>
                </a:solidFill>
                <a:latin typeface="Calibri" panose="020F0502020204030204" pitchFamily="34" charset="0"/>
              </a:rPr>
              <a:t>- Partner-specific schema overlay</a:t>
            </a:r>
          </a:p>
          <a:p>
            <a:r>
              <a:rPr lang="en-US" sz="1400">
                <a:solidFill>
                  <a:srgbClr val="404040"/>
                </a:solidFill>
                <a:latin typeface="Calibri" panose="020F0502020204030204" pitchFamily="34" charset="0"/>
              </a:rPr>
              <a:t>- Delivery to the ERP through a system API</a:t>
            </a:r>
          </a:p>
        </p:txBody>
      </p:sp>
      <p:sp>
        <p:nvSpPr>
          <p:cNvPr id="8" name="Rectangle 7">
            <a:extLst>
              <a:ext uri="{FF2B5EF4-FFF2-40B4-BE49-F238E27FC236}">
                <a16:creationId xmlns:a16="http://schemas.microsoft.com/office/drawing/2014/main" id="{9BF773F9-2A93-AE83-0D31-6AE254BAD2B3}"/>
              </a:ext>
            </a:extLst>
          </p:cNvPr>
          <p:cNvSpPr/>
          <p:nvPr/>
        </p:nvSpPr>
        <p:spPr>
          <a:xfrm>
            <a:off x="508000" y="2095500"/>
            <a:ext cx="63500" cy="3810000"/>
          </a:xfrm>
          <a:prstGeom prst="rect">
            <a:avLst/>
          </a:prstGeom>
          <a:solidFill>
            <a:srgbClr val="2E75B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ADD61EBF-D006-E0F6-2D22-3CFDD807DFEE}"/>
              </a:ext>
            </a:extLst>
          </p:cNvPr>
          <p:cNvCxnSpPr/>
          <p:nvPr/>
        </p:nvCxnSpPr>
        <p:spPr>
          <a:xfrm>
            <a:off x="4140200" y="4000500"/>
            <a:ext cx="139700" cy="0"/>
          </a:xfrm>
          <a:prstGeom prst="line">
            <a:avLst/>
          </a:prstGeom>
          <a:ln w="22225">
            <a:solidFill>
              <a:srgbClr val="767676"/>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4640E26F-1603-A29C-F0B8-EE353E3F20CA}"/>
              </a:ext>
            </a:extLst>
          </p:cNvPr>
          <p:cNvSpPr/>
          <p:nvPr/>
        </p:nvSpPr>
        <p:spPr>
          <a:xfrm>
            <a:off x="4279900" y="2095500"/>
            <a:ext cx="3632200" cy="3810000"/>
          </a:xfrm>
          <a:prstGeom prst="rect">
            <a:avLst/>
          </a:prstGeom>
          <a:solidFill>
            <a:srgbClr val="F2F7FC"/>
          </a:solidFill>
          <a:ln>
            <a:solidFill>
              <a:srgbClr val="DEEBF7"/>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27000" rIns="152400" rtlCol="0" anchor="t"/>
          <a:lstStyle/>
          <a:p>
            <a:pPr>
              <a:spcAft>
                <a:spcPts val="600"/>
              </a:spcAft>
            </a:pPr>
            <a:r>
              <a:rPr lang="en-US" sz="1700" b="1">
                <a:solidFill>
                  <a:srgbClr val="1F3864"/>
                </a:solidFill>
                <a:latin typeface="Calibri" panose="020F0502020204030204" pitchFamily="34" charset="0"/>
              </a:rPr>
              <a:t>Phase 2: Extend message types</a:t>
            </a:r>
          </a:p>
          <a:p>
            <a:r>
              <a:rPr lang="en-US" sz="1400">
                <a:solidFill>
                  <a:srgbClr val="404040"/>
                </a:solidFill>
                <a:latin typeface="Calibri" panose="020F0502020204030204" pitchFamily="34" charset="0"/>
              </a:rPr>
              <a:t>- INVOIC (invoice) and DESADV (despatch advice)</a:t>
            </a:r>
          </a:p>
          <a:p>
            <a:r>
              <a:rPr lang="en-US" sz="1400">
                <a:solidFill>
                  <a:srgbClr val="404040"/>
                </a:solidFill>
                <a:latin typeface="Calibri" panose="020F0502020204030204" pitchFamily="34" charset="0"/>
              </a:rPr>
              <a:t>- Reuse of the canonical model and rules</a:t>
            </a:r>
          </a:p>
          <a:p>
            <a:r>
              <a:rPr lang="en-US" sz="1400">
                <a:solidFill>
                  <a:srgbClr val="404040"/>
                </a:solidFill>
                <a:latin typeface="Calibri" panose="020F0502020204030204" pitchFamily="34" charset="0"/>
              </a:rPr>
              <a:t>- MUnit test coverage</a:t>
            </a:r>
          </a:p>
        </p:txBody>
      </p:sp>
      <p:sp>
        <p:nvSpPr>
          <p:cNvPr id="11" name="Rectangle 10">
            <a:extLst>
              <a:ext uri="{FF2B5EF4-FFF2-40B4-BE49-F238E27FC236}">
                <a16:creationId xmlns:a16="http://schemas.microsoft.com/office/drawing/2014/main" id="{74FCCC68-3934-557E-AAD0-46C6E60F2082}"/>
              </a:ext>
            </a:extLst>
          </p:cNvPr>
          <p:cNvSpPr/>
          <p:nvPr/>
        </p:nvSpPr>
        <p:spPr>
          <a:xfrm>
            <a:off x="4279900" y="2095500"/>
            <a:ext cx="63500" cy="3810000"/>
          </a:xfrm>
          <a:prstGeom prst="rect">
            <a:avLst/>
          </a:prstGeom>
          <a:solidFill>
            <a:srgbClr val="2E75B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A9C6BD1A-145D-5082-E1CA-44BD39787A30}"/>
              </a:ext>
            </a:extLst>
          </p:cNvPr>
          <p:cNvCxnSpPr/>
          <p:nvPr/>
        </p:nvCxnSpPr>
        <p:spPr>
          <a:xfrm>
            <a:off x="7912100" y="4000500"/>
            <a:ext cx="139700" cy="0"/>
          </a:xfrm>
          <a:prstGeom prst="line">
            <a:avLst/>
          </a:prstGeom>
          <a:ln w="22225">
            <a:solidFill>
              <a:srgbClr val="767676"/>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2EFD700E-6150-FE37-1B11-15A678243047}"/>
              </a:ext>
            </a:extLst>
          </p:cNvPr>
          <p:cNvSpPr/>
          <p:nvPr/>
        </p:nvSpPr>
        <p:spPr>
          <a:xfrm>
            <a:off x="8051800" y="2095500"/>
            <a:ext cx="3632200" cy="3810000"/>
          </a:xfrm>
          <a:prstGeom prst="rect">
            <a:avLst/>
          </a:prstGeom>
          <a:solidFill>
            <a:srgbClr val="F2F7FC"/>
          </a:solidFill>
          <a:ln>
            <a:solidFill>
              <a:srgbClr val="DEEBF7"/>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27000" rIns="152400" rtlCol="0" anchor="t"/>
          <a:lstStyle/>
          <a:p>
            <a:pPr>
              <a:spcAft>
                <a:spcPts val="600"/>
              </a:spcAft>
            </a:pPr>
            <a:r>
              <a:rPr lang="en-US" sz="1700" b="1">
                <a:solidFill>
                  <a:srgbClr val="1F3864"/>
                </a:solidFill>
                <a:latin typeface="Calibri" panose="020F0502020204030204" pitchFamily="34" charset="0"/>
              </a:rPr>
              <a:t>Phase 3: Scale to more partners</a:t>
            </a:r>
          </a:p>
          <a:p>
            <a:r>
              <a:rPr lang="en-US" sz="1400">
                <a:solidFill>
                  <a:srgbClr val="404040"/>
                </a:solidFill>
                <a:latin typeface="Calibri" panose="020F0502020204030204" pitchFamily="34" charset="0"/>
              </a:rPr>
              <a:t>- New partners added by configuration</a:t>
            </a:r>
          </a:p>
          <a:p>
            <a:r>
              <a:rPr lang="en-US" sz="1400">
                <a:solidFill>
                  <a:srgbClr val="404040"/>
                </a:solidFill>
                <a:latin typeface="Calibri" panose="020F0502020204030204" pitchFamily="34" charset="0"/>
              </a:rPr>
              <a:t>- Anypoint Monitoring dashboards and alerts</a:t>
            </a:r>
          </a:p>
          <a:p>
            <a:r>
              <a:rPr lang="en-US" sz="1400">
                <a:solidFill>
                  <a:srgbClr val="404040"/>
                </a:solidFill>
                <a:latin typeface="Calibri" panose="020F0502020204030204" pitchFamily="34" charset="0"/>
              </a:rPr>
              <a:t>- CI/CD pipeline for build and deployment</a:t>
            </a:r>
          </a:p>
        </p:txBody>
      </p:sp>
      <p:sp>
        <p:nvSpPr>
          <p:cNvPr id="14" name="Rectangle 13">
            <a:extLst>
              <a:ext uri="{FF2B5EF4-FFF2-40B4-BE49-F238E27FC236}">
                <a16:creationId xmlns:a16="http://schemas.microsoft.com/office/drawing/2014/main" id="{CB303A89-AD4E-729C-64E3-742DED2BEC90}"/>
              </a:ext>
            </a:extLst>
          </p:cNvPr>
          <p:cNvSpPr/>
          <p:nvPr/>
        </p:nvSpPr>
        <p:spPr>
          <a:xfrm>
            <a:off x="8051800" y="2095500"/>
            <a:ext cx="63500" cy="3810000"/>
          </a:xfrm>
          <a:prstGeom prst="rect">
            <a:avLst/>
          </a:prstGeom>
          <a:solidFill>
            <a:srgbClr val="2E75B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301134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CEADDA7-9D9B-82FD-1238-D654624E57D0}"/>
              </a:ext>
            </a:extLst>
          </p:cNvPr>
          <p:cNvSpPr/>
          <p:nvPr/>
        </p:nvSpPr>
        <p:spPr>
          <a:xfrm>
            <a:off x="0" y="0"/>
            <a:ext cx="12192000" cy="914400"/>
          </a:xfrm>
          <a:prstGeom prst="rect">
            <a:avLst/>
          </a:prstGeom>
          <a:solidFill>
            <a:srgbClr val="1F386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0" rtlCol="0" anchor="ctr"/>
          <a:lstStyle/>
          <a:p>
            <a:r>
              <a:rPr lang="en-US" sz="2600" b="1">
                <a:solidFill>
                  <a:srgbClr val="FFFFFF"/>
                </a:solidFill>
                <a:latin typeface="Calibri" panose="020F0502020204030204" pitchFamily="34" charset="0"/>
              </a:rPr>
              <a:t>Summary and next steps</a:t>
            </a:r>
          </a:p>
        </p:txBody>
      </p:sp>
      <p:sp>
        <p:nvSpPr>
          <p:cNvPr id="3" name="Rectangle 2">
            <a:extLst>
              <a:ext uri="{FF2B5EF4-FFF2-40B4-BE49-F238E27FC236}">
                <a16:creationId xmlns:a16="http://schemas.microsoft.com/office/drawing/2014/main" id="{BA565DC0-F7D2-3378-670F-2FDD5D5B2B2F}"/>
              </a:ext>
            </a:extLst>
          </p:cNvPr>
          <p:cNvSpPr/>
          <p:nvPr/>
        </p:nvSpPr>
        <p:spPr>
          <a:xfrm>
            <a:off x="0" y="914400"/>
            <a:ext cx="12192000" cy="50800"/>
          </a:xfrm>
          <a:prstGeom prst="rect">
            <a:avLst/>
          </a:prstGeom>
          <a:solidFill>
            <a:srgbClr val="2E75B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A534F04-3983-CC41-8BD1-BB68B23638C3}"/>
              </a:ext>
            </a:extLst>
          </p:cNvPr>
          <p:cNvSpPr txBox="1"/>
          <p:nvPr/>
        </p:nvSpPr>
        <p:spPr>
          <a:xfrm>
            <a:off x="508000" y="6413500"/>
            <a:ext cx="7620000" cy="246221"/>
          </a:xfrm>
          <a:prstGeom prst="rect">
            <a:avLst/>
          </a:prstGeom>
          <a:noFill/>
        </p:spPr>
        <p:txBody>
          <a:bodyPr vert="horz" wrap="square" rtlCol="0">
            <a:spAutoFit/>
          </a:bodyPr>
          <a:lstStyle/>
          <a:p>
            <a:r>
              <a:rPr lang="en-US" sz="1000">
                <a:solidFill>
                  <a:srgbClr val="767676"/>
                </a:solidFill>
                <a:latin typeface="Calibri" panose="020F0502020204030204" pitchFamily="34" charset="0"/>
              </a:rPr>
              <a:t>EDIFACT Orders POC</a:t>
            </a:r>
          </a:p>
        </p:txBody>
      </p:sp>
      <p:sp>
        <p:nvSpPr>
          <p:cNvPr id="5" name="TextBox 4">
            <a:extLst>
              <a:ext uri="{FF2B5EF4-FFF2-40B4-BE49-F238E27FC236}">
                <a16:creationId xmlns:a16="http://schemas.microsoft.com/office/drawing/2014/main" id="{340D0B56-4E51-64D5-4C37-96AA87F99E53}"/>
              </a:ext>
            </a:extLst>
          </p:cNvPr>
          <p:cNvSpPr txBox="1"/>
          <p:nvPr/>
        </p:nvSpPr>
        <p:spPr>
          <a:xfrm>
            <a:off x="10414000" y="6413500"/>
            <a:ext cx="1270000" cy="246221"/>
          </a:xfrm>
          <a:prstGeom prst="rect">
            <a:avLst/>
          </a:prstGeom>
          <a:noFill/>
        </p:spPr>
        <p:txBody>
          <a:bodyPr vert="horz" wrap="square" rtlCol="0">
            <a:spAutoFit/>
          </a:bodyPr>
          <a:lstStyle/>
          <a:p>
            <a:pPr algn="r"/>
            <a:r>
              <a:rPr lang="en-US" sz="1000">
                <a:solidFill>
                  <a:srgbClr val="767676"/>
                </a:solidFill>
                <a:latin typeface="Calibri" panose="020F0502020204030204" pitchFamily="34" charset="0"/>
              </a:rPr>
              <a:t>10</a:t>
            </a:r>
          </a:p>
        </p:txBody>
      </p:sp>
      <p:sp>
        <p:nvSpPr>
          <p:cNvPr id="6" name="TextBox 5">
            <a:extLst>
              <a:ext uri="{FF2B5EF4-FFF2-40B4-BE49-F238E27FC236}">
                <a16:creationId xmlns:a16="http://schemas.microsoft.com/office/drawing/2014/main" id="{C8122614-1A5E-5984-AC03-BB062FF3A93E}"/>
              </a:ext>
            </a:extLst>
          </p:cNvPr>
          <p:cNvSpPr txBox="1"/>
          <p:nvPr/>
        </p:nvSpPr>
        <p:spPr>
          <a:xfrm>
            <a:off x="508000" y="1270000"/>
            <a:ext cx="5334000" cy="400110"/>
          </a:xfrm>
          <a:prstGeom prst="rect">
            <a:avLst/>
          </a:prstGeom>
          <a:noFill/>
        </p:spPr>
        <p:txBody>
          <a:bodyPr vert="horz" wrap="square" rtlCol="0">
            <a:spAutoFit/>
          </a:bodyPr>
          <a:lstStyle/>
          <a:p>
            <a:r>
              <a:rPr lang="en-US" sz="2000" b="1">
                <a:solidFill>
                  <a:srgbClr val="1F3864"/>
                </a:solidFill>
                <a:latin typeface="Calibri" panose="020F0502020204030204" pitchFamily="34" charset="0"/>
              </a:rPr>
              <a:t>What the POC shows</a:t>
            </a:r>
          </a:p>
        </p:txBody>
      </p:sp>
      <p:sp>
        <p:nvSpPr>
          <p:cNvPr id="7" name="TextBox 6">
            <a:extLst>
              <a:ext uri="{FF2B5EF4-FFF2-40B4-BE49-F238E27FC236}">
                <a16:creationId xmlns:a16="http://schemas.microsoft.com/office/drawing/2014/main" id="{981C16CF-6950-DCFA-3060-43C6669873A8}"/>
              </a:ext>
            </a:extLst>
          </p:cNvPr>
          <p:cNvSpPr txBox="1"/>
          <p:nvPr/>
        </p:nvSpPr>
        <p:spPr>
          <a:xfrm>
            <a:off x="635000" y="1778000"/>
            <a:ext cx="5207000" cy="1708160"/>
          </a:xfrm>
          <a:prstGeom prst="rect">
            <a:avLst/>
          </a:prstGeom>
          <a:noFill/>
        </p:spPr>
        <p:txBody>
          <a:bodyPr vert="horz" wrap="square" rtlCol="0">
            <a:spAutoFit/>
          </a:bodyPr>
          <a:lstStyle/>
          <a:p>
            <a:pPr marL="342900" indent="-342900">
              <a:spcAft>
                <a:spcPts val="800"/>
              </a:spcAft>
              <a:buFont typeface="+mj-lt"/>
              <a:buChar char="•"/>
            </a:pPr>
            <a:r>
              <a:rPr lang="en-US" sz="1700">
                <a:solidFill>
                  <a:srgbClr val="404040"/>
                </a:solidFill>
                <a:latin typeface="Calibri" panose="020F0502020204030204" pitchFamily="34" charset="0"/>
              </a:rPr>
              <a:t>EDIFACT parsing and validation</a:t>
            </a:r>
          </a:p>
          <a:p>
            <a:pPr marL="342900" indent="-342900">
              <a:spcAft>
                <a:spcPts val="800"/>
              </a:spcAft>
              <a:buFont typeface="+mj-lt"/>
              <a:buChar char="•"/>
            </a:pPr>
            <a:r>
              <a:rPr lang="en-US" sz="1700">
                <a:solidFill>
                  <a:srgbClr val="404040"/>
                </a:solidFill>
                <a:latin typeface="Calibri" panose="020F0502020204030204" pitchFamily="34" charset="0"/>
              </a:rPr>
              <a:t>Field mapping to one canonical order</a:t>
            </a:r>
          </a:p>
          <a:p>
            <a:pPr marL="342900" indent="-342900">
              <a:spcAft>
                <a:spcPts val="800"/>
              </a:spcAft>
              <a:buFont typeface="+mj-lt"/>
              <a:buChar char="•"/>
            </a:pPr>
            <a:r>
              <a:rPr lang="en-US" sz="1700">
                <a:solidFill>
                  <a:srgbClr val="404040"/>
                </a:solidFill>
                <a:latin typeface="Calibri" panose="020F0502020204030204" pitchFamily="34" charset="0"/>
              </a:rPr>
              <a:t>Business rules with reason codes</a:t>
            </a:r>
          </a:p>
          <a:p>
            <a:pPr marL="342900" indent="-342900">
              <a:spcAft>
                <a:spcPts val="800"/>
              </a:spcAft>
              <a:buFont typeface="+mj-lt"/>
              <a:buChar char="•"/>
            </a:pPr>
            <a:r>
              <a:rPr lang="en-US" sz="1700">
                <a:solidFill>
                  <a:srgbClr val="404040"/>
                </a:solidFill>
                <a:latin typeface="Calibri" panose="020F0502020204030204" pitchFamily="34" charset="0"/>
              </a:rPr>
              <a:t>JSON and XML on SFTP, and EDIFACT written for every outbound order</a:t>
            </a:r>
          </a:p>
        </p:txBody>
      </p:sp>
      <p:sp>
        <p:nvSpPr>
          <p:cNvPr id="8" name="TextBox 7">
            <a:extLst>
              <a:ext uri="{FF2B5EF4-FFF2-40B4-BE49-F238E27FC236}">
                <a16:creationId xmlns:a16="http://schemas.microsoft.com/office/drawing/2014/main" id="{060EF29C-C7F4-E35B-B5D8-395FED33BF21}"/>
              </a:ext>
            </a:extLst>
          </p:cNvPr>
          <p:cNvSpPr txBox="1"/>
          <p:nvPr/>
        </p:nvSpPr>
        <p:spPr>
          <a:xfrm>
            <a:off x="6350000" y="1270000"/>
            <a:ext cx="5334000" cy="400110"/>
          </a:xfrm>
          <a:prstGeom prst="rect">
            <a:avLst/>
          </a:prstGeom>
          <a:noFill/>
        </p:spPr>
        <p:txBody>
          <a:bodyPr vert="horz" wrap="square" rtlCol="0">
            <a:spAutoFit/>
          </a:bodyPr>
          <a:lstStyle/>
          <a:p>
            <a:r>
              <a:rPr lang="en-US" sz="2000" b="1">
                <a:solidFill>
                  <a:srgbClr val="1F3864"/>
                </a:solidFill>
                <a:latin typeface="Calibri" panose="020F0502020204030204" pitchFamily="34" charset="0"/>
              </a:rPr>
              <a:t>Recommended next steps</a:t>
            </a:r>
          </a:p>
        </p:txBody>
      </p:sp>
      <p:sp>
        <p:nvSpPr>
          <p:cNvPr id="9" name="TextBox 8">
            <a:extLst>
              <a:ext uri="{FF2B5EF4-FFF2-40B4-BE49-F238E27FC236}">
                <a16:creationId xmlns:a16="http://schemas.microsoft.com/office/drawing/2014/main" id="{B0F56BB3-90DE-CD96-A861-B050420267F5}"/>
              </a:ext>
            </a:extLst>
          </p:cNvPr>
          <p:cNvSpPr txBox="1"/>
          <p:nvPr/>
        </p:nvSpPr>
        <p:spPr>
          <a:xfrm>
            <a:off x="6477000" y="1778000"/>
            <a:ext cx="5207000" cy="1708160"/>
          </a:xfrm>
          <a:prstGeom prst="rect">
            <a:avLst/>
          </a:prstGeom>
          <a:noFill/>
        </p:spPr>
        <p:txBody>
          <a:bodyPr vert="horz" wrap="square" rtlCol="0">
            <a:spAutoFit/>
          </a:bodyPr>
          <a:lstStyle/>
          <a:p>
            <a:pPr marL="342900" indent="-342900">
              <a:spcAft>
                <a:spcPts val="800"/>
              </a:spcAft>
              <a:buFont typeface="+mj-lt"/>
              <a:buChar char="•"/>
            </a:pPr>
            <a:r>
              <a:rPr lang="en-US" sz="1700">
                <a:solidFill>
                  <a:srgbClr val="404040"/>
                </a:solidFill>
                <a:latin typeface="Calibri" panose="020F0502020204030204" pitchFamily="34" charset="0"/>
              </a:rPr>
              <a:t>Confirm the first trading partner and message types</a:t>
            </a:r>
          </a:p>
          <a:p>
            <a:pPr marL="342900" indent="-342900">
              <a:spcAft>
                <a:spcPts val="800"/>
              </a:spcAft>
              <a:buFont typeface="+mj-lt"/>
              <a:buChar char="•"/>
            </a:pPr>
            <a:r>
              <a:rPr lang="en-US" sz="1700">
                <a:solidFill>
                  <a:srgbClr val="404040"/>
                </a:solidFill>
                <a:latin typeface="Calibri" panose="020F0502020204030204" pitchFamily="34" charset="0"/>
              </a:rPr>
              <a:t>Confirm the partner SFTP account and directories</a:t>
            </a:r>
          </a:p>
          <a:p>
            <a:pPr marL="342900" indent="-342900">
              <a:spcAft>
                <a:spcPts val="800"/>
              </a:spcAft>
              <a:buFont typeface="+mj-lt"/>
              <a:buChar char="•"/>
            </a:pPr>
            <a:r>
              <a:rPr lang="en-US" sz="1700">
                <a:solidFill>
                  <a:srgbClr val="404040"/>
                </a:solidFill>
                <a:latin typeface="Calibri" panose="020F0502020204030204" pitchFamily="34" charset="0"/>
              </a:rPr>
              <a:t>Share sample partner files and the implementation guide</a:t>
            </a:r>
          </a:p>
          <a:p>
            <a:pPr marL="342900" indent="-342900">
              <a:spcAft>
                <a:spcPts val="800"/>
              </a:spcAft>
              <a:buFont typeface="+mj-lt"/>
              <a:buChar char="•"/>
            </a:pPr>
            <a:r>
              <a:rPr lang="en-US" sz="1700">
                <a:solidFill>
                  <a:srgbClr val="404040"/>
                </a:solidFill>
                <a:latin typeface="Calibri" panose="020F0502020204030204" pitchFamily="34" charset="0"/>
              </a:rPr>
              <a:t>Plan Phase 1 scope and timeline</a:t>
            </a:r>
          </a:p>
        </p:txBody>
      </p:sp>
      <p:sp>
        <p:nvSpPr>
          <p:cNvPr id="10" name="TextBox 9">
            <a:extLst>
              <a:ext uri="{FF2B5EF4-FFF2-40B4-BE49-F238E27FC236}">
                <a16:creationId xmlns:a16="http://schemas.microsoft.com/office/drawing/2014/main" id="{419AF972-6F31-5AB1-44B4-488D365DA94A}"/>
              </a:ext>
            </a:extLst>
          </p:cNvPr>
          <p:cNvSpPr txBox="1"/>
          <p:nvPr/>
        </p:nvSpPr>
        <p:spPr>
          <a:xfrm>
            <a:off x="508000" y="5334000"/>
            <a:ext cx="11176000" cy="323165"/>
          </a:xfrm>
          <a:prstGeom prst="rect">
            <a:avLst/>
          </a:prstGeom>
          <a:noFill/>
        </p:spPr>
        <p:txBody>
          <a:bodyPr vert="horz" wrap="square" rtlCol="0">
            <a:spAutoFit/>
          </a:bodyPr>
          <a:lstStyle/>
          <a:p>
            <a:pPr algn="ctr"/>
            <a:r>
              <a:rPr lang="en-US" sz="1500">
                <a:solidFill>
                  <a:srgbClr val="767676"/>
                </a:solidFill>
                <a:latin typeface="Calibri" panose="020F0502020204030204" pitchFamily="34" charset="0"/>
              </a:rPr>
              <a:t>The same application can grow into a production B2B integration, because mapping and rules are already reusable.</a:t>
            </a:r>
          </a:p>
        </p:txBody>
      </p:sp>
    </p:spTree>
    <p:extLst>
      <p:ext uri="{BB962C8B-B14F-4D97-AF65-F5344CB8AC3E}">
        <p14:creationId xmlns:p14="http://schemas.microsoft.com/office/powerpoint/2010/main" val="15353846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1238</Words>
  <Application>Microsoft Office PowerPoint</Application>
  <PresentationFormat>Custom</PresentationFormat>
  <Paragraphs>155</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AMDOCS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Subhash Nagula</dc:creator>
  <cp:lastModifiedBy>Subhash Nagula</cp:lastModifiedBy>
  <cp:revision>1</cp:revision>
  <dcterms:created xsi:type="dcterms:W3CDTF">2026-10-22T07:44:19Z</dcterms:created>
  <dcterms:modified xsi:type="dcterms:W3CDTF">2026-10-22T07:44:19Z</dcterms:modified>
</cp:coreProperties>
</file>